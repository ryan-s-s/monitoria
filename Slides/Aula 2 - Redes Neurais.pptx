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Poppins Light" charset="1" panose="00000400000000000000"/>
      <p:regular r:id="rId44"/>
    </p:embeddedFont>
    <p:embeddedFont>
      <p:font typeface="Poppins Bold" charset="1" panose="00000800000000000000"/>
      <p:regular r:id="rId45"/>
    </p:embeddedFont>
    <p:embeddedFont>
      <p:font typeface="Poppins" charset="1" panose="00000500000000000000"/>
      <p:regular r:id="rId47"/>
    </p:embeddedFont>
    <p:embeddedFont>
      <p:font typeface="Arial" charset="1" panose="020B0604020202020204"/>
      <p:regular r:id="rId8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2.xml" Type="http://schemas.openxmlformats.org/officeDocument/2006/relationships/notesSlide"/><Relationship Id="rId47" Target="fonts/font47.fntdata" Type="http://schemas.openxmlformats.org/officeDocument/2006/relationships/font"/><Relationship Id="rId48" Target="notesSlides/notesSlide3.xml" Type="http://schemas.openxmlformats.org/officeDocument/2006/relationships/notesSlide"/><Relationship Id="rId49" Target="notesSlides/notesSlide4.xml" Type="http://schemas.openxmlformats.org/officeDocument/2006/relationships/notesSlide"/><Relationship Id="rId5" Target="tableStyles.xml" Type="http://schemas.openxmlformats.org/officeDocument/2006/relationships/tableStyles"/><Relationship Id="rId50" Target="notesSlides/notesSlide5.xml" Type="http://schemas.openxmlformats.org/officeDocument/2006/relationships/notesSlide"/><Relationship Id="rId51" Target="notesSlides/notesSlide6.xml" Type="http://schemas.openxmlformats.org/officeDocument/2006/relationships/notesSlide"/><Relationship Id="rId52" Target="notesSlides/notesSlide7.xml" Type="http://schemas.openxmlformats.org/officeDocument/2006/relationships/notesSlide"/><Relationship Id="rId53" Target="notesSlides/notesSlide8.xml" Type="http://schemas.openxmlformats.org/officeDocument/2006/relationships/notesSlide"/><Relationship Id="rId54" Target="notesSlides/notesSlide9.xml" Type="http://schemas.openxmlformats.org/officeDocument/2006/relationships/notesSlide"/><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notesSlides/notesSlide15.xml" Type="http://schemas.openxmlformats.org/officeDocument/2006/relationships/notesSlide"/><Relationship Id="rId61" Target="notesSlides/notesSlide16.xml" Type="http://schemas.openxmlformats.org/officeDocument/2006/relationships/notesSlide"/><Relationship Id="rId62" Target="notesSlides/notesSlide17.xml" Type="http://schemas.openxmlformats.org/officeDocument/2006/relationships/notesSlide"/><Relationship Id="rId63" Target="notesSlides/notesSlide18.xml" Type="http://schemas.openxmlformats.org/officeDocument/2006/relationships/notesSlide"/><Relationship Id="rId64" Target="notesSlides/notesSlide19.xml" Type="http://schemas.openxmlformats.org/officeDocument/2006/relationships/notesSlide"/><Relationship Id="rId65" Target="notesSlides/notesSlide20.xml" Type="http://schemas.openxmlformats.org/officeDocument/2006/relationships/notesSlide"/><Relationship Id="rId66" Target="notesSlides/notesSlide21.xml" Type="http://schemas.openxmlformats.org/officeDocument/2006/relationships/notesSlide"/><Relationship Id="rId67" Target="notesSlides/notesSlide22.xml" Type="http://schemas.openxmlformats.org/officeDocument/2006/relationships/notesSlide"/><Relationship Id="rId68" Target="notesSlides/notesSlide23.xml" Type="http://schemas.openxmlformats.org/officeDocument/2006/relationships/notesSlide"/><Relationship Id="rId69" Target="notesSlides/notesSlide24.xml" Type="http://schemas.openxmlformats.org/officeDocument/2006/relationships/notesSlide"/><Relationship Id="rId7" Target="slides/slide2.xml" Type="http://schemas.openxmlformats.org/officeDocument/2006/relationships/slide"/><Relationship Id="rId70" Target="notesSlides/notesSlide25.xml" Type="http://schemas.openxmlformats.org/officeDocument/2006/relationships/notesSlide"/><Relationship Id="rId71" Target="notesSlides/notesSlide26.xml" Type="http://schemas.openxmlformats.org/officeDocument/2006/relationships/notesSlide"/><Relationship Id="rId72" Target="notesSlides/notesSlide27.xml" Type="http://schemas.openxmlformats.org/officeDocument/2006/relationships/notesSlide"/><Relationship Id="rId73" Target="notesSlides/notesSlide28.xml" Type="http://schemas.openxmlformats.org/officeDocument/2006/relationships/notesSlide"/><Relationship Id="rId74" Target="notesSlides/notesSlide29.xml" Type="http://schemas.openxmlformats.org/officeDocument/2006/relationships/notesSlide"/><Relationship Id="rId75" Target="notesSlides/notesSlide30.xml" Type="http://schemas.openxmlformats.org/officeDocument/2006/relationships/notesSlide"/><Relationship Id="rId76" Target="notesSlides/notesSlide31.xml" Type="http://schemas.openxmlformats.org/officeDocument/2006/relationships/notesSlide"/><Relationship Id="rId77" Target="notesSlides/notesSlide32.xml" Type="http://schemas.openxmlformats.org/officeDocument/2006/relationships/notesSlide"/><Relationship Id="rId78" Target="notesSlides/notesSlide33.xml" Type="http://schemas.openxmlformats.org/officeDocument/2006/relationships/notesSlide"/><Relationship Id="rId79" Target="notesSlides/notesSlide34.xml" Type="http://schemas.openxmlformats.org/officeDocument/2006/relationships/notesSlide"/><Relationship Id="rId8" Target="slides/slide3.xml" Type="http://schemas.openxmlformats.org/officeDocument/2006/relationships/slide"/><Relationship Id="rId80" Target="notesSlides/notesSlide35.xml" Type="http://schemas.openxmlformats.org/officeDocument/2006/relationships/notesSlide"/><Relationship Id="rId81" Target="fonts/font81.fntdata" Type="http://schemas.openxmlformats.org/officeDocument/2006/relationships/font"/><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rainy-faucet-ba5.notion.site/Monitoria-IA-28267395db404de195bb97411fd6abae?pvs=4"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colab.research.google.com/drive/1EAQ9D-JQ3glIsfxgBnbXd-b2JLiQDAeK" TargetMode="External" Type="http://schemas.openxmlformats.org/officeDocument/2006/relationships/hyperlink"/><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https://colab.research.google.com/drive/1Hjh9ejXQk5BBaVi13fvfZu01Un_Q9OvK"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0.png" Type="http://schemas.openxmlformats.org/officeDocument/2006/relationships/image"/><Relationship Id="rId4" Target="../media/image21.png" Type="http://schemas.openxmlformats.org/officeDocument/2006/relationships/image"/><Relationship Id="rId5" Target="https://colab.research.google.com/drive/1qdS9PDhqKKHEzF4NeIJJymgFeXS2Detf" TargetMode="External" Type="http://schemas.openxmlformats.org/officeDocument/2006/relationships/hyperlink"/><Relationship Id="rId6" Target="https://colab.research.google.com/drive/1pGG3EeBdoJBywl-K-8OxVGx-fyJrYRps" TargetMode="External" Type="http://schemas.openxmlformats.org/officeDocument/2006/relationships/hyperlink"/></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8.png" Type="http://schemas.openxmlformats.org/officeDocument/2006/relationships/image"/><Relationship Id="rId4" Target="../media/image29.png" Type="http://schemas.openxmlformats.org/officeDocument/2006/relationships/image"/><Relationship Id="rId5" Target="https://setosa.io/ev/image-kernels/"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3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3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3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3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3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3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https://colab.research.google.com/drive/1ZEkFxmeyR3Bt19m7W98Y9B_uDoyEOB1I" TargetMode="External" Type="http://schemas.openxmlformats.org/officeDocument/2006/relationships/hyperlink"/><Relationship Id="rId4" Target="https://colab.research.google.com/drive/1SpsPHMuXGLc98FCS3p07Y2au7uWG8ZQE" TargetMode="External" Type="http://schemas.openxmlformats.org/officeDocument/2006/relationships/hyperlink"/><Relationship Id="rId5" Target="../media/image36.png" Type="http://schemas.openxmlformats.org/officeDocument/2006/relationships/image"/><Relationship Id="rId6" Target="../media/image3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https://sbic.org.br/inteligencia-computacional/" TargetMode="External" Type="http://schemas.openxmlformats.org/officeDocument/2006/relationships/hyperlink"/><Relationship Id="rId4" Target="https://sites.icmc.usp.br/andre/research/neural/" TargetMode="External" Type="http://schemas.openxmlformats.org/officeDocument/2006/relationships/hyperlink"/><Relationship Id="rId5" Target="https://vitorborbarodrigues.medium.com/m%C3%A9tricas-de-avalia%C3%A7%C3%A3o-acur%C3%A1cia-precis%C3%A3o-recall-quais-as-diferen%C3%A7as-c8f05e0a513c"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3"/>
            <a:stretch>
              <a:fillRect l="0" t="-16223" r="-5978" b="-16223"/>
            </a:stretch>
          </a:blipFill>
        </p:spPr>
      </p:sp>
      <p:grpSp>
        <p:nvGrpSpPr>
          <p:cNvPr name="Group 3" id="3"/>
          <p:cNvGrpSpPr/>
          <p:nvPr/>
        </p:nvGrpSpPr>
        <p:grpSpPr>
          <a:xfrm rot="0">
            <a:off x="10389459" y="6667500"/>
            <a:ext cx="6869841" cy="2590800"/>
            <a:chOff x="0" y="0"/>
            <a:chExt cx="9159789" cy="3454400"/>
          </a:xfrm>
        </p:grpSpPr>
        <p:sp>
          <p:nvSpPr>
            <p:cNvPr name="TextBox 4" id="4"/>
            <p:cNvSpPr txBox="true"/>
            <p:nvPr/>
          </p:nvSpPr>
          <p:spPr>
            <a:xfrm rot="0">
              <a:off x="0" y="-85725"/>
              <a:ext cx="8403385" cy="3540125"/>
            </a:xfrm>
            <a:prstGeom prst="rect">
              <a:avLst/>
            </a:prstGeom>
          </p:spPr>
          <p:txBody>
            <a:bodyPr anchor="t" rtlCol="false" tIns="0" lIns="0" bIns="0" rIns="0">
              <a:spAutoFit/>
            </a:bodyPr>
            <a:lstStyle/>
            <a:p>
              <a:pPr algn="r">
                <a:lnSpc>
                  <a:spcPts val="4200"/>
                </a:lnSpc>
              </a:pPr>
              <a:r>
                <a:rPr lang="en-US" sz="3000">
                  <a:solidFill>
                    <a:srgbClr val="000000"/>
                  </a:solidFill>
                  <a:latin typeface="Poppins Light"/>
                  <a:ea typeface="Poppins Light"/>
                  <a:cs typeface="Poppins Light"/>
                  <a:sym typeface="Poppins Light"/>
                </a:rPr>
                <a:t>Ryan Santana - Bes 2023</a:t>
              </a:r>
            </a:p>
            <a:p>
              <a:pPr algn="r">
                <a:lnSpc>
                  <a:spcPts val="4200"/>
                </a:lnSpc>
              </a:pPr>
              <a:r>
                <a:rPr lang="en-US" sz="3000">
                  <a:solidFill>
                    <a:srgbClr val="000000"/>
                  </a:solidFill>
                  <a:latin typeface="Poppins Light"/>
                  <a:ea typeface="Poppins Light"/>
                  <a:cs typeface="Poppins Light"/>
                  <a:sym typeface="Poppins Light"/>
                </a:rPr>
                <a:t>github.com/Ryan-S-S/Monitoria</a:t>
              </a:r>
            </a:p>
            <a:p>
              <a:pPr algn="r">
                <a:lnSpc>
                  <a:spcPts val="4200"/>
                </a:lnSpc>
              </a:pPr>
              <a:r>
                <a:rPr lang="en-US" sz="3000">
                  <a:solidFill>
                    <a:srgbClr val="000000"/>
                  </a:solidFill>
                  <a:latin typeface="Poppins Light"/>
                  <a:ea typeface="Poppins Light"/>
                  <a:cs typeface="Poppins Light"/>
                  <a:sym typeface="Poppins Light"/>
                </a:rPr>
                <a:t>Rafael Batista - Bes 2021</a:t>
              </a:r>
            </a:p>
            <a:p>
              <a:pPr algn="r">
                <a:lnSpc>
                  <a:spcPts val="4200"/>
                </a:lnSpc>
              </a:pPr>
              <a:r>
                <a:rPr lang="en-US" sz="3000">
                  <a:solidFill>
                    <a:srgbClr val="000000"/>
                  </a:solidFill>
                  <a:latin typeface="Poppins Light"/>
                  <a:ea typeface="Poppins Light"/>
                  <a:cs typeface="Poppins Light"/>
                  <a:sym typeface="Poppins Light"/>
                </a:rPr>
                <a:t>github.com/garotola/MonitoriaIA</a:t>
              </a:r>
            </a:p>
            <a:p>
              <a:pPr algn="r">
                <a:lnSpc>
                  <a:spcPts val="4200"/>
                </a:lnSpc>
              </a:pPr>
              <a:r>
                <a:rPr lang="en-US" sz="3000" u="sng">
                  <a:solidFill>
                    <a:srgbClr val="04165D"/>
                  </a:solidFill>
                  <a:latin typeface="Poppins Light"/>
                  <a:ea typeface="Poppins Light"/>
                  <a:cs typeface="Poppins Light"/>
                  <a:sym typeface="Poppins Light"/>
                  <a:hlinkClick r:id="rId4" tooltip="https://rainy-faucet-ba5.notion.site/Monitoria-IA-28267395db404de195bb97411fd6abae?pvs=4"/>
                </a:rPr>
                <a:t>Notion</a:t>
              </a:r>
            </a:p>
          </p:txBody>
        </p:sp>
        <p:sp>
          <p:nvSpPr>
            <p:cNvPr name="Freeform 5" id="5"/>
            <p:cNvSpPr/>
            <p:nvPr/>
          </p:nvSpPr>
          <p:spPr>
            <a:xfrm flipH="false" flipV="false" rot="0">
              <a:off x="8554253" y="2136648"/>
              <a:ext cx="605536" cy="605536"/>
            </a:xfrm>
            <a:custGeom>
              <a:avLst/>
              <a:gdLst/>
              <a:ahLst/>
              <a:cxnLst/>
              <a:rect r="r" b="b" t="t" l="l"/>
              <a:pathLst>
                <a:path h="605536" w="605536">
                  <a:moveTo>
                    <a:pt x="0" y="0"/>
                  </a:moveTo>
                  <a:lnTo>
                    <a:pt x="605536" y="0"/>
                  </a:lnTo>
                  <a:lnTo>
                    <a:pt x="605536" y="605536"/>
                  </a:lnTo>
                  <a:lnTo>
                    <a:pt x="0" y="605536"/>
                  </a:lnTo>
                  <a:lnTo>
                    <a:pt x="0" y="0"/>
                  </a:lnTo>
                  <a:close/>
                </a:path>
              </a:pathLst>
            </a:custGeom>
            <a:blipFill>
              <a:blip r:embed="rId5"/>
              <a:stretch>
                <a:fillRect l="0" t="0" r="0" b="0"/>
              </a:stretch>
            </a:blipFill>
            <a:ln w="9525" cap="sq">
              <a:solidFill>
                <a:srgbClr val="000000"/>
              </a:solidFill>
              <a:prstDash val="solid"/>
              <a:miter/>
            </a:ln>
          </p:spPr>
        </p:sp>
        <p:sp>
          <p:nvSpPr>
            <p:cNvPr name="Freeform 6" id="6"/>
            <p:cNvSpPr/>
            <p:nvPr/>
          </p:nvSpPr>
          <p:spPr>
            <a:xfrm flipH="false" flipV="false" rot="0">
              <a:off x="8554253" y="1424432"/>
              <a:ext cx="605536" cy="605536"/>
            </a:xfrm>
            <a:custGeom>
              <a:avLst/>
              <a:gdLst/>
              <a:ahLst/>
              <a:cxnLst/>
              <a:rect r="r" b="b" t="t" l="l"/>
              <a:pathLst>
                <a:path h="605536" w="605536">
                  <a:moveTo>
                    <a:pt x="0" y="0"/>
                  </a:moveTo>
                  <a:lnTo>
                    <a:pt x="605536" y="0"/>
                  </a:lnTo>
                  <a:lnTo>
                    <a:pt x="605536" y="605536"/>
                  </a:lnTo>
                  <a:lnTo>
                    <a:pt x="0" y="605536"/>
                  </a:lnTo>
                  <a:lnTo>
                    <a:pt x="0" y="0"/>
                  </a:lnTo>
                  <a:close/>
                </a:path>
              </a:pathLst>
            </a:custGeom>
            <a:blipFill>
              <a:blip r:embed="rId6"/>
              <a:stretch>
                <a:fillRect l="0" t="0" r="0" b="0"/>
              </a:stretch>
            </a:blipFill>
            <a:ln w="9525" cap="sq">
              <a:solidFill>
                <a:srgbClr val="000000"/>
              </a:solidFill>
              <a:prstDash val="solid"/>
              <a:miter/>
            </a:ln>
          </p:spPr>
        </p:sp>
        <p:sp>
          <p:nvSpPr>
            <p:cNvPr name="Freeform 7" id="7"/>
            <p:cNvSpPr/>
            <p:nvPr/>
          </p:nvSpPr>
          <p:spPr>
            <a:xfrm flipH="false" flipV="false" rot="0">
              <a:off x="8554253" y="2843784"/>
              <a:ext cx="605536" cy="605536"/>
            </a:xfrm>
            <a:custGeom>
              <a:avLst/>
              <a:gdLst/>
              <a:ahLst/>
              <a:cxnLst/>
              <a:rect r="r" b="b" t="t" l="l"/>
              <a:pathLst>
                <a:path h="605536" w="605536">
                  <a:moveTo>
                    <a:pt x="0" y="0"/>
                  </a:moveTo>
                  <a:lnTo>
                    <a:pt x="605536" y="0"/>
                  </a:lnTo>
                  <a:lnTo>
                    <a:pt x="605536" y="605536"/>
                  </a:lnTo>
                  <a:lnTo>
                    <a:pt x="0" y="605536"/>
                  </a:lnTo>
                  <a:lnTo>
                    <a:pt x="0" y="0"/>
                  </a:lnTo>
                  <a:close/>
                </a:path>
              </a:pathLst>
            </a:custGeom>
            <a:blipFill>
              <a:blip r:embed="rId7"/>
              <a:stretch>
                <a:fillRect l="0" t="0" r="0" b="0"/>
              </a:stretch>
            </a:blipFill>
            <a:ln w="9525" cap="sq">
              <a:solidFill>
                <a:srgbClr val="000000"/>
              </a:solidFill>
              <a:prstDash val="solid"/>
              <a:miter/>
            </a:ln>
          </p:spPr>
        </p:sp>
        <p:sp>
          <p:nvSpPr>
            <p:cNvPr name="Freeform 8" id="8"/>
            <p:cNvSpPr/>
            <p:nvPr/>
          </p:nvSpPr>
          <p:spPr>
            <a:xfrm flipH="false" flipV="false" rot="0">
              <a:off x="8554253" y="712216"/>
              <a:ext cx="605536" cy="605536"/>
            </a:xfrm>
            <a:custGeom>
              <a:avLst/>
              <a:gdLst/>
              <a:ahLst/>
              <a:cxnLst/>
              <a:rect r="r" b="b" t="t" l="l"/>
              <a:pathLst>
                <a:path h="605536" w="605536">
                  <a:moveTo>
                    <a:pt x="0" y="0"/>
                  </a:moveTo>
                  <a:lnTo>
                    <a:pt x="605536" y="0"/>
                  </a:lnTo>
                  <a:lnTo>
                    <a:pt x="605536" y="605536"/>
                  </a:lnTo>
                  <a:lnTo>
                    <a:pt x="0" y="605536"/>
                  </a:lnTo>
                  <a:lnTo>
                    <a:pt x="0" y="0"/>
                  </a:lnTo>
                  <a:close/>
                </a:path>
              </a:pathLst>
            </a:custGeom>
            <a:blipFill>
              <a:blip r:embed="rId5"/>
              <a:stretch>
                <a:fillRect l="0" t="0" r="0" b="0"/>
              </a:stretch>
            </a:blipFill>
            <a:ln w="9525" cap="sq">
              <a:solidFill>
                <a:srgbClr val="000000"/>
              </a:solidFill>
              <a:prstDash val="solid"/>
              <a:miter/>
            </a:ln>
          </p:spPr>
        </p:sp>
        <p:sp>
          <p:nvSpPr>
            <p:cNvPr name="Freeform 9" id="9"/>
            <p:cNvSpPr/>
            <p:nvPr/>
          </p:nvSpPr>
          <p:spPr>
            <a:xfrm flipH="false" flipV="false" rot="0">
              <a:off x="8554253" y="0"/>
              <a:ext cx="605536" cy="605536"/>
            </a:xfrm>
            <a:custGeom>
              <a:avLst/>
              <a:gdLst/>
              <a:ahLst/>
              <a:cxnLst/>
              <a:rect r="r" b="b" t="t" l="l"/>
              <a:pathLst>
                <a:path h="605536" w="605536">
                  <a:moveTo>
                    <a:pt x="0" y="0"/>
                  </a:moveTo>
                  <a:lnTo>
                    <a:pt x="605536" y="0"/>
                  </a:lnTo>
                  <a:lnTo>
                    <a:pt x="605536" y="605536"/>
                  </a:lnTo>
                  <a:lnTo>
                    <a:pt x="0" y="605536"/>
                  </a:lnTo>
                  <a:lnTo>
                    <a:pt x="0" y="0"/>
                  </a:lnTo>
                  <a:close/>
                </a:path>
              </a:pathLst>
            </a:custGeom>
            <a:blipFill>
              <a:blip r:embed="rId6"/>
              <a:stretch>
                <a:fillRect l="0" t="0" r="0" b="0"/>
              </a:stretch>
            </a:blipFill>
            <a:ln w="9525" cap="sq">
              <a:solidFill>
                <a:srgbClr val="000000"/>
              </a:solidFill>
              <a:prstDash val="solid"/>
              <a:miter/>
            </a:ln>
          </p:spPr>
        </p:sp>
      </p:grpSp>
      <p:grpSp>
        <p:nvGrpSpPr>
          <p:cNvPr name="Group 10" id="10"/>
          <p:cNvGrpSpPr/>
          <p:nvPr/>
        </p:nvGrpSpPr>
        <p:grpSpPr>
          <a:xfrm rot="0">
            <a:off x="9144000" y="1383773"/>
            <a:ext cx="8115300" cy="1734693"/>
            <a:chOff x="0" y="0"/>
            <a:chExt cx="10820400" cy="2312924"/>
          </a:xfrm>
        </p:grpSpPr>
        <p:sp>
          <p:nvSpPr>
            <p:cNvPr name="Freeform 11" id="11"/>
            <p:cNvSpPr/>
            <p:nvPr/>
          </p:nvSpPr>
          <p:spPr>
            <a:xfrm flipH="false" flipV="false" rot="0">
              <a:off x="0" y="0"/>
              <a:ext cx="10820395" cy="2312921"/>
            </a:xfrm>
            <a:custGeom>
              <a:avLst/>
              <a:gdLst/>
              <a:ahLst/>
              <a:cxnLst/>
              <a:rect r="r" b="b" t="t" l="l"/>
              <a:pathLst>
                <a:path h="2312921" w="10820395">
                  <a:moveTo>
                    <a:pt x="0" y="0"/>
                  </a:moveTo>
                  <a:lnTo>
                    <a:pt x="10820395" y="0"/>
                  </a:lnTo>
                  <a:lnTo>
                    <a:pt x="10820395" y="2312921"/>
                  </a:lnTo>
                  <a:lnTo>
                    <a:pt x="0" y="2312921"/>
                  </a:lnTo>
                  <a:close/>
                </a:path>
              </a:pathLst>
            </a:custGeom>
            <a:solidFill>
              <a:srgbClr val="000000">
                <a:alpha val="0"/>
              </a:srgbClr>
            </a:solidFill>
            <a:ln w="12700">
              <a:solidFill>
                <a:srgbClr val="000000"/>
              </a:solidFill>
            </a:ln>
          </p:spPr>
        </p:sp>
        <p:sp>
          <p:nvSpPr>
            <p:cNvPr name="TextBox 12" id="12"/>
            <p:cNvSpPr txBox="true"/>
            <p:nvPr/>
          </p:nvSpPr>
          <p:spPr>
            <a:xfrm>
              <a:off x="0" y="-66675"/>
              <a:ext cx="10820400" cy="2379599"/>
            </a:xfrm>
            <a:prstGeom prst="rect">
              <a:avLst/>
            </a:prstGeom>
          </p:spPr>
          <p:txBody>
            <a:bodyPr anchor="b" rtlCol="false" tIns="0" lIns="0" bIns="0" rIns="0"/>
            <a:lstStyle/>
            <a:p>
              <a:pPr algn="r">
                <a:lnSpc>
                  <a:spcPts val="8400"/>
                </a:lnSpc>
              </a:pPr>
              <a:r>
                <a:rPr lang="en-US" b="true" sz="7000">
                  <a:solidFill>
                    <a:srgbClr val="000000"/>
                  </a:solidFill>
                  <a:latin typeface="Poppins Bold"/>
                  <a:ea typeface="Poppins Bold"/>
                  <a:cs typeface="Poppins Bold"/>
                  <a:sym typeface="Poppins Bold"/>
                </a:rPr>
                <a:t>REDES NEURAIS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3"/>
            <a:stretch>
              <a:fillRect l="0" t="-16223" r="-5978" b="-16223"/>
            </a:stretch>
          </a:blipFill>
        </p:spPr>
      </p:sp>
      <p:grpSp>
        <p:nvGrpSpPr>
          <p:cNvPr name="Group 3" id="3"/>
          <p:cNvGrpSpPr/>
          <p:nvPr/>
        </p:nvGrpSpPr>
        <p:grpSpPr>
          <a:xfrm rot="-10800000">
            <a:off x="9144000" y="1028700"/>
            <a:ext cx="8591076" cy="1734693"/>
            <a:chOff x="0" y="0"/>
            <a:chExt cx="2262720" cy="456872"/>
          </a:xfrm>
        </p:grpSpPr>
        <p:sp>
          <p:nvSpPr>
            <p:cNvPr name="Freeform 4" id="4"/>
            <p:cNvSpPr/>
            <p:nvPr/>
          </p:nvSpPr>
          <p:spPr>
            <a:xfrm flipH="false" flipV="false" rot="0">
              <a:off x="0" y="0"/>
              <a:ext cx="2262720" cy="456872"/>
            </a:xfrm>
            <a:custGeom>
              <a:avLst/>
              <a:gdLst/>
              <a:ahLst/>
              <a:cxnLst/>
              <a:rect r="r" b="b" t="t" l="l"/>
              <a:pathLst>
                <a:path h="456872" w="2262720">
                  <a:moveTo>
                    <a:pt x="2262720" y="16221"/>
                  </a:moveTo>
                  <a:lnTo>
                    <a:pt x="2262720" y="440651"/>
                  </a:lnTo>
                  <a:cubicBezTo>
                    <a:pt x="2262720" y="449610"/>
                    <a:pt x="2255457" y="456872"/>
                    <a:pt x="2246499" y="456872"/>
                  </a:cubicBezTo>
                  <a:lnTo>
                    <a:pt x="16221" y="456872"/>
                  </a:lnTo>
                  <a:cubicBezTo>
                    <a:pt x="7262" y="456872"/>
                    <a:pt x="0" y="449610"/>
                    <a:pt x="0" y="440651"/>
                  </a:cubicBezTo>
                  <a:lnTo>
                    <a:pt x="0" y="16221"/>
                  </a:lnTo>
                  <a:cubicBezTo>
                    <a:pt x="0" y="7262"/>
                    <a:pt x="7262" y="0"/>
                    <a:pt x="16221" y="0"/>
                  </a:cubicBezTo>
                  <a:lnTo>
                    <a:pt x="2246499" y="0"/>
                  </a:lnTo>
                  <a:cubicBezTo>
                    <a:pt x="2255457" y="0"/>
                    <a:pt x="2262720" y="7262"/>
                    <a:pt x="2262720" y="16221"/>
                  </a:cubicBezTo>
                  <a:close/>
                </a:path>
              </a:pathLst>
            </a:custGeom>
            <a:gradFill rotWithShape="true">
              <a:gsLst>
                <a:gs pos="0">
                  <a:srgbClr val="000000">
                    <a:alpha val="100000"/>
                  </a:srgbClr>
                </a:gs>
                <a:gs pos="100000">
                  <a:srgbClr val="000000">
                    <a:alpha val="25000"/>
                  </a:srgbClr>
                </a:gs>
              </a:gsLst>
              <a:lin ang="0"/>
            </a:gradFill>
          </p:spPr>
        </p:sp>
        <p:sp>
          <p:nvSpPr>
            <p:cNvPr name="TextBox 5" id="5"/>
            <p:cNvSpPr txBox="true"/>
            <p:nvPr/>
          </p:nvSpPr>
          <p:spPr>
            <a:xfrm>
              <a:off x="0" y="-38100"/>
              <a:ext cx="2262720" cy="49497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690563"/>
            <a:ext cx="8115300" cy="8772525"/>
          </a:xfrm>
          <a:prstGeom prst="rect">
            <a:avLst/>
          </a:prstGeom>
        </p:spPr>
        <p:txBody>
          <a:bodyPr anchor="t" rtlCol="false" tIns="0" lIns="0" bIns="0" rIns="0">
            <a:spAutoFit/>
          </a:bodyPr>
          <a:lstStyle/>
          <a:p>
            <a:pPr algn="l">
              <a:lnSpc>
                <a:spcPts val="5249"/>
              </a:lnSpc>
            </a:pPr>
            <a:r>
              <a:rPr lang="en-US" sz="3499" b="true">
                <a:solidFill>
                  <a:srgbClr val="000000"/>
                </a:solidFill>
                <a:latin typeface="Poppins Bold"/>
                <a:ea typeface="Poppins Bold"/>
                <a:cs typeface="Poppins Bold"/>
                <a:sym typeface="Poppins Bold"/>
              </a:rPr>
              <a:t>REDES NEURAIS</a:t>
            </a:r>
          </a:p>
          <a:p>
            <a:pPr algn="l" marL="647700" indent="-323850" lvl="1">
              <a:lnSpc>
                <a:spcPts val="4500"/>
              </a:lnSpc>
              <a:buFont typeface="Arial"/>
              <a:buChar char="•"/>
            </a:pPr>
            <a:r>
              <a:rPr lang="en-US" sz="3000">
                <a:solidFill>
                  <a:srgbClr val="000000"/>
                </a:solidFill>
                <a:latin typeface="Poppins"/>
                <a:ea typeface="Poppins"/>
                <a:cs typeface="Poppins"/>
                <a:sym typeface="Poppins"/>
              </a:rPr>
              <a:t>REDE BIOLÓGICA</a:t>
            </a:r>
          </a:p>
          <a:p>
            <a:pPr algn="l" marL="647700" indent="-323850" lvl="1">
              <a:lnSpc>
                <a:spcPts val="4500"/>
              </a:lnSpc>
              <a:buFont typeface="Arial"/>
              <a:buChar char="•"/>
            </a:pPr>
            <a:r>
              <a:rPr lang="en-US" sz="3000">
                <a:solidFill>
                  <a:srgbClr val="000000"/>
                </a:solidFill>
                <a:latin typeface="Poppins"/>
                <a:ea typeface="Poppins"/>
                <a:cs typeface="Poppins"/>
                <a:sym typeface="Poppins"/>
              </a:rPr>
              <a:t>REDE NEURAL BIOLÓGICA</a:t>
            </a:r>
          </a:p>
          <a:p>
            <a:pPr algn="l" marL="647700" indent="-323850" lvl="1">
              <a:lnSpc>
                <a:spcPts val="4500"/>
              </a:lnSpc>
              <a:buFont typeface="Arial"/>
              <a:buChar char="•"/>
            </a:pPr>
            <a:r>
              <a:rPr lang="en-US" sz="3000">
                <a:solidFill>
                  <a:srgbClr val="000000"/>
                </a:solidFill>
                <a:latin typeface="Poppins"/>
                <a:ea typeface="Poppins"/>
                <a:cs typeface="Poppins"/>
                <a:sym typeface="Poppins"/>
              </a:rPr>
              <a:t>PERCEPTRON</a:t>
            </a:r>
          </a:p>
          <a:p>
            <a:pPr algn="l" marL="647700" indent="-323850" lvl="1">
              <a:lnSpc>
                <a:spcPts val="4500"/>
              </a:lnSpc>
              <a:buFont typeface="Arial"/>
              <a:buChar char="•"/>
            </a:pPr>
            <a:r>
              <a:rPr lang="en-US" sz="3000">
                <a:solidFill>
                  <a:srgbClr val="000000"/>
                </a:solidFill>
                <a:latin typeface="Poppins"/>
                <a:ea typeface="Poppins"/>
                <a:cs typeface="Poppins"/>
                <a:sym typeface="Poppins"/>
              </a:rPr>
              <a:t>MLP - MULTILAYER PERCEPTRON</a:t>
            </a:r>
          </a:p>
          <a:p>
            <a:pPr algn="l" marL="1079505" indent="-359835" lvl="2">
              <a:lnSpc>
                <a:spcPts val="3750"/>
              </a:lnSpc>
              <a:buFont typeface="Arial"/>
              <a:buChar char="⚬"/>
            </a:pPr>
            <a:r>
              <a:rPr lang="en-US" sz="2500">
                <a:solidFill>
                  <a:srgbClr val="000000"/>
                </a:solidFill>
                <a:latin typeface="Poppins"/>
                <a:ea typeface="Poppins"/>
                <a:cs typeface="Poppins"/>
                <a:sym typeface="Poppins"/>
              </a:rPr>
              <a:t>ESTRUTURA</a:t>
            </a:r>
          </a:p>
          <a:p>
            <a:pPr algn="l" marL="1079505" indent="-359835" lvl="2">
              <a:lnSpc>
                <a:spcPts val="3750"/>
              </a:lnSpc>
              <a:buFont typeface="Arial"/>
              <a:buChar char="⚬"/>
            </a:pPr>
            <a:r>
              <a:rPr lang="en-US" sz="2500">
                <a:solidFill>
                  <a:srgbClr val="000000"/>
                </a:solidFill>
                <a:latin typeface="Poppins"/>
                <a:ea typeface="Poppins"/>
                <a:cs typeface="Poppins"/>
                <a:sym typeface="Poppins"/>
              </a:rPr>
              <a:t>FUNÇÃO DE ATIVAÇÃO</a:t>
            </a:r>
          </a:p>
          <a:p>
            <a:pPr algn="l" marL="1079505" indent="-359835" lvl="2">
              <a:lnSpc>
                <a:spcPts val="3750"/>
              </a:lnSpc>
              <a:buFont typeface="Arial"/>
              <a:buChar char="⚬"/>
            </a:pPr>
            <a:r>
              <a:rPr lang="en-US" sz="2500">
                <a:solidFill>
                  <a:srgbClr val="000000"/>
                </a:solidFill>
                <a:latin typeface="Poppins"/>
                <a:ea typeface="Poppins"/>
                <a:cs typeface="Poppins"/>
                <a:sym typeface="Poppins"/>
              </a:rPr>
              <a:t>FLUX</a:t>
            </a:r>
            <a:r>
              <a:rPr lang="en-US" sz="2500">
                <a:solidFill>
                  <a:srgbClr val="000000"/>
                </a:solidFill>
                <a:latin typeface="Poppins"/>
                <a:ea typeface="Poppins"/>
                <a:cs typeface="Poppins"/>
                <a:sym typeface="Poppins"/>
              </a:rPr>
              <a:t>O DOS DADOS</a:t>
            </a:r>
          </a:p>
          <a:p>
            <a:pPr algn="l" marL="1079505" indent="-359835" lvl="2">
              <a:lnSpc>
                <a:spcPts val="3750"/>
              </a:lnSpc>
              <a:buFont typeface="Arial"/>
              <a:buChar char="⚬"/>
            </a:pPr>
            <a:r>
              <a:rPr lang="en-US" sz="2500">
                <a:solidFill>
                  <a:srgbClr val="000000"/>
                </a:solidFill>
                <a:latin typeface="Poppins"/>
                <a:ea typeface="Poppins"/>
                <a:cs typeface="Poppins"/>
                <a:sym typeface="Poppins"/>
              </a:rPr>
              <a:t>APRENDIZADO</a:t>
            </a:r>
          </a:p>
          <a:p>
            <a:pPr algn="l" marL="1079505" indent="-359835" lvl="2">
              <a:lnSpc>
                <a:spcPts val="3750"/>
              </a:lnSpc>
              <a:buFont typeface="Arial"/>
              <a:buChar char="⚬"/>
            </a:pPr>
            <a:r>
              <a:rPr lang="en-US" sz="2500">
                <a:solidFill>
                  <a:srgbClr val="000000"/>
                </a:solidFill>
                <a:latin typeface="Poppins"/>
                <a:ea typeface="Poppins"/>
                <a:cs typeface="Poppins"/>
                <a:sym typeface="Poppins"/>
              </a:rPr>
              <a:t>BACKPROPA</a:t>
            </a:r>
            <a:r>
              <a:rPr lang="en-US" sz="2500">
                <a:solidFill>
                  <a:srgbClr val="000000"/>
                </a:solidFill>
                <a:latin typeface="Poppins"/>
                <a:ea typeface="Poppins"/>
                <a:cs typeface="Poppins"/>
                <a:sym typeface="Poppins"/>
              </a:rPr>
              <a:t>GATION</a:t>
            </a:r>
          </a:p>
          <a:p>
            <a:pPr algn="l" marL="1079505" indent="-359835" lvl="2">
              <a:lnSpc>
                <a:spcPts val="3750"/>
              </a:lnSpc>
              <a:buFont typeface="Arial"/>
              <a:buChar char="⚬"/>
            </a:pPr>
            <a:r>
              <a:rPr lang="en-US" sz="2500">
                <a:solidFill>
                  <a:srgbClr val="000000"/>
                </a:solidFill>
                <a:latin typeface="Poppins"/>
                <a:ea typeface="Poppins"/>
                <a:cs typeface="Poppins"/>
                <a:sym typeface="Poppins"/>
              </a:rPr>
              <a:t>NEUROFUZZY</a:t>
            </a:r>
          </a:p>
          <a:p>
            <a:pPr algn="l" marL="647700" indent="-323850" lvl="1">
              <a:lnSpc>
                <a:spcPts val="4500"/>
              </a:lnSpc>
              <a:buFont typeface="Arial"/>
              <a:buChar char="•"/>
            </a:pPr>
            <a:r>
              <a:rPr lang="en-US" sz="3000">
                <a:solidFill>
                  <a:srgbClr val="000000"/>
                </a:solidFill>
                <a:latin typeface="Poppins"/>
                <a:ea typeface="Poppins"/>
                <a:cs typeface="Poppins"/>
                <a:sym typeface="Poppins"/>
              </a:rPr>
              <a:t>CNN - REDES NEURAIS CONVOLUCIONAIS</a:t>
            </a:r>
          </a:p>
          <a:p>
            <a:pPr algn="l" marL="1079505" indent="-359835" lvl="2">
              <a:lnSpc>
                <a:spcPts val="3750"/>
              </a:lnSpc>
              <a:buFont typeface="Arial"/>
              <a:buChar char="⚬"/>
            </a:pPr>
            <a:r>
              <a:rPr lang="en-US" sz="2500">
                <a:solidFill>
                  <a:srgbClr val="000000"/>
                </a:solidFill>
                <a:latin typeface="Poppins"/>
                <a:ea typeface="Poppins"/>
                <a:cs typeface="Poppins"/>
                <a:sym typeface="Poppins"/>
              </a:rPr>
              <a:t>CONVOLUÇÃO</a:t>
            </a:r>
          </a:p>
          <a:p>
            <a:pPr algn="l" marL="1079505" indent="-359835" lvl="2">
              <a:lnSpc>
                <a:spcPts val="3750"/>
              </a:lnSpc>
              <a:buFont typeface="Arial"/>
              <a:buChar char="⚬"/>
            </a:pPr>
            <a:r>
              <a:rPr lang="en-US" sz="2500">
                <a:solidFill>
                  <a:srgbClr val="000000"/>
                </a:solidFill>
                <a:latin typeface="Poppins"/>
                <a:ea typeface="Poppins"/>
                <a:cs typeface="Poppins"/>
                <a:sym typeface="Poppins"/>
              </a:rPr>
              <a:t>POOLING</a:t>
            </a:r>
          </a:p>
          <a:p>
            <a:pPr algn="l" marL="1079505" indent="-359835" lvl="2">
              <a:lnSpc>
                <a:spcPts val="3750"/>
              </a:lnSpc>
              <a:buFont typeface="Arial"/>
              <a:buChar char="⚬"/>
            </a:pPr>
            <a:r>
              <a:rPr lang="en-US" sz="2500">
                <a:solidFill>
                  <a:srgbClr val="000000"/>
                </a:solidFill>
                <a:latin typeface="Poppins"/>
                <a:ea typeface="Poppins"/>
                <a:cs typeface="Poppins"/>
                <a:sym typeface="Poppins"/>
              </a:rPr>
              <a:t>FLATTENING</a:t>
            </a:r>
          </a:p>
          <a:p>
            <a:pPr algn="l" marL="1079505" indent="-359835" lvl="2">
              <a:lnSpc>
                <a:spcPts val="3750"/>
              </a:lnSpc>
              <a:buFont typeface="Arial"/>
              <a:buChar char="⚬"/>
            </a:pPr>
            <a:r>
              <a:rPr lang="en-US" sz="2500">
                <a:solidFill>
                  <a:srgbClr val="000000"/>
                </a:solidFill>
                <a:latin typeface="Poppins"/>
                <a:ea typeface="Poppins"/>
                <a:cs typeface="Poppins"/>
                <a:sym typeface="Poppins"/>
              </a:rPr>
              <a:t>REDE DENSA</a:t>
            </a:r>
          </a:p>
          <a:p>
            <a:pPr algn="l" marL="1079505" indent="-359835" lvl="2">
              <a:lnSpc>
                <a:spcPts val="3750"/>
              </a:lnSpc>
              <a:buFont typeface="Arial"/>
              <a:buChar char="⚬"/>
            </a:pPr>
            <a:r>
              <a:rPr lang="en-US" sz="2500">
                <a:solidFill>
                  <a:srgbClr val="000000"/>
                </a:solidFill>
                <a:latin typeface="Poppins"/>
                <a:ea typeface="Poppins"/>
                <a:cs typeface="Poppins"/>
                <a:sym typeface="Poppins"/>
              </a:rPr>
              <a:t>DIFERENÇA ENTRE MLP</a:t>
            </a:r>
          </a:p>
        </p:txBody>
      </p:sp>
      <p:grpSp>
        <p:nvGrpSpPr>
          <p:cNvPr name="Group 7" id="7"/>
          <p:cNvGrpSpPr/>
          <p:nvPr/>
        </p:nvGrpSpPr>
        <p:grpSpPr>
          <a:xfrm rot="0">
            <a:off x="9144000" y="1028700"/>
            <a:ext cx="8115300" cy="1734693"/>
            <a:chOff x="0" y="0"/>
            <a:chExt cx="10820400" cy="2312924"/>
          </a:xfrm>
        </p:grpSpPr>
        <p:sp>
          <p:nvSpPr>
            <p:cNvPr name="Freeform 8" id="8"/>
            <p:cNvSpPr/>
            <p:nvPr/>
          </p:nvSpPr>
          <p:spPr>
            <a:xfrm flipH="false" flipV="false" rot="0">
              <a:off x="0" y="0"/>
              <a:ext cx="10820395" cy="2312921"/>
            </a:xfrm>
            <a:custGeom>
              <a:avLst/>
              <a:gdLst/>
              <a:ahLst/>
              <a:cxnLst/>
              <a:rect r="r" b="b" t="t" l="l"/>
              <a:pathLst>
                <a:path h="2312921" w="10820395">
                  <a:moveTo>
                    <a:pt x="0" y="0"/>
                  </a:moveTo>
                  <a:lnTo>
                    <a:pt x="10820395" y="0"/>
                  </a:lnTo>
                  <a:lnTo>
                    <a:pt x="10820395" y="2312921"/>
                  </a:lnTo>
                  <a:lnTo>
                    <a:pt x="0" y="2312921"/>
                  </a:lnTo>
                  <a:close/>
                </a:path>
              </a:pathLst>
            </a:custGeom>
            <a:solidFill>
              <a:srgbClr val="000000">
                <a:alpha val="0"/>
              </a:srgbClr>
            </a:solidFill>
            <a:ln w="12700">
              <a:solidFill>
                <a:srgbClr val="000000"/>
              </a:solidFill>
            </a:ln>
          </p:spPr>
        </p:sp>
        <p:sp>
          <p:nvSpPr>
            <p:cNvPr name="TextBox 9" id="9"/>
            <p:cNvSpPr txBox="true"/>
            <p:nvPr/>
          </p:nvSpPr>
          <p:spPr>
            <a:xfrm>
              <a:off x="0" y="-57150"/>
              <a:ext cx="10820400" cy="2370074"/>
            </a:xfrm>
            <a:prstGeom prst="rect">
              <a:avLst/>
            </a:prstGeom>
          </p:spPr>
          <p:txBody>
            <a:bodyPr anchor="b" rtlCol="false" tIns="0" lIns="0" bIns="0" rIns="0"/>
            <a:lstStyle/>
            <a:p>
              <a:pPr algn="r">
                <a:lnSpc>
                  <a:spcPts val="8399"/>
                </a:lnSpc>
              </a:pPr>
              <a:r>
                <a:rPr lang="en-US" b="true" sz="6999">
                  <a:solidFill>
                    <a:srgbClr val="FFFFFF"/>
                  </a:solidFill>
                  <a:latin typeface="Poppins Bold"/>
                  <a:ea typeface="Poppins Bold"/>
                  <a:cs typeface="Poppins Bold"/>
                  <a:sym typeface="Poppins Bold"/>
                </a:rPr>
                <a:t>SUMÁRIO</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a:t>
              </a:r>
              <a:r>
                <a:rPr lang="en-US" sz="7000">
                  <a:solidFill>
                    <a:srgbClr val="FFFFFF"/>
                  </a:solidFill>
                  <a:latin typeface="Poppins"/>
                  <a:ea typeface="Poppins"/>
                  <a:cs typeface="Poppins"/>
                  <a:sym typeface="Poppins"/>
                </a:rPr>
                <a:t>DE NEURAL BIOLÓGICA</a:t>
              </a:r>
            </a:p>
          </p:txBody>
        </p:sp>
      </p:grpSp>
      <p:sp>
        <p:nvSpPr>
          <p:cNvPr name="TextBox 6" id="6"/>
          <p:cNvSpPr txBox="true"/>
          <p:nvPr/>
        </p:nvSpPr>
        <p:spPr>
          <a:xfrm rot="0">
            <a:off x="1028700" y="2648513"/>
            <a:ext cx="8620954" cy="55403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As</a:t>
            </a:r>
            <a:r>
              <a:rPr lang="en-US" sz="2499">
                <a:solidFill>
                  <a:srgbClr val="000000"/>
                </a:solidFill>
                <a:latin typeface="Poppins Light"/>
                <a:ea typeface="Poppins Light"/>
                <a:cs typeface="Poppins Light"/>
                <a:sym typeface="Poppins Light"/>
              </a:rPr>
              <a:t> redes neurais consistem em uma coleção de múltiplos neurônios, sendo que o neurônio possui componentes essenciais, tais como dendritos, corpo celular, axônio e sinapses. Os dendritos são responsáveis por receber informações e estímulos para os neurônios, o corpo celular processa essas entradas, resultando na produção de</a:t>
            </a:r>
            <a:r>
              <a:rPr lang="en-US" sz="2499">
                <a:solidFill>
                  <a:srgbClr val="000000"/>
                </a:solidFill>
                <a:latin typeface="Poppins Light"/>
                <a:ea typeface="Poppins Light"/>
                <a:cs typeface="Poppins Light"/>
                <a:sym typeface="Poppins Light"/>
              </a:rPr>
              <a:t> proteínas transportadas pelo</a:t>
            </a:r>
            <a:r>
              <a:rPr lang="en-US" sz="2499">
                <a:solidFill>
                  <a:srgbClr val="000000"/>
                </a:solidFill>
                <a:latin typeface="Poppins Light"/>
                <a:ea typeface="Poppins Light"/>
                <a:cs typeface="Poppins Light"/>
                <a:sym typeface="Poppins Light"/>
              </a:rPr>
              <a:t> axônio. Estas proteínas alcançam as sinapses, onde são responsáveis pela geração de neurotransmissores. Essas conexões são cruciais para o armazenamento de conhecimento.</a:t>
            </a:r>
          </a:p>
        </p:txBody>
      </p:sp>
      <p:sp>
        <p:nvSpPr>
          <p:cNvPr name="Freeform 7" id="7"/>
          <p:cNvSpPr/>
          <p:nvPr/>
        </p:nvSpPr>
        <p:spPr>
          <a:xfrm flipH="false" flipV="false" rot="0">
            <a:off x="10075008" y="3636144"/>
            <a:ext cx="6755667" cy="3014713"/>
          </a:xfrm>
          <a:custGeom>
            <a:avLst/>
            <a:gdLst/>
            <a:ahLst/>
            <a:cxnLst/>
            <a:rect r="r" b="b" t="t" l="l"/>
            <a:pathLst>
              <a:path h="3014713" w="6755667">
                <a:moveTo>
                  <a:pt x="0" y="0"/>
                </a:moveTo>
                <a:lnTo>
                  <a:pt x="6755667" y="0"/>
                </a:lnTo>
                <a:lnTo>
                  <a:pt x="6755667" y="3014712"/>
                </a:lnTo>
                <a:lnTo>
                  <a:pt x="0" y="3014712"/>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BREVE HISTÓRIA</a:t>
              </a:r>
            </a:p>
          </p:txBody>
        </p:sp>
      </p:grpSp>
      <p:sp>
        <p:nvSpPr>
          <p:cNvPr name="Freeform 6" id="6"/>
          <p:cNvSpPr/>
          <p:nvPr/>
        </p:nvSpPr>
        <p:spPr>
          <a:xfrm flipH="false" flipV="false" rot="0">
            <a:off x="2147522" y="2770897"/>
            <a:ext cx="13992957" cy="6487403"/>
          </a:xfrm>
          <a:custGeom>
            <a:avLst/>
            <a:gdLst/>
            <a:ahLst/>
            <a:cxnLst/>
            <a:rect r="r" b="b" t="t" l="l"/>
            <a:pathLst>
              <a:path h="6487403" w="13992957">
                <a:moveTo>
                  <a:pt x="0" y="0"/>
                </a:moveTo>
                <a:lnTo>
                  <a:pt x="13992956" y="0"/>
                </a:lnTo>
                <a:lnTo>
                  <a:pt x="13992956" y="6487403"/>
                </a:lnTo>
                <a:lnTo>
                  <a:pt x="0" y="6487403"/>
                </a:lnTo>
                <a:lnTo>
                  <a:pt x="0" y="0"/>
                </a:lnTo>
                <a:close/>
              </a:path>
            </a:pathLst>
          </a:custGeom>
          <a:blipFill>
            <a:blip r:embed="rId3"/>
            <a:stretch>
              <a:fillRect l="-221" t="-1765" r="-221"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PERCEPTR</a:t>
              </a:r>
              <a:r>
                <a:rPr lang="en-US" sz="7000">
                  <a:solidFill>
                    <a:srgbClr val="FFFFFF"/>
                  </a:solidFill>
                  <a:latin typeface="Poppins"/>
                  <a:ea typeface="Poppins"/>
                  <a:cs typeface="Poppins"/>
                  <a:sym typeface="Poppins"/>
                </a:rPr>
                <a:t>ON</a:t>
              </a:r>
            </a:p>
          </p:txBody>
        </p:sp>
      </p:grpSp>
      <p:grpSp>
        <p:nvGrpSpPr>
          <p:cNvPr name="Group 6" id="6"/>
          <p:cNvGrpSpPr/>
          <p:nvPr/>
        </p:nvGrpSpPr>
        <p:grpSpPr>
          <a:xfrm rot="0">
            <a:off x="1028700" y="2764347"/>
            <a:ext cx="8558939" cy="877050"/>
            <a:chOff x="0" y="0"/>
            <a:chExt cx="2254206" cy="230993"/>
          </a:xfrm>
        </p:grpSpPr>
        <p:sp>
          <p:nvSpPr>
            <p:cNvPr name="Freeform 7" id="7"/>
            <p:cNvSpPr/>
            <p:nvPr/>
          </p:nvSpPr>
          <p:spPr>
            <a:xfrm flipH="false" flipV="false" rot="0">
              <a:off x="0" y="0"/>
              <a:ext cx="2254206" cy="230993"/>
            </a:xfrm>
            <a:custGeom>
              <a:avLst/>
              <a:gdLst/>
              <a:ahLst/>
              <a:cxnLst/>
              <a:rect r="r" b="b" t="t" l="l"/>
              <a:pathLst>
                <a:path h="230993" w="2254206">
                  <a:moveTo>
                    <a:pt x="0" y="0"/>
                  </a:moveTo>
                  <a:lnTo>
                    <a:pt x="2254206" y="0"/>
                  </a:lnTo>
                  <a:lnTo>
                    <a:pt x="225420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25420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O NEURÔNIO ARTIFICIAL</a:t>
              </a:r>
            </a:p>
          </p:txBody>
        </p:sp>
      </p:grpSp>
      <p:grpSp>
        <p:nvGrpSpPr>
          <p:cNvPr name="Group 9" id="9"/>
          <p:cNvGrpSpPr/>
          <p:nvPr/>
        </p:nvGrpSpPr>
        <p:grpSpPr>
          <a:xfrm rot="0">
            <a:off x="11370196" y="7969232"/>
            <a:ext cx="4099167" cy="1289685"/>
            <a:chOff x="0" y="0"/>
            <a:chExt cx="1079616" cy="339670"/>
          </a:xfrm>
        </p:grpSpPr>
        <p:sp>
          <p:nvSpPr>
            <p:cNvPr name="Freeform 10" id="10"/>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11" id="11"/>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Perceptron Simples</a:t>
              </a:r>
            </a:p>
            <a:p>
              <a:pPr algn="ctr">
                <a:lnSpc>
                  <a:spcPts val="4499"/>
                </a:lnSpc>
              </a:pPr>
              <a:r>
                <a:rPr lang="en-US" sz="2499" u="sng">
                  <a:solidFill>
                    <a:srgbClr val="000000"/>
                  </a:solidFill>
                  <a:latin typeface="Poppins"/>
                  <a:ea typeface="Poppins"/>
                  <a:cs typeface="Poppins"/>
                  <a:sym typeface="Poppins"/>
                  <a:hlinkClick r:id="rId3" tooltip="https://colab.research.google.com/drive/1EAQ9D-JQ3glIsfxgBnbXd-b2JLiQDAeK"/>
                </a:rPr>
                <a:t>CÓDIGO</a:t>
              </a:r>
            </a:p>
          </p:txBody>
        </p:sp>
      </p:grpSp>
      <p:sp>
        <p:nvSpPr>
          <p:cNvPr name="Freeform 12" id="12"/>
          <p:cNvSpPr/>
          <p:nvPr/>
        </p:nvSpPr>
        <p:spPr>
          <a:xfrm flipH="false" flipV="false" rot="0">
            <a:off x="10241053" y="2764347"/>
            <a:ext cx="6357452" cy="4966759"/>
          </a:xfrm>
          <a:custGeom>
            <a:avLst/>
            <a:gdLst/>
            <a:ahLst/>
            <a:cxnLst/>
            <a:rect r="r" b="b" t="t" l="l"/>
            <a:pathLst>
              <a:path h="4966759" w="6357452">
                <a:moveTo>
                  <a:pt x="0" y="0"/>
                </a:moveTo>
                <a:lnTo>
                  <a:pt x="6357452" y="0"/>
                </a:lnTo>
                <a:lnTo>
                  <a:pt x="6357452" y="4966760"/>
                </a:lnTo>
                <a:lnTo>
                  <a:pt x="0" y="4966760"/>
                </a:lnTo>
                <a:lnTo>
                  <a:pt x="0" y="0"/>
                </a:lnTo>
                <a:close/>
              </a:path>
            </a:pathLst>
          </a:custGeom>
          <a:blipFill>
            <a:blip r:embed="rId4"/>
            <a:stretch>
              <a:fillRect l="0" t="0" r="0" b="0"/>
            </a:stretch>
          </a:blipFill>
        </p:spPr>
      </p:sp>
      <p:sp>
        <p:nvSpPr>
          <p:cNvPr name="TextBox 13" id="13"/>
          <p:cNvSpPr txBox="true"/>
          <p:nvPr/>
        </p:nvSpPr>
        <p:spPr>
          <a:xfrm rot="0">
            <a:off x="1028700" y="3765222"/>
            <a:ext cx="8558939" cy="50355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O perceptron é</a:t>
            </a:r>
            <a:r>
              <a:rPr lang="en-US" sz="2499">
                <a:solidFill>
                  <a:srgbClr val="000000"/>
                </a:solidFill>
                <a:latin typeface="Poppins Light"/>
                <a:ea typeface="Poppins Light"/>
                <a:cs typeface="Poppins Light"/>
                <a:sym typeface="Poppins Light"/>
              </a:rPr>
              <a:t> um modelo que realiza a soma ponderada das entradas multiplicadas pelos pesos, adiciona um bias e, em seguida, aplica uma função de ativação, geralmente uma função degrau. Ele é usado para classificação binária e determina se a saída é 1 ou 0 com base na comparação com um limiar. Embora seja eficaz em problemas de separação linear, o p</a:t>
            </a:r>
            <a:r>
              <a:rPr lang="en-US" sz="2499">
                <a:solidFill>
                  <a:srgbClr val="000000"/>
                </a:solidFill>
                <a:latin typeface="Poppins Light"/>
                <a:ea typeface="Poppins Light"/>
                <a:cs typeface="Poppins Light"/>
                <a:sym typeface="Poppins Light"/>
              </a:rPr>
              <a:t>erceptron</a:t>
            </a:r>
            <a:r>
              <a:rPr lang="en-US" sz="2499">
                <a:solidFill>
                  <a:srgbClr val="000000"/>
                </a:solidFill>
                <a:latin typeface="Poppins Light"/>
                <a:ea typeface="Poppins Light"/>
                <a:cs typeface="Poppins Light"/>
                <a:sym typeface="Poppins Light"/>
              </a:rPr>
              <a:t> tem limitações em tarefas mais complexas que não são linearmente separáveis.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PERCEPTR</a:t>
              </a:r>
              <a:r>
                <a:rPr lang="en-US" sz="7000">
                  <a:solidFill>
                    <a:srgbClr val="FFFFFF"/>
                  </a:solidFill>
                  <a:latin typeface="Poppins"/>
                  <a:ea typeface="Poppins"/>
                  <a:cs typeface="Poppins"/>
                  <a:sym typeface="Poppins"/>
                </a:rPr>
                <a:t>ON</a:t>
              </a:r>
            </a:p>
          </p:txBody>
        </p:sp>
      </p:grpSp>
      <p:grpSp>
        <p:nvGrpSpPr>
          <p:cNvPr name="Group 6" id="6"/>
          <p:cNvGrpSpPr/>
          <p:nvPr/>
        </p:nvGrpSpPr>
        <p:grpSpPr>
          <a:xfrm rot="0">
            <a:off x="1028700" y="2764347"/>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b="true" sz="2999">
                  <a:solidFill>
                    <a:srgbClr val="04165D"/>
                  </a:solidFill>
                  <a:latin typeface="Poppins Bold"/>
                  <a:ea typeface="Poppins Bold"/>
                  <a:cs typeface="Poppins Bold"/>
                  <a:sym typeface="Poppins Bold"/>
                </a:rPr>
                <a:t>LIMITAÇÃO: LINEARIDADE</a:t>
              </a:r>
            </a:p>
          </p:txBody>
        </p:sp>
      </p:grpSp>
      <p:grpSp>
        <p:nvGrpSpPr>
          <p:cNvPr name="Group 9" id="9"/>
          <p:cNvGrpSpPr/>
          <p:nvPr/>
        </p:nvGrpSpPr>
        <p:grpSpPr>
          <a:xfrm rot="0">
            <a:off x="9144000" y="2765585"/>
            <a:ext cx="8115300" cy="877050"/>
            <a:chOff x="0" y="0"/>
            <a:chExt cx="2137363" cy="230993"/>
          </a:xfrm>
        </p:grpSpPr>
        <p:sp>
          <p:nvSpPr>
            <p:cNvPr name="Freeform 10" id="10"/>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11" id="11"/>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b="true" sz="2999">
                  <a:solidFill>
                    <a:srgbClr val="04165D"/>
                  </a:solidFill>
                  <a:latin typeface="Poppins Bold"/>
                  <a:ea typeface="Poppins Bold"/>
                  <a:cs typeface="Poppins Bold"/>
                  <a:sym typeface="Poppins Bold"/>
                </a:rPr>
                <a:t>APLICAÇÕES</a:t>
              </a:r>
            </a:p>
          </p:txBody>
        </p:sp>
      </p:grpSp>
      <p:grpSp>
        <p:nvGrpSpPr>
          <p:cNvPr name="Group 12" id="12"/>
          <p:cNvGrpSpPr/>
          <p:nvPr/>
        </p:nvGrpSpPr>
        <p:grpSpPr>
          <a:xfrm rot="0">
            <a:off x="10225863" y="4141066"/>
            <a:ext cx="2713962" cy="2511967"/>
            <a:chOff x="0" y="0"/>
            <a:chExt cx="3618616" cy="3349289"/>
          </a:xfrm>
        </p:grpSpPr>
        <p:sp>
          <p:nvSpPr>
            <p:cNvPr name="Freeform 13" id="13"/>
            <p:cNvSpPr/>
            <p:nvPr/>
          </p:nvSpPr>
          <p:spPr>
            <a:xfrm flipH="false" flipV="false" rot="0">
              <a:off x="426415" y="0"/>
              <a:ext cx="2765786" cy="2765786"/>
            </a:xfrm>
            <a:custGeom>
              <a:avLst/>
              <a:gdLst/>
              <a:ahLst/>
              <a:cxnLst/>
              <a:rect r="r" b="b" t="t" l="l"/>
              <a:pathLst>
                <a:path h="2765786" w="2765786">
                  <a:moveTo>
                    <a:pt x="0" y="0"/>
                  </a:moveTo>
                  <a:lnTo>
                    <a:pt x="2765786" y="0"/>
                  </a:lnTo>
                  <a:lnTo>
                    <a:pt x="2765786" y="2765786"/>
                  </a:lnTo>
                  <a:lnTo>
                    <a:pt x="0" y="2765786"/>
                  </a:lnTo>
                  <a:lnTo>
                    <a:pt x="0" y="0"/>
                  </a:lnTo>
                  <a:close/>
                </a:path>
              </a:pathLst>
            </a:custGeom>
            <a:blipFill>
              <a:blip r:embed="rId3"/>
              <a:stretch>
                <a:fillRect l="0" t="0" r="0" b="0"/>
              </a:stretch>
            </a:blipFill>
          </p:spPr>
        </p:sp>
        <p:sp>
          <p:nvSpPr>
            <p:cNvPr name="TextBox 14" id="14"/>
            <p:cNvSpPr txBox="true"/>
            <p:nvPr/>
          </p:nvSpPr>
          <p:spPr>
            <a:xfrm rot="0">
              <a:off x="0" y="2834939"/>
              <a:ext cx="3618616" cy="514350"/>
            </a:xfrm>
            <a:prstGeom prst="rect">
              <a:avLst/>
            </a:prstGeom>
          </p:spPr>
          <p:txBody>
            <a:bodyPr anchor="t" rtlCol="false" tIns="0" lIns="0" bIns="0" rIns="0">
              <a:spAutoFit/>
            </a:bodyPr>
            <a:lstStyle/>
            <a:p>
              <a:pPr algn="ctr">
                <a:lnSpc>
                  <a:spcPts val="2999"/>
                </a:lnSpc>
              </a:pPr>
              <a:r>
                <a:rPr lang="en-US" sz="2499">
                  <a:solidFill>
                    <a:srgbClr val="04165D"/>
                  </a:solidFill>
                  <a:latin typeface="Poppins Light"/>
                  <a:ea typeface="Poppins Light"/>
                  <a:cs typeface="Poppins Light"/>
                  <a:sym typeface="Poppins Light"/>
                </a:rPr>
                <a:t>CLASSIFICADOR</a:t>
              </a:r>
            </a:p>
          </p:txBody>
        </p:sp>
      </p:grpSp>
      <p:grpSp>
        <p:nvGrpSpPr>
          <p:cNvPr name="Group 15" id="15"/>
          <p:cNvGrpSpPr/>
          <p:nvPr/>
        </p:nvGrpSpPr>
        <p:grpSpPr>
          <a:xfrm rot="0">
            <a:off x="13895162" y="4107987"/>
            <a:ext cx="2282275" cy="2578125"/>
            <a:chOff x="0" y="0"/>
            <a:chExt cx="3043034" cy="3437500"/>
          </a:xfrm>
        </p:grpSpPr>
        <p:sp>
          <p:nvSpPr>
            <p:cNvPr name="Freeform 16" id="16"/>
            <p:cNvSpPr/>
            <p:nvPr/>
          </p:nvSpPr>
          <p:spPr>
            <a:xfrm flipH="false" flipV="false" rot="0">
              <a:off x="50417" y="0"/>
              <a:ext cx="2942200" cy="2942200"/>
            </a:xfrm>
            <a:custGeom>
              <a:avLst/>
              <a:gdLst/>
              <a:ahLst/>
              <a:cxnLst/>
              <a:rect r="r" b="b" t="t" l="l"/>
              <a:pathLst>
                <a:path h="2942200" w="2942200">
                  <a:moveTo>
                    <a:pt x="0" y="0"/>
                  </a:moveTo>
                  <a:lnTo>
                    <a:pt x="2942200" y="0"/>
                  </a:lnTo>
                  <a:lnTo>
                    <a:pt x="2942200" y="2942200"/>
                  </a:lnTo>
                  <a:lnTo>
                    <a:pt x="0" y="2942200"/>
                  </a:lnTo>
                  <a:lnTo>
                    <a:pt x="0" y="0"/>
                  </a:lnTo>
                  <a:close/>
                </a:path>
              </a:pathLst>
            </a:custGeom>
            <a:blipFill>
              <a:blip r:embed="rId4"/>
              <a:stretch>
                <a:fillRect l="0" t="0" r="0" b="0"/>
              </a:stretch>
            </a:blipFill>
          </p:spPr>
        </p:sp>
        <p:sp>
          <p:nvSpPr>
            <p:cNvPr name="TextBox 17" id="17"/>
            <p:cNvSpPr txBox="true"/>
            <p:nvPr/>
          </p:nvSpPr>
          <p:spPr>
            <a:xfrm rot="0">
              <a:off x="0" y="2923150"/>
              <a:ext cx="3043034" cy="514350"/>
            </a:xfrm>
            <a:prstGeom prst="rect">
              <a:avLst/>
            </a:prstGeom>
          </p:spPr>
          <p:txBody>
            <a:bodyPr anchor="t" rtlCol="false" tIns="0" lIns="0" bIns="0" rIns="0">
              <a:spAutoFit/>
            </a:bodyPr>
            <a:lstStyle/>
            <a:p>
              <a:pPr algn="ctr">
                <a:lnSpc>
                  <a:spcPts val="2999"/>
                </a:lnSpc>
              </a:pPr>
              <a:r>
                <a:rPr lang="en-US" sz="2499">
                  <a:solidFill>
                    <a:srgbClr val="04165D"/>
                  </a:solidFill>
                  <a:latin typeface="Poppins Light"/>
                  <a:ea typeface="Poppins Light"/>
                  <a:cs typeface="Poppins Light"/>
                  <a:sym typeface="Poppins Light"/>
                </a:rPr>
                <a:t>APROXIMADOR</a:t>
              </a:r>
            </a:p>
          </p:txBody>
        </p:sp>
      </p:grpSp>
      <p:grpSp>
        <p:nvGrpSpPr>
          <p:cNvPr name="Group 18" id="18"/>
          <p:cNvGrpSpPr/>
          <p:nvPr/>
        </p:nvGrpSpPr>
        <p:grpSpPr>
          <a:xfrm rot="0">
            <a:off x="1952305" y="3879522"/>
            <a:ext cx="6268091" cy="3035054"/>
            <a:chOff x="0" y="0"/>
            <a:chExt cx="8357454" cy="4046739"/>
          </a:xfrm>
        </p:grpSpPr>
        <p:sp>
          <p:nvSpPr>
            <p:cNvPr name="Freeform 19" id="19"/>
            <p:cNvSpPr/>
            <p:nvPr/>
          </p:nvSpPr>
          <p:spPr>
            <a:xfrm flipH="false" flipV="false" rot="0">
              <a:off x="4284983" y="0"/>
              <a:ext cx="4072471" cy="4046739"/>
            </a:xfrm>
            <a:custGeom>
              <a:avLst/>
              <a:gdLst/>
              <a:ahLst/>
              <a:cxnLst/>
              <a:rect r="r" b="b" t="t" l="l"/>
              <a:pathLst>
                <a:path h="4046739" w="4072471">
                  <a:moveTo>
                    <a:pt x="0" y="0"/>
                  </a:moveTo>
                  <a:lnTo>
                    <a:pt x="4072471" y="0"/>
                  </a:lnTo>
                  <a:lnTo>
                    <a:pt x="4072471" y="4046739"/>
                  </a:lnTo>
                  <a:lnTo>
                    <a:pt x="0" y="4046739"/>
                  </a:lnTo>
                  <a:lnTo>
                    <a:pt x="0" y="0"/>
                  </a:lnTo>
                  <a:close/>
                </a:path>
              </a:pathLst>
            </a:custGeom>
            <a:blipFill>
              <a:blip r:embed="rId5"/>
              <a:stretch>
                <a:fillRect l="-98919" t="0" r="-8703" b="0"/>
              </a:stretch>
            </a:blipFill>
          </p:spPr>
        </p:sp>
        <p:sp>
          <p:nvSpPr>
            <p:cNvPr name="Freeform 20" id="20"/>
            <p:cNvSpPr/>
            <p:nvPr/>
          </p:nvSpPr>
          <p:spPr>
            <a:xfrm flipH="false" flipV="false" rot="0">
              <a:off x="0" y="0"/>
              <a:ext cx="4072471" cy="4046739"/>
            </a:xfrm>
            <a:custGeom>
              <a:avLst/>
              <a:gdLst/>
              <a:ahLst/>
              <a:cxnLst/>
              <a:rect r="r" b="b" t="t" l="l"/>
              <a:pathLst>
                <a:path h="4046739" w="4072471">
                  <a:moveTo>
                    <a:pt x="0" y="0"/>
                  </a:moveTo>
                  <a:lnTo>
                    <a:pt x="4072471" y="0"/>
                  </a:lnTo>
                  <a:lnTo>
                    <a:pt x="4072471" y="4046739"/>
                  </a:lnTo>
                  <a:lnTo>
                    <a:pt x="0" y="4046739"/>
                  </a:lnTo>
                  <a:lnTo>
                    <a:pt x="0" y="0"/>
                  </a:lnTo>
                  <a:close/>
                </a:path>
              </a:pathLst>
            </a:custGeom>
            <a:blipFill>
              <a:blip r:embed="rId5"/>
              <a:stretch>
                <a:fillRect l="0" t="0" r="-107622" b="0"/>
              </a:stretch>
            </a:blipFill>
          </p:spPr>
        </p:sp>
      </p:grpSp>
      <p:sp>
        <p:nvSpPr>
          <p:cNvPr name="TextBox 21" id="21"/>
          <p:cNvSpPr txBox="true"/>
          <p:nvPr/>
        </p:nvSpPr>
        <p:spPr>
          <a:xfrm rot="0">
            <a:off x="1161527" y="7038402"/>
            <a:ext cx="8115300" cy="15017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estrutura simplificada do perceptron o impede de resolver problemas com separação não linear, ou seja, que possuam padrões muito complexos.</a:t>
            </a:r>
          </a:p>
        </p:txBody>
      </p:sp>
      <p:grpSp>
        <p:nvGrpSpPr>
          <p:cNvPr name="Group 22" id="22"/>
          <p:cNvGrpSpPr/>
          <p:nvPr/>
        </p:nvGrpSpPr>
        <p:grpSpPr>
          <a:xfrm rot="0">
            <a:off x="11152067" y="7152702"/>
            <a:ext cx="4099167" cy="1289685"/>
            <a:chOff x="0" y="0"/>
            <a:chExt cx="1079616" cy="339670"/>
          </a:xfrm>
        </p:grpSpPr>
        <p:sp>
          <p:nvSpPr>
            <p:cNvPr name="Freeform 23" id="23"/>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24" id="24"/>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Perceptron Íris</a:t>
              </a:r>
            </a:p>
            <a:p>
              <a:pPr algn="ctr">
                <a:lnSpc>
                  <a:spcPts val="4499"/>
                </a:lnSpc>
              </a:pPr>
              <a:r>
                <a:rPr lang="en-US" sz="2499" u="sng">
                  <a:solidFill>
                    <a:srgbClr val="000000"/>
                  </a:solidFill>
                  <a:latin typeface="Poppins"/>
                  <a:ea typeface="Poppins"/>
                  <a:cs typeface="Poppins"/>
                  <a:sym typeface="Poppins"/>
                  <a:hlinkClick r:id="rId6" tooltip="https://colab.research.google.com/drive/1Hjh9ejXQk5BBaVi13fvfZu01Un_Q9OvK"/>
                </a:rPr>
                <a:t>CÓDIGO</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 - MULTILAYER PERCEPTRON</a:t>
              </a:r>
            </a:p>
          </p:txBody>
        </p:sp>
      </p:grpSp>
      <p:sp>
        <p:nvSpPr>
          <p:cNvPr name="TextBox 6" id="6"/>
          <p:cNvSpPr txBox="true"/>
          <p:nvPr/>
        </p:nvSpPr>
        <p:spPr>
          <a:xfrm rot="0">
            <a:off x="1028700" y="2650047"/>
            <a:ext cx="8115300" cy="40259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Uma MLP é</a:t>
            </a:r>
            <a:r>
              <a:rPr lang="en-US" sz="2499">
                <a:solidFill>
                  <a:srgbClr val="000000"/>
                </a:solidFill>
                <a:latin typeface="Poppins Light"/>
                <a:ea typeface="Poppins Light"/>
                <a:cs typeface="Poppins Light"/>
                <a:sym typeface="Poppins Light"/>
              </a:rPr>
              <a:t> uma estrutura de processamento de informações composta por camadas de neurônios conectados, onde a saída de um neurônio serve como entrada para os neurônios da camada seguinte. Ela é usada para realizar tarefas de aprendizado de máquina, como classificação, regressão e muito mais, com base na adaptação dos p</a:t>
            </a:r>
            <a:r>
              <a:rPr lang="en-US" sz="2499">
                <a:solidFill>
                  <a:srgbClr val="000000"/>
                </a:solidFill>
                <a:latin typeface="Poppins Light"/>
                <a:ea typeface="Poppins Light"/>
                <a:cs typeface="Poppins Light"/>
                <a:sym typeface="Poppins Light"/>
              </a:rPr>
              <a:t>eso</a:t>
            </a:r>
            <a:r>
              <a:rPr lang="en-US" sz="2499">
                <a:solidFill>
                  <a:srgbClr val="000000"/>
                </a:solidFill>
                <a:latin typeface="Poppins Light"/>
                <a:ea typeface="Poppins Light"/>
                <a:cs typeface="Poppins Light"/>
                <a:sym typeface="Poppins Light"/>
              </a:rPr>
              <a:t>s sinápticos durante o treinamento.</a:t>
            </a:r>
          </a:p>
        </p:txBody>
      </p:sp>
      <p:sp>
        <p:nvSpPr>
          <p:cNvPr name="Freeform 7" id="7"/>
          <p:cNvSpPr/>
          <p:nvPr/>
        </p:nvSpPr>
        <p:spPr>
          <a:xfrm flipH="false" flipV="false" rot="0">
            <a:off x="9382558" y="2764347"/>
            <a:ext cx="7876742" cy="5434969"/>
          </a:xfrm>
          <a:custGeom>
            <a:avLst/>
            <a:gdLst/>
            <a:ahLst/>
            <a:cxnLst/>
            <a:rect r="r" b="b" t="t" l="l"/>
            <a:pathLst>
              <a:path h="5434969" w="7876742">
                <a:moveTo>
                  <a:pt x="0" y="0"/>
                </a:moveTo>
                <a:lnTo>
                  <a:pt x="7876742" y="0"/>
                </a:lnTo>
                <a:lnTo>
                  <a:pt x="7876742" y="5434969"/>
                </a:lnTo>
                <a:lnTo>
                  <a:pt x="0" y="5434969"/>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 - ESTRUTURA</a:t>
              </a:r>
            </a:p>
          </p:txBody>
        </p:sp>
      </p:grpSp>
      <p:grpSp>
        <p:nvGrpSpPr>
          <p:cNvPr name="Group 6" id="6"/>
          <p:cNvGrpSpPr/>
          <p:nvPr/>
        </p:nvGrpSpPr>
        <p:grpSpPr>
          <a:xfrm rot="0">
            <a:off x="1028700" y="2764347"/>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CAMAD</a:t>
              </a:r>
              <a:r>
                <a:rPr lang="en-US" sz="2999">
                  <a:solidFill>
                    <a:srgbClr val="04165D"/>
                  </a:solidFill>
                  <a:latin typeface="Poppins"/>
                  <a:ea typeface="Poppins"/>
                  <a:cs typeface="Poppins"/>
                  <a:sym typeface="Poppins"/>
                </a:rPr>
                <a:t>A DE ENTRADA (INPUT LAYER)</a:t>
              </a:r>
            </a:p>
          </p:txBody>
        </p:sp>
      </p:grpSp>
      <p:sp>
        <p:nvSpPr>
          <p:cNvPr name="TextBox 9" id="9"/>
          <p:cNvSpPr txBox="true"/>
          <p:nvPr/>
        </p:nvSpPr>
        <p:spPr>
          <a:xfrm rot="0">
            <a:off x="1028700" y="3765222"/>
            <a:ext cx="8115300" cy="30162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ca</a:t>
            </a:r>
            <a:r>
              <a:rPr lang="en-US" sz="2499">
                <a:solidFill>
                  <a:srgbClr val="000000"/>
                </a:solidFill>
                <a:latin typeface="Poppins Light"/>
                <a:ea typeface="Poppins Light"/>
                <a:cs typeface="Poppins Light"/>
                <a:sym typeface="Poppins Light"/>
              </a:rPr>
              <a:t>mada de entrada é responsável por transmitir os valores de entrada, que podem ser recursos, características ou qualquer tipo de dados relevantes para o problema em questão, para as camadas </a:t>
            </a:r>
            <a:r>
              <a:rPr lang="en-US" sz="2499">
                <a:solidFill>
                  <a:srgbClr val="000000"/>
                </a:solidFill>
                <a:latin typeface="Poppins Light"/>
                <a:ea typeface="Poppins Light"/>
                <a:cs typeface="Poppins Light"/>
                <a:sym typeface="Poppins Light"/>
              </a:rPr>
              <a:t>escondida</a:t>
            </a:r>
            <a:r>
              <a:rPr lang="en-US" sz="2499">
                <a:solidFill>
                  <a:srgbClr val="000000"/>
                </a:solidFill>
                <a:latin typeface="Poppins Light"/>
                <a:ea typeface="Poppins Light"/>
                <a:cs typeface="Poppins Light"/>
                <a:sym typeface="Poppins Light"/>
              </a:rPr>
              <a:t>s e, finalmente, para a camada de saída.</a:t>
            </a:r>
          </a:p>
        </p:txBody>
      </p:sp>
      <p:sp>
        <p:nvSpPr>
          <p:cNvPr name="Freeform 10" id="10"/>
          <p:cNvSpPr/>
          <p:nvPr/>
        </p:nvSpPr>
        <p:spPr>
          <a:xfrm flipH="false" flipV="false" rot="0">
            <a:off x="9382558" y="2764347"/>
            <a:ext cx="7876742" cy="5434969"/>
          </a:xfrm>
          <a:custGeom>
            <a:avLst/>
            <a:gdLst/>
            <a:ahLst/>
            <a:cxnLst/>
            <a:rect r="r" b="b" t="t" l="l"/>
            <a:pathLst>
              <a:path h="5434969" w="7876742">
                <a:moveTo>
                  <a:pt x="0" y="0"/>
                </a:moveTo>
                <a:lnTo>
                  <a:pt x="7876742" y="0"/>
                </a:lnTo>
                <a:lnTo>
                  <a:pt x="7876742" y="5434969"/>
                </a:lnTo>
                <a:lnTo>
                  <a:pt x="0" y="5434969"/>
                </a:lnTo>
                <a:lnTo>
                  <a:pt x="0" y="0"/>
                </a:lnTo>
                <a:close/>
              </a:path>
            </a:pathLst>
          </a:custGeom>
          <a:blipFill>
            <a:blip r:embed="rId3"/>
            <a:stretch>
              <a:fillRect l="0" t="0" r="0" b="0"/>
            </a:stretch>
          </a:blipFill>
        </p:spPr>
      </p:sp>
      <p:grpSp>
        <p:nvGrpSpPr>
          <p:cNvPr name="Group 11" id="11"/>
          <p:cNvGrpSpPr/>
          <p:nvPr/>
        </p:nvGrpSpPr>
        <p:grpSpPr>
          <a:xfrm rot="0">
            <a:off x="10880200" y="2764347"/>
            <a:ext cx="1201912" cy="5434969"/>
            <a:chOff x="0" y="0"/>
            <a:chExt cx="1602549" cy="7246625"/>
          </a:xfrm>
        </p:grpSpPr>
        <p:sp>
          <p:nvSpPr>
            <p:cNvPr name="Freeform 12" id="12"/>
            <p:cNvSpPr/>
            <p:nvPr/>
          </p:nvSpPr>
          <p:spPr>
            <a:xfrm flipH="false" flipV="false" rot="0">
              <a:off x="0" y="0"/>
              <a:ext cx="1602525" cy="7246572"/>
            </a:xfrm>
            <a:custGeom>
              <a:avLst/>
              <a:gdLst/>
              <a:ahLst/>
              <a:cxnLst/>
              <a:rect r="r" b="b" t="t" l="l"/>
              <a:pathLst>
                <a:path h="7246572" w="1602525">
                  <a:moveTo>
                    <a:pt x="98318" y="109007"/>
                  </a:moveTo>
                  <a:cubicBezTo>
                    <a:pt x="124558" y="72180"/>
                    <a:pt x="155062" y="43255"/>
                    <a:pt x="188436" y="24507"/>
                  </a:cubicBezTo>
                  <a:lnTo>
                    <a:pt x="199096" y="75127"/>
                  </a:lnTo>
                  <a:cubicBezTo>
                    <a:pt x="169740" y="91598"/>
                    <a:pt x="142844" y="117176"/>
                    <a:pt x="119638" y="149718"/>
                  </a:cubicBezTo>
                  <a:close/>
                  <a:moveTo>
                    <a:pt x="323490" y="0"/>
                  </a:moveTo>
                  <a:lnTo>
                    <a:pt x="421890" y="0"/>
                  </a:lnTo>
                  <a:lnTo>
                    <a:pt x="421890" y="53566"/>
                  </a:lnTo>
                  <a:lnTo>
                    <a:pt x="323490" y="53566"/>
                  </a:lnTo>
                  <a:close/>
                  <a:moveTo>
                    <a:pt x="553090" y="53566"/>
                  </a:moveTo>
                  <a:lnTo>
                    <a:pt x="651490" y="53566"/>
                  </a:lnTo>
                  <a:lnTo>
                    <a:pt x="553090" y="53566"/>
                  </a:lnTo>
                  <a:close/>
                  <a:moveTo>
                    <a:pt x="782689" y="53566"/>
                  </a:moveTo>
                  <a:lnTo>
                    <a:pt x="881089" y="53566"/>
                  </a:lnTo>
                  <a:lnTo>
                    <a:pt x="782689" y="53566"/>
                  </a:lnTo>
                  <a:close/>
                  <a:moveTo>
                    <a:pt x="1012289" y="53566"/>
                  </a:moveTo>
                  <a:lnTo>
                    <a:pt x="1110689" y="53566"/>
                  </a:lnTo>
                  <a:lnTo>
                    <a:pt x="1012289" y="53566"/>
                  </a:lnTo>
                  <a:close/>
                  <a:moveTo>
                    <a:pt x="1241889" y="53566"/>
                  </a:moveTo>
                  <a:lnTo>
                    <a:pt x="1324545" y="53566"/>
                  </a:lnTo>
                  <a:lnTo>
                    <a:pt x="1324545" y="26783"/>
                  </a:lnTo>
                  <a:lnTo>
                    <a:pt x="1324545" y="0"/>
                  </a:lnTo>
                  <a:lnTo>
                    <a:pt x="1324545" y="26783"/>
                  </a:lnTo>
                  <a:lnTo>
                    <a:pt x="1324545" y="0"/>
                  </a:lnTo>
                  <a:cubicBezTo>
                    <a:pt x="1330203" y="0"/>
                    <a:pt x="1335779" y="268"/>
                    <a:pt x="1341355" y="803"/>
                  </a:cubicBezTo>
                  <a:lnTo>
                    <a:pt x="1339387" y="54236"/>
                  </a:lnTo>
                  <a:cubicBezTo>
                    <a:pt x="1334467" y="53700"/>
                    <a:pt x="1329547" y="53566"/>
                    <a:pt x="1324545" y="53566"/>
                  </a:cubicBezTo>
                  <a:lnTo>
                    <a:pt x="1241889" y="53566"/>
                  </a:lnTo>
                  <a:close/>
                  <a:moveTo>
                    <a:pt x="1472555" y="124006"/>
                  </a:moveTo>
                  <a:cubicBezTo>
                    <a:pt x="1501993" y="154672"/>
                    <a:pt x="1527659" y="194178"/>
                    <a:pt x="1548241" y="240244"/>
                  </a:cubicBezTo>
                  <a:lnTo>
                    <a:pt x="1521755" y="271849"/>
                  </a:lnTo>
                  <a:cubicBezTo>
                    <a:pt x="1503551" y="231138"/>
                    <a:pt x="1480837" y="196320"/>
                    <a:pt x="1454925" y="169269"/>
                  </a:cubicBezTo>
                  <a:close/>
                  <a:moveTo>
                    <a:pt x="1599819" y="395319"/>
                  </a:moveTo>
                  <a:cubicBezTo>
                    <a:pt x="1601623" y="416343"/>
                    <a:pt x="1602525" y="437904"/>
                    <a:pt x="1602525" y="459732"/>
                  </a:cubicBezTo>
                  <a:lnTo>
                    <a:pt x="1586125" y="459732"/>
                  </a:lnTo>
                  <a:lnTo>
                    <a:pt x="1602525" y="459732"/>
                  </a:lnTo>
                  <a:lnTo>
                    <a:pt x="1602525" y="559633"/>
                  </a:lnTo>
                  <a:lnTo>
                    <a:pt x="1569725" y="559633"/>
                  </a:lnTo>
                  <a:lnTo>
                    <a:pt x="1569725" y="459732"/>
                  </a:lnTo>
                  <a:cubicBezTo>
                    <a:pt x="1569725" y="440314"/>
                    <a:pt x="1568905" y="421298"/>
                    <a:pt x="1567347" y="402684"/>
                  </a:cubicBezTo>
                  <a:close/>
                  <a:moveTo>
                    <a:pt x="1570053" y="781263"/>
                  </a:moveTo>
                  <a:lnTo>
                    <a:pt x="1570053" y="941962"/>
                  </a:lnTo>
                  <a:lnTo>
                    <a:pt x="1537253" y="941962"/>
                  </a:lnTo>
                  <a:lnTo>
                    <a:pt x="1537253" y="781263"/>
                  </a:lnTo>
                  <a:close/>
                  <a:moveTo>
                    <a:pt x="1537253" y="1156227"/>
                  </a:moveTo>
                  <a:lnTo>
                    <a:pt x="1537253" y="1316926"/>
                  </a:lnTo>
                  <a:lnTo>
                    <a:pt x="1504453" y="1316926"/>
                  </a:lnTo>
                  <a:lnTo>
                    <a:pt x="1504453" y="1156227"/>
                  </a:lnTo>
                  <a:close/>
                  <a:moveTo>
                    <a:pt x="1504453" y="1531190"/>
                  </a:moveTo>
                  <a:lnTo>
                    <a:pt x="1504453" y="1691889"/>
                  </a:lnTo>
                  <a:lnTo>
                    <a:pt x="1471653" y="1691889"/>
                  </a:lnTo>
                  <a:lnTo>
                    <a:pt x="1471653" y="1531190"/>
                  </a:lnTo>
                  <a:close/>
                  <a:moveTo>
                    <a:pt x="1471653" y="1906154"/>
                  </a:moveTo>
                  <a:lnTo>
                    <a:pt x="1471653" y="2066853"/>
                  </a:lnTo>
                  <a:lnTo>
                    <a:pt x="1438853" y="2066853"/>
                  </a:lnTo>
                  <a:lnTo>
                    <a:pt x="1438853" y="1906154"/>
                  </a:lnTo>
                  <a:close/>
                  <a:moveTo>
                    <a:pt x="1438853" y="2281117"/>
                  </a:moveTo>
                  <a:lnTo>
                    <a:pt x="1438853" y="2441816"/>
                  </a:lnTo>
                  <a:lnTo>
                    <a:pt x="1406053" y="2441816"/>
                  </a:lnTo>
                  <a:lnTo>
                    <a:pt x="1406053" y="2281117"/>
                  </a:lnTo>
                  <a:close/>
                  <a:moveTo>
                    <a:pt x="1406053" y="2656081"/>
                  </a:moveTo>
                  <a:lnTo>
                    <a:pt x="1406053" y="2816779"/>
                  </a:lnTo>
                  <a:lnTo>
                    <a:pt x="1373253" y="2816779"/>
                  </a:lnTo>
                  <a:lnTo>
                    <a:pt x="1373253" y="2656081"/>
                  </a:lnTo>
                  <a:close/>
                  <a:moveTo>
                    <a:pt x="1373253" y="3031044"/>
                  </a:moveTo>
                  <a:lnTo>
                    <a:pt x="1373253" y="3191743"/>
                  </a:lnTo>
                  <a:lnTo>
                    <a:pt x="1340453" y="3191743"/>
                  </a:lnTo>
                  <a:lnTo>
                    <a:pt x="1340453" y="3031044"/>
                  </a:lnTo>
                  <a:close/>
                  <a:moveTo>
                    <a:pt x="1340453" y="3406008"/>
                  </a:moveTo>
                  <a:lnTo>
                    <a:pt x="1340453" y="3566707"/>
                  </a:lnTo>
                  <a:lnTo>
                    <a:pt x="1307653" y="3566707"/>
                  </a:lnTo>
                  <a:lnTo>
                    <a:pt x="1307653" y="3406008"/>
                  </a:lnTo>
                  <a:close/>
                  <a:moveTo>
                    <a:pt x="1307653" y="3780972"/>
                  </a:moveTo>
                  <a:lnTo>
                    <a:pt x="1307653" y="3941670"/>
                  </a:lnTo>
                  <a:lnTo>
                    <a:pt x="1274853" y="3941670"/>
                  </a:lnTo>
                  <a:lnTo>
                    <a:pt x="1274853" y="3780972"/>
                  </a:lnTo>
                  <a:close/>
                  <a:moveTo>
                    <a:pt x="1274853" y="4155935"/>
                  </a:moveTo>
                  <a:lnTo>
                    <a:pt x="1274853" y="4316633"/>
                  </a:lnTo>
                  <a:lnTo>
                    <a:pt x="1242053" y="4316633"/>
                  </a:lnTo>
                  <a:lnTo>
                    <a:pt x="1242053" y="4155935"/>
                  </a:lnTo>
                  <a:close/>
                  <a:moveTo>
                    <a:pt x="1242053" y="4530899"/>
                  </a:moveTo>
                  <a:lnTo>
                    <a:pt x="1242053" y="4691597"/>
                  </a:lnTo>
                  <a:lnTo>
                    <a:pt x="1209253" y="4691597"/>
                  </a:lnTo>
                  <a:lnTo>
                    <a:pt x="1209253" y="4530899"/>
                  </a:lnTo>
                  <a:close/>
                  <a:moveTo>
                    <a:pt x="1209253" y="4905862"/>
                  </a:moveTo>
                  <a:lnTo>
                    <a:pt x="1209253" y="5066561"/>
                  </a:lnTo>
                  <a:lnTo>
                    <a:pt x="1176453" y="5066561"/>
                  </a:lnTo>
                  <a:lnTo>
                    <a:pt x="1176453" y="4905862"/>
                  </a:lnTo>
                  <a:close/>
                  <a:moveTo>
                    <a:pt x="1176453" y="5280825"/>
                  </a:moveTo>
                  <a:lnTo>
                    <a:pt x="1176453" y="5441524"/>
                  </a:lnTo>
                  <a:lnTo>
                    <a:pt x="1143653" y="5441524"/>
                  </a:lnTo>
                  <a:lnTo>
                    <a:pt x="1143653" y="5280825"/>
                  </a:lnTo>
                  <a:close/>
                  <a:moveTo>
                    <a:pt x="1143653" y="5655789"/>
                  </a:moveTo>
                  <a:lnTo>
                    <a:pt x="1143653" y="5816488"/>
                  </a:lnTo>
                  <a:lnTo>
                    <a:pt x="1110853" y="5816488"/>
                  </a:lnTo>
                  <a:lnTo>
                    <a:pt x="1110853" y="5655789"/>
                  </a:lnTo>
                  <a:close/>
                  <a:moveTo>
                    <a:pt x="1110853" y="6030752"/>
                  </a:moveTo>
                  <a:lnTo>
                    <a:pt x="1110853" y="6191451"/>
                  </a:lnTo>
                  <a:lnTo>
                    <a:pt x="1078053" y="6191451"/>
                  </a:lnTo>
                  <a:lnTo>
                    <a:pt x="1078053" y="6030752"/>
                  </a:lnTo>
                  <a:close/>
                  <a:moveTo>
                    <a:pt x="1078053" y="6405716"/>
                  </a:moveTo>
                  <a:lnTo>
                    <a:pt x="1078053" y="6566415"/>
                  </a:lnTo>
                  <a:lnTo>
                    <a:pt x="1045253" y="6566415"/>
                  </a:lnTo>
                  <a:lnTo>
                    <a:pt x="1045253" y="6405716"/>
                  </a:lnTo>
                  <a:close/>
                  <a:moveTo>
                    <a:pt x="1045253" y="6780680"/>
                  </a:moveTo>
                  <a:lnTo>
                    <a:pt x="1045253" y="6794205"/>
                  </a:lnTo>
                  <a:lnTo>
                    <a:pt x="1028853" y="6794205"/>
                  </a:lnTo>
                  <a:lnTo>
                    <a:pt x="1045253" y="6794205"/>
                  </a:lnTo>
                  <a:cubicBezTo>
                    <a:pt x="1045253" y="6847905"/>
                    <a:pt x="1039677" y="6899463"/>
                    <a:pt x="1029427" y="6947538"/>
                  </a:cubicBezTo>
                  <a:lnTo>
                    <a:pt x="998431" y="6929862"/>
                  </a:lnTo>
                  <a:cubicBezTo>
                    <a:pt x="1007533" y="6887545"/>
                    <a:pt x="1012453" y="6841879"/>
                    <a:pt x="1012453" y="6794205"/>
                  </a:cubicBezTo>
                  <a:lnTo>
                    <a:pt x="1012453" y="6780680"/>
                  </a:lnTo>
                  <a:close/>
                  <a:moveTo>
                    <a:pt x="920695" y="7135556"/>
                  </a:moveTo>
                  <a:cubicBezTo>
                    <a:pt x="895111" y="7173722"/>
                    <a:pt x="865181" y="7204255"/>
                    <a:pt x="832299" y="7224744"/>
                  </a:cubicBezTo>
                  <a:lnTo>
                    <a:pt x="820655" y="7174659"/>
                  </a:lnTo>
                  <a:cubicBezTo>
                    <a:pt x="849601" y="7156580"/>
                    <a:pt x="876005" y="7129797"/>
                    <a:pt x="898637" y="7096051"/>
                  </a:cubicBezTo>
                  <a:close/>
                  <a:moveTo>
                    <a:pt x="1287399" y="7246572"/>
                  </a:moveTo>
                  <a:lnTo>
                    <a:pt x="1188999" y="7246572"/>
                  </a:lnTo>
                  <a:lnTo>
                    <a:pt x="1188999" y="7193006"/>
                  </a:lnTo>
                  <a:lnTo>
                    <a:pt x="1287399" y="7193006"/>
                  </a:lnTo>
                  <a:close/>
                  <a:moveTo>
                    <a:pt x="1057799" y="7193006"/>
                  </a:moveTo>
                  <a:lnTo>
                    <a:pt x="959399" y="7193006"/>
                  </a:lnTo>
                  <a:lnTo>
                    <a:pt x="959399" y="7139439"/>
                  </a:lnTo>
                  <a:lnTo>
                    <a:pt x="1057799" y="7139439"/>
                  </a:lnTo>
                  <a:close/>
                  <a:moveTo>
                    <a:pt x="828199" y="7139439"/>
                  </a:moveTo>
                  <a:lnTo>
                    <a:pt x="729799" y="7139439"/>
                  </a:lnTo>
                  <a:lnTo>
                    <a:pt x="729799" y="7085873"/>
                  </a:lnTo>
                  <a:lnTo>
                    <a:pt x="828199" y="7085873"/>
                  </a:lnTo>
                  <a:close/>
                  <a:moveTo>
                    <a:pt x="598600" y="7085873"/>
                  </a:moveTo>
                  <a:lnTo>
                    <a:pt x="500200" y="7085873"/>
                  </a:lnTo>
                  <a:lnTo>
                    <a:pt x="500200" y="7032307"/>
                  </a:lnTo>
                  <a:lnTo>
                    <a:pt x="598600" y="7032307"/>
                  </a:lnTo>
                  <a:close/>
                  <a:moveTo>
                    <a:pt x="369000" y="7032307"/>
                  </a:moveTo>
                  <a:lnTo>
                    <a:pt x="278062" y="7032307"/>
                  </a:lnTo>
                  <a:lnTo>
                    <a:pt x="278062" y="7005524"/>
                  </a:lnTo>
                  <a:lnTo>
                    <a:pt x="278062" y="7032307"/>
                  </a:lnTo>
                  <a:cubicBezTo>
                    <a:pt x="275356" y="7032307"/>
                    <a:pt x="272732" y="7032307"/>
                    <a:pt x="270108" y="7032173"/>
                  </a:cubicBezTo>
                  <a:lnTo>
                    <a:pt x="271010" y="6978607"/>
                  </a:lnTo>
                  <a:cubicBezTo>
                    <a:pt x="273306" y="6978741"/>
                    <a:pt x="275684" y="6978741"/>
                    <a:pt x="278062" y="6978741"/>
                  </a:cubicBezTo>
                  <a:lnTo>
                    <a:pt x="369000" y="6978741"/>
                  </a:lnTo>
                  <a:close/>
                  <a:moveTo>
                    <a:pt x="137596" y="6915800"/>
                  </a:moveTo>
                  <a:cubicBezTo>
                    <a:pt x="107584" y="6886607"/>
                    <a:pt x="81180" y="6848441"/>
                    <a:pt x="59696" y="6803579"/>
                  </a:cubicBezTo>
                  <a:lnTo>
                    <a:pt x="85608" y="6770636"/>
                  </a:lnTo>
                  <a:cubicBezTo>
                    <a:pt x="104550" y="6810409"/>
                    <a:pt x="127920" y="6844022"/>
                    <a:pt x="154406" y="6869733"/>
                  </a:cubicBezTo>
                  <a:close/>
                  <a:moveTo>
                    <a:pt x="4018" y="6865448"/>
                  </a:moveTo>
                  <a:cubicBezTo>
                    <a:pt x="1394" y="6839870"/>
                    <a:pt x="0" y="6813623"/>
                    <a:pt x="0" y="6786839"/>
                  </a:cubicBezTo>
                  <a:lnTo>
                    <a:pt x="0" y="6700464"/>
                  </a:lnTo>
                  <a:lnTo>
                    <a:pt x="32800" y="6700464"/>
                  </a:lnTo>
                  <a:lnTo>
                    <a:pt x="32800" y="6786839"/>
                  </a:lnTo>
                  <a:lnTo>
                    <a:pt x="16400" y="6786839"/>
                  </a:lnTo>
                  <a:lnTo>
                    <a:pt x="32800" y="6786839"/>
                  </a:lnTo>
                  <a:cubicBezTo>
                    <a:pt x="32800" y="6810542"/>
                    <a:pt x="34030" y="6833844"/>
                    <a:pt x="36408" y="6856476"/>
                  </a:cubicBezTo>
                  <a:close/>
                  <a:moveTo>
                    <a:pt x="0" y="6486199"/>
                  </a:moveTo>
                  <a:lnTo>
                    <a:pt x="0" y="6325501"/>
                  </a:lnTo>
                  <a:lnTo>
                    <a:pt x="32800" y="6325501"/>
                  </a:lnTo>
                  <a:lnTo>
                    <a:pt x="32800" y="6486199"/>
                  </a:lnTo>
                  <a:close/>
                  <a:moveTo>
                    <a:pt x="32800" y="6111236"/>
                  </a:moveTo>
                  <a:lnTo>
                    <a:pt x="32800" y="5950537"/>
                  </a:lnTo>
                  <a:lnTo>
                    <a:pt x="32800" y="6111236"/>
                  </a:lnTo>
                  <a:close/>
                  <a:moveTo>
                    <a:pt x="32800" y="5736272"/>
                  </a:moveTo>
                  <a:lnTo>
                    <a:pt x="32800" y="5575574"/>
                  </a:lnTo>
                  <a:lnTo>
                    <a:pt x="32800" y="5736272"/>
                  </a:lnTo>
                  <a:close/>
                  <a:moveTo>
                    <a:pt x="32800" y="5361309"/>
                  </a:moveTo>
                  <a:lnTo>
                    <a:pt x="32800" y="5200610"/>
                  </a:lnTo>
                  <a:lnTo>
                    <a:pt x="32800" y="5361309"/>
                  </a:lnTo>
                  <a:close/>
                  <a:moveTo>
                    <a:pt x="32800" y="4986345"/>
                  </a:moveTo>
                  <a:lnTo>
                    <a:pt x="32800" y="4825647"/>
                  </a:lnTo>
                  <a:lnTo>
                    <a:pt x="32800" y="4986345"/>
                  </a:lnTo>
                  <a:close/>
                  <a:moveTo>
                    <a:pt x="32800" y="4611382"/>
                  </a:moveTo>
                  <a:lnTo>
                    <a:pt x="32800" y="4450683"/>
                  </a:lnTo>
                  <a:lnTo>
                    <a:pt x="32800" y="4611382"/>
                  </a:lnTo>
                  <a:close/>
                  <a:moveTo>
                    <a:pt x="32800" y="4236418"/>
                  </a:moveTo>
                  <a:lnTo>
                    <a:pt x="32800" y="4075720"/>
                  </a:lnTo>
                  <a:lnTo>
                    <a:pt x="32800" y="4236418"/>
                  </a:lnTo>
                  <a:close/>
                  <a:moveTo>
                    <a:pt x="32800" y="3861455"/>
                  </a:moveTo>
                  <a:lnTo>
                    <a:pt x="32800" y="3700756"/>
                  </a:lnTo>
                  <a:lnTo>
                    <a:pt x="32800" y="3861455"/>
                  </a:lnTo>
                  <a:close/>
                  <a:moveTo>
                    <a:pt x="32800" y="3486491"/>
                  </a:moveTo>
                  <a:lnTo>
                    <a:pt x="32800" y="3325793"/>
                  </a:lnTo>
                  <a:lnTo>
                    <a:pt x="32800" y="3486491"/>
                  </a:lnTo>
                  <a:close/>
                  <a:moveTo>
                    <a:pt x="32800" y="3111528"/>
                  </a:moveTo>
                  <a:lnTo>
                    <a:pt x="32800" y="2950829"/>
                  </a:lnTo>
                  <a:lnTo>
                    <a:pt x="32800" y="3111528"/>
                  </a:lnTo>
                  <a:close/>
                  <a:moveTo>
                    <a:pt x="32800" y="2736564"/>
                  </a:moveTo>
                  <a:lnTo>
                    <a:pt x="32800" y="2575866"/>
                  </a:lnTo>
                  <a:lnTo>
                    <a:pt x="32800" y="2736564"/>
                  </a:lnTo>
                  <a:close/>
                  <a:moveTo>
                    <a:pt x="32800" y="2361601"/>
                  </a:moveTo>
                  <a:lnTo>
                    <a:pt x="32800" y="2200902"/>
                  </a:lnTo>
                  <a:lnTo>
                    <a:pt x="32800" y="2361601"/>
                  </a:lnTo>
                  <a:close/>
                  <a:moveTo>
                    <a:pt x="32800" y="1986637"/>
                  </a:moveTo>
                  <a:lnTo>
                    <a:pt x="32800" y="1825939"/>
                  </a:lnTo>
                  <a:lnTo>
                    <a:pt x="32800" y="1986637"/>
                  </a:lnTo>
                  <a:close/>
                  <a:moveTo>
                    <a:pt x="32800" y="1611674"/>
                  </a:moveTo>
                  <a:lnTo>
                    <a:pt x="32800" y="1450975"/>
                  </a:lnTo>
                  <a:lnTo>
                    <a:pt x="32800" y="1611674"/>
                  </a:lnTo>
                  <a:close/>
                  <a:moveTo>
                    <a:pt x="32800" y="1236710"/>
                  </a:moveTo>
                  <a:lnTo>
                    <a:pt x="32800" y="1076011"/>
                  </a:lnTo>
                  <a:lnTo>
                    <a:pt x="32800" y="1236710"/>
                  </a:lnTo>
                  <a:close/>
                  <a:moveTo>
                    <a:pt x="32800" y="861747"/>
                  </a:moveTo>
                  <a:lnTo>
                    <a:pt x="32800" y="701048"/>
                  </a:lnTo>
                  <a:lnTo>
                    <a:pt x="32800" y="861747"/>
                  </a:lnTo>
                  <a:close/>
                  <a:moveTo>
                    <a:pt x="32800" y="486783"/>
                  </a:moveTo>
                  <a:lnTo>
                    <a:pt x="32800" y="459732"/>
                  </a:lnTo>
                  <a:lnTo>
                    <a:pt x="16400" y="459732"/>
                  </a:lnTo>
                  <a:lnTo>
                    <a:pt x="0" y="459732"/>
                  </a:lnTo>
                  <a:cubicBezTo>
                    <a:pt x="0" y="400943"/>
                    <a:pt x="6642" y="344699"/>
                    <a:pt x="18860" y="292873"/>
                  </a:cubicBezTo>
                  <a:lnTo>
                    <a:pt x="49446" y="312157"/>
                  </a:lnTo>
                  <a:cubicBezTo>
                    <a:pt x="38704" y="357956"/>
                    <a:pt x="32800" y="407639"/>
                    <a:pt x="32800" y="459732"/>
                  </a:cubicBezTo>
                  <a:lnTo>
                    <a:pt x="32800" y="486783"/>
                  </a:lnTo>
                  <a:close/>
                </a:path>
              </a:pathLst>
            </a:custGeom>
            <a:solidFill>
              <a:srgbClr val="FF0000"/>
            </a:solidFill>
            <a:ln w="12700">
              <a:solidFill>
                <a:srgbClr val="000000"/>
              </a:solidFill>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 - ESTRUTURA</a:t>
              </a:r>
            </a:p>
          </p:txBody>
        </p:sp>
      </p:grpSp>
      <p:grpSp>
        <p:nvGrpSpPr>
          <p:cNvPr name="Group 6" id="6"/>
          <p:cNvGrpSpPr/>
          <p:nvPr/>
        </p:nvGrpSpPr>
        <p:grpSpPr>
          <a:xfrm rot="0">
            <a:off x="1028700" y="2764347"/>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CAMAD</a:t>
              </a:r>
              <a:r>
                <a:rPr lang="en-US" sz="2999">
                  <a:solidFill>
                    <a:srgbClr val="04165D"/>
                  </a:solidFill>
                  <a:latin typeface="Poppins"/>
                  <a:ea typeface="Poppins"/>
                  <a:cs typeface="Poppins"/>
                  <a:sym typeface="Poppins"/>
                </a:rPr>
                <a:t>A INTERMEDIÁRIA (HIDDEN LAYER)</a:t>
              </a:r>
            </a:p>
          </p:txBody>
        </p:sp>
      </p:grpSp>
      <p:sp>
        <p:nvSpPr>
          <p:cNvPr name="TextBox 9" id="9"/>
          <p:cNvSpPr txBox="true"/>
          <p:nvPr/>
        </p:nvSpPr>
        <p:spPr>
          <a:xfrm rot="0">
            <a:off x="1028700" y="3765222"/>
            <a:ext cx="8115300" cy="35210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Entre a ca</a:t>
            </a:r>
            <a:r>
              <a:rPr lang="en-US" sz="2499">
                <a:solidFill>
                  <a:srgbClr val="000000"/>
                </a:solidFill>
                <a:latin typeface="Poppins Light"/>
                <a:ea typeface="Poppins Light"/>
                <a:cs typeface="Poppins Light"/>
                <a:sym typeface="Poppins Light"/>
              </a:rPr>
              <a:t>mada de entrada e a camada de saída, pode haver uma ou mais camadas escondidas. Cada camada escondida consiste em vários neurônios perceptron. Essas camadas são r</a:t>
            </a:r>
            <a:r>
              <a:rPr lang="en-US" sz="2499">
                <a:solidFill>
                  <a:srgbClr val="000000"/>
                </a:solidFill>
                <a:latin typeface="Poppins Light"/>
                <a:ea typeface="Poppins Light"/>
                <a:cs typeface="Poppins Light"/>
                <a:sym typeface="Poppins Light"/>
              </a:rPr>
              <a:t>esponsávei</a:t>
            </a:r>
            <a:r>
              <a:rPr lang="en-US" sz="2499">
                <a:solidFill>
                  <a:srgbClr val="000000"/>
                </a:solidFill>
                <a:latin typeface="Poppins Light"/>
                <a:ea typeface="Poppins Light"/>
                <a:cs typeface="Poppins Light"/>
                <a:sym typeface="Poppins Light"/>
              </a:rPr>
              <a:t>s por aprender representações intermediárias dos dados e extrair características complexas dos dados de entrada.</a:t>
            </a:r>
          </a:p>
        </p:txBody>
      </p:sp>
      <p:sp>
        <p:nvSpPr>
          <p:cNvPr name="Freeform 10" id="10"/>
          <p:cNvSpPr/>
          <p:nvPr/>
        </p:nvSpPr>
        <p:spPr>
          <a:xfrm flipH="false" flipV="false" rot="0">
            <a:off x="9382558" y="2764347"/>
            <a:ext cx="7876742" cy="5434969"/>
          </a:xfrm>
          <a:custGeom>
            <a:avLst/>
            <a:gdLst/>
            <a:ahLst/>
            <a:cxnLst/>
            <a:rect r="r" b="b" t="t" l="l"/>
            <a:pathLst>
              <a:path h="5434969" w="7876742">
                <a:moveTo>
                  <a:pt x="0" y="0"/>
                </a:moveTo>
                <a:lnTo>
                  <a:pt x="7876742" y="0"/>
                </a:lnTo>
                <a:lnTo>
                  <a:pt x="7876742" y="5434969"/>
                </a:lnTo>
                <a:lnTo>
                  <a:pt x="0" y="5434969"/>
                </a:lnTo>
                <a:lnTo>
                  <a:pt x="0" y="0"/>
                </a:lnTo>
                <a:close/>
              </a:path>
            </a:pathLst>
          </a:custGeom>
          <a:blipFill>
            <a:blip r:embed="rId3"/>
            <a:stretch>
              <a:fillRect l="0" t="0" r="0" b="0"/>
            </a:stretch>
          </a:blipFill>
        </p:spPr>
      </p:sp>
      <p:grpSp>
        <p:nvGrpSpPr>
          <p:cNvPr name="Group 11" id="11"/>
          <p:cNvGrpSpPr/>
          <p:nvPr/>
        </p:nvGrpSpPr>
        <p:grpSpPr>
          <a:xfrm rot="0">
            <a:off x="12042432" y="2764347"/>
            <a:ext cx="2978467" cy="5434969"/>
            <a:chOff x="0" y="0"/>
            <a:chExt cx="3971289" cy="7246625"/>
          </a:xfrm>
        </p:grpSpPr>
        <p:sp>
          <p:nvSpPr>
            <p:cNvPr name="Freeform 12" id="12"/>
            <p:cNvSpPr/>
            <p:nvPr/>
          </p:nvSpPr>
          <p:spPr>
            <a:xfrm flipH="false" flipV="false" rot="0">
              <a:off x="0" y="0"/>
              <a:ext cx="3971229" cy="7246572"/>
            </a:xfrm>
            <a:custGeom>
              <a:avLst/>
              <a:gdLst/>
              <a:ahLst/>
              <a:cxnLst/>
              <a:rect r="r" b="b" t="t" l="l"/>
              <a:pathLst>
                <a:path h="7246572" w="3971229">
                  <a:moveTo>
                    <a:pt x="243642" y="109007"/>
                  </a:moveTo>
                  <a:cubicBezTo>
                    <a:pt x="308668" y="72180"/>
                    <a:pt x="384260" y="43255"/>
                    <a:pt x="466964" y="24507"/>
                  </a:cubicBezTo>
                  <a:lnTo>
                    <a:pt x="493381" y="75127"/>
                  </a:lnTo>
                  <a:cubicBezTo>
                    <a:pt x="420634" y="91598"/>
                    <a:pt x="353982" y="117176"/>
                    <a:pt x="296476" y="149718"/>
                  </a:cubicBezTo>
                  <a:close/>
                  <a:moveTo>
                    <a:pt x="801642" y="0"/>
                  </a:moveTo>
                  <a:lnTo>
                    <a:pt x="1045488" y="0"/>
                  </a:lnTo>
                  <a:lnTo>
                    <a:pt x="1045488" y="53566"/>
                  </a:lnTo>
                  <a:lnTo>
                    <a:pt x="801642" y="53566"/>
                  </a:lnTo>
                  <a:close/>
                  <a:moveTo>
                    <a:pt x="1370615" y="53566"/>
                  </a:moveTo>
                  <a:lnTo>
                    <a:pt x="1614461" y="53566"/>
                  </a:lnTo>
                  <a:lnTo>
                    <a:pt x="1370615" y="53566"/>
                  </a:lnTo>
                  <a:close/>
                  <a:moveTo>
                    <a:pt x="1939588" y="53566"/>
                  </a:moveTo>
                  <a:lnTo>
                    <a:pt x="2183434" y="53566"/>
                  </a:lnTo>
                  <a:lnTo>
                    <a:pt x="1939588" y="53566"/>
                  </a:lnTo>
                  <a:close/>
                  <a:moveTo>
                    <a:pt x="2508561" y="53566"/>
                  </a:moveTo>
                  <a:lnTo>
                    <a:pt x="2752407" y="53566"/>
                  </a:lnTo>
                  <a:lnTo>
                    <a:pt x="2508561" y="53566"/>
                  </a:lnTo>
                  <a:close/>
                  <a:moveTo>
                    <a:pt x="3077534" y="53566"/>
                  </a:moveTo>
                  <a:lnTo>
                    <a:pt x="3282364" y="53566"/>
                  </a:lnTo>
                  <a:lnTo>
                    <a:pt x="3282364" y="26783"/>
                  </a:lnTo>
                  <a:lnTo>
                    <a:pt x="3282364" y="0"/>
                  </a:lnTo>
                  <a:lnTo>
                    <a:pt x="3282364" y="26783"/>
                  </a:lnTo>
                  <a:lnTo>
                    <a:pt x="3282364" y="0"/>
                  </a:lnTo>
                  <a:cubicBezTo>
                    <a:pt x="3296386" y="0"/>
                    <a:pt x="3310203" y="268"/>
                    <a:pt x="3324022" y="803"/>
                  </a:cubicBezTo>
                  <a:lnTo>
                    <a:pt x="3319145" y="54236"/>
                  </a:lnTo>
                  <a:cubicBezTo>
                    <a:pt x="3306952" y="53700"/>
                    <a:pt x="3294760" y="53566"/>
                    <a:pt x="3282364" y="53566"/>
                  </a:cubicBezTo>
                  <a:lnTo>
                    <a:pt x="3077534" y="53566"/>
                  </a:lnTo>
                  <a:close/>
                  <a:moveTo>
                    <a:pt x="3649149" y="124006"/>
                  </a:moveTo>
                  <a:cubicBezTo>
                    <a:pt x="3722099" y="154672"/>
                    <a:pt x="3785703" y="194178"/>
                    <a:pt x="3836707" y="240244"/>
                  </a:cubicBezTo>
                  <a:lnTo>
                    <a:pt x="3771072" y="271849"/>
                  </a:lnTo>
                  <a:cubicBezTo>
                    <a:pt x="3725960" y="231138"/>
                    <a:pt x="3669673" y="196320"/>
                    <a:pt x="3605460" y="169269"/>
                  </a:cubicBezTo>
                  <a:close/>
                  <a:moveTo>
                    <a:pt x="3964523" y="395319"/>
                  </a:moveTo>
                  <a:cubicBezTo>
                    <a:pt x="3968993" y="416343"/>
                    <a:pt x="3971229" y="437904"/>
                    <a:pt x="3971229" y="459732"/>
                  </a:cubicBezTo>
                  <a:lnTo>
                    <a:pt x="3930588" y="459732"/>
                  </a:lnTo>
                  <a:lnTo>
                    <a:pt x="3971229" y="459732"/>
                  </a:lnTo>
                  <a:lnTo>
                    <a:pt x="3971229" y="559633"/>
                  </a:lnTo>
                  <a:lnTo>
                    <a:pt x="3889947" y="559633"/>
                  </a:lnTo>
                  <a:lnTo>
                    <a:pt x="3889947" y="459732"/>
                  </a:lnTo>
                  <a:cubicBezTo>
                    <a:pt x="3889947" y="440314"/>
                    <a:pt x="3887914" y="421298"/>
                    <a:pt x="3884054" y="402684"/>
                  </a:cubicBezTo>
                  <a:close/>
                  <a:moveTo>
                    <a:pt x="3890759" y="781263"/>
                  </a:moveTo>
                  <a:lnTo>
                    <a:pt x="3890759" y="941962"/>
                  </a:lnTo>
                  <a:lnTo>
                    <a:pt x="3809478" y="941962"/>
                  </a:lnTo>
                  <a:lnTo>
                    <a:pt x="3809478" y="781263"/>
                  </a:lnTo>
                  <a:close/>
                  <a:moveTo>
                    <a:pt x="3809478" y="1156227"/>
                  </a:moveTo>
                  <a:lnTo>
                    <a:pt x="3809478" y="1316926"/>
                  </a:lnTo>
                  <a:lnTo>
                    <a:pt x="3728196" y="1316926"/>
                  </a:lnTo>
                  <a:lnTo>
                    <a:pt x="3728196" y="1156227"/>
                  </a:lnTo>
                  <a:close/>
                  <a:moveTo>
                    <a:pt x="3728196" y="1531190"/>
                  </a:moveTo>
                  <a:lnTo>
                    <a:pt x="3728196" y="1691889"/>
                  </a:lnTo>
                  <a:lnTo>
                    <a:pt x="3646914" y="1691889"/>
                  </a:lnTo>
                  <a:lnTo>
                    <a:pt x="3646914" y="1531190"/>
                  </a:lnTo>
                  <a:close/>
                  <a:moveTo>
                    <a:pt x="3646914" y="1906154"/>
                  </a:moveTo>
                  <a:lnTo>
                    <a:pt x="3646914" y="2066853"/>
                  </a:lnTo>
                  <a:lnTo>
                    <a:pt x="3565632" y="2066853"/>
                  </a:lnTo>
                  <a:lnTo>
                    <a:pt x="3565632" y="1906154"/>
                  </a:lnTo>
                  <a:close/>
                  <a:moveTo>
                    <a:pt x="3565632" y="2281117"/>
                  </a:moveTo>
                  <a:lnTo>
                    <a:pt x="3565632" y="2441816"/>
                  </a:lnTo>
                  <a:lnTo>
                    <a:pt x="3484350" y="2441816"/>
                  </a:lnTo>
                  <a:lnTo>
                    <a:pt x="3484350" y="2281117"/>
                  </a:lnTo>
                  <a:close/>
                  <a:moveTo>
                    <a:pt x="3484350" y="2656081"/>
                  </a:moveTo>
                  <a:lnTo>
                    <a:pt x="3484350" y="2816779"/>
                  </a:lnTo>
                  <a:lnTo>
                    <a:pt x="3403068" y="2816779"/>
                  </a:lnTo>
                  <a:lnTo>
                    <a:pt x="3403068" y="2656081"/>
                  </a:lnTo>
                  <a:close/>
                  <a:moveTo>
                    <a:pt x="3403068" y="3031044"/>
                  </a:moveTo>
                  <a:lnTo>
                    <a:pt x="3403068" y="3191743"/>
                  </a:lnTo>
                  <a:lnTo>
                    <a:pt x="3321786" y="3191743"/>
                  </a:lnTo>
                  <a:lnTo>
                    <a:pt x="3321786" y="3031044"/>
                  </a:lnTo>
                  <a:close/>
                  <a:moveTo>
                    <a:pt x="3321786" y="3406008"/>
                  </a:moveTo>
                  <a:lnTo>
                    <a:pt x="3321786" y="3566707"/>
                  </a:lnTo>
                  <a:lnTo>
                    <a:pt x="3240504" y="3566707"/>
                  </a:lnTo>
                  <a:lnTo>
                    <a:pt x="3240504" y="3406008"/>
                  </a:lnTo>
                  <a:close/>
                  <a:moveTo>
                    <a:pt x="3240504" y="3780972"/>
                  </a:moveTo>
                  <a:lnTo>
                    <a:pt x="3240504" y="3941670"/>
                  </a:lnTo>
                  <a:lnTo>
                    <a:pt x="3159222" y="3941670"/>
                  </a:lnTo>
                  <a:lnTo>
                    <a:pt x="3159222" y="3780972"/>
                  </a:lnTo>
                  <a:close/>
                  <a:moveTo>
                    <a:pt x="3159222" y="4155935"/>
                  </a:moveTo>
                  <a:lnTo>
                    <a:pt x="3159222" y="4316633"/>
                  </a:lnTo>
                  <a:lnTo>
                    <a:pt x="3077941" y="4316633"/>
                  </a:lnTo>
                  <a:lnTo>
                    <a:pt x="3077941" y="4155935"/>
                  </a:lnTo>
                  <a:close/>
                  <a:moveTo>
                    <a:pt x="3077941" y="4530899"/>
                  </a:moveTo>
                  <a:lnTo>
                    <a:pt x="3077941" y="4691597"/>
                  </a:lnTo>
                  <a:lnTo>
                    <a:pt x="2996659" y="4691597"/>
                  </a:lnTo>
                  <a:lnTo>
                    <a:pt x="2996659" y="4530899"/>
                  </a:lnTo>
                  <a:close/>
                  <a:moveTo>
                    <a:pt x="2996659" y="4905862"/>
                  </a:moveTo>
                  <a:lnTo>
                    <a:pt x="2996659" y="5066561"/>
                  </a:lnTo>
                  <a:lnTo>
                    <a:pt x="2915377" y="5066561"/>
                  </a:lnTo>
                  <a:lnTo>
                    <a:pt x="2915377" y="4905862"/>
                  </a:lnTo>
                  <a:close/>
                  <a:moveTo>
                    <a:pt x="2915377" y="5280825"/>
                  </a:moveTo>
                  <a:lnTo>
                    <a:pt x="2915377" y="5441524"/>
                  </a:lnTo>
                  <a:lnTo>
                    <a:pt x="2834095" y="5441524"/>
                  </a:lnTo>
                  <a:lnTo>
                    <a:pt x="2834095" y="5280825"/>
                  </a:lnTo>
                  <a:close/>
                  <a:moveTo>
                    <a:pt x="2834095" y="5655789"/>
                  </a:moveTo>
                  <a:lnTo>
                    <a:pt x="2834095" y="5816488"/>
                  </a:lnTo>
                  <a:lnTo>
                    <a:pt x="2752813" y="5816488"/>
                  </a:lnTo>
                  <a:lnTo>
                    <a:pt x="2752813" y="5655789"/>
                  </a:lnTo>
                  <a:close/>
                  <a:moveTo>
                    <a:pt x="2752813" y="6030752"/>
                  </a:moveTo>
                  <a:lnTo>
                    <a:pt x="2752813" y="6191451"/>
                  </a:lnTo>
                  <a:lnTo>
                    <a:pt x="2671532" y="6191451"/>
                  </a:lnTo>
                  <a:lnTo>
                    <a:pt x="2671532" y="6030752"/>
                  </a:lnTo>
                  <a:close/>
                  <a:moveTo>
                    <a:pt x="2671532" y="6405716"/>
                  </a:moveTo>
                  <a:lnTo>
                    <a:pt x="2671532" y="6566415"/>
                  </a:lnTo>
                  <a:lnTo>
                    <a:pt x="2590250" y="6566415"/>
                  </a:lnTo>
                  <a:lnTo>
                    <a:pt x="2590250" y="6405716"/>
                  </a:lnTo>
                  <a:close/>
                  <a:moveTo>
                    <a:pt x="2590250" y="6780680"/>
                  </a:moveTo>
                  <a:lnTo>
                    <a:pt x="2590250" y="6794205"/>
                  </a:lnTo>
                  <a:lnTo>
                    <a:pt x="2549609" y="6794205"/>
                  </a:lnTo>
                  <a:lnTo>
                    <a:pt x="2590250" y="6794205"/>
                  </a:lnTo>
                  <a:cubicBezTo>
                    <a:pt x="2590250" y="6847905"/>
                    <a:pt x="2576432" y="6899463"/>
                    <a:pt x="2551031" y="6947538"/>
                  </a:cubicBezTo>
                  <a:lnTo>
                    <a:pt x="2474220" y="6929862"/>
                  </a:lnTo>
                  <a:cubicBezTo>
                    <a:pt x="2496776" y="6887545"/>
                    <a:pt x="2508968" y="6841879"/>
                    <a:pt x="2508968" y="6794205"/>
                  </a:cubicBezTo>
                  <a:lnTo>
                    <a:pt x="2508968" y="6780680"/>
                  </a:lnTo>
                  <a:close/>
                  <a:moveTo>
                    <a:pt x="2281582" y="7135556"/>
                  </a:moveTo>
                  <a:cubicBezTo>
                    <a:pt x="2218182" y="7173722"/>
                    <a:pt x="2144012" y="7204255"/>
                    <a:pt x="2062527" y="7224744"/>
                  </a:cubicBezTo>
                  <a:lnTo>
                    <a:pt x="2033672" y="7174659"/>
                  </a:lnTo>
                  <a:cubicBezTo>
                    <a:pt x="2105403" y="7156580"/>
                    <a:pt x="2170835" y="7129797"/>
                    <a:pt x="2226920" y="7096051"/>
                  </a:cubicBezTo>
                  <a:close/>
                  <a:moveTo>
                    <a:pt x="3190313" y="7246572"/>
                  </a:moveTo>
                  <a:lnTo>
                    <a:pt x="2946467" y="7246572"/>
                  </a:lnTo>
                  <a:lnTo>
                    <a:pt x="2946467" y="7193006"/>
                  </a:lnTo>
                  <a:lnTo>
                    <a:pt x="3190313" y="7193006"/>
                  </a:lnTo>
                  <a:close/>
                  <a:moveTo>
                    <a:pt x="2621340" y="7193006"/>
                  </a:moveTo>
                  <a:lnTo>
                    <a:pt x="2377494" y="7193006"/>
                  </a:lnTo>
                  <a:lnTo>
                    <a:pt x="2377494" y="7139439"/>
                  </a:lnTo>
                  <a:lnTo>
                    <a:pt x="2621340" y="7139439"/>
                  </a:lnTo>
                  <a:close/>
                  <a:moveTo>
                    <a:pt x="2052367" y="7139439"/>
                  </a:moveTo>
                  <a:lnTo>
                    <a:pt x="1808521" y="7139439"/>
                  </a:lnTo>
                  <a:lnTo>
                    <a:pt x="1808521" y="7085873"/>
                  </a:lnTo>
                  <a:lnTo>
                    <a:pt x="2052367" y="7085873"/>
                  </a:lnTo>
                  <a:close/>
                  <a:moveTo>
                    <a:pt x="1483394" y="7085873"/>
                  </a:moveTo>
                  <a:lnTo>
                    <a:pt x="1239548" y="7085873"/>
                  </a:lnTo>
                  <a:lnTo>
                    <a:pt x="1239548" y="7032307"/>
                  </a:lnTo>
                  <a:lnTo>
                    <a:pt x="1483394" y="7032307"/>
                  </a:lnTo>
                  <a:close/>
                  <a:moveTo>
                    <a:pt x="914421" y="7032307"/>
                  </a:moveTo>
                  <a:lnTo>
                    <a:pt x="689067" y="7032307"/>
                  </a:lnTo>
                  <a:lnTo>
                    <a:pt x="689067" y="7005524"/>
                  </a:lnTo>
                  <a:lnTo>
                    <a:pt x="689067" y="7032307"/>
                  </a:lnTo>
                  <a:cubicBezTo>
                    <a:pt x="682361" y="7032307"/>
                    <a:pt x="675859" y="7032307"/>
                    <a:pt x="669356" y="7032173"/>
                  </a:cubicBezTo>
                  <a:lnTo>
                    <a:pt x="671591" y="6978607"/>
                  </a:lnTo>
                  <a:cubicBezTo>
                    <a:pt x="677281" y="6978741"/>
                    <a:pt x="683174" y="6978741"/>
                    <a:pt x="689067" y="6978741"/>
                  </a:cubicBezTo>
                  <a:lnTo>
                    <a:pt x="914421" y="6978741"/>
                  </a:lnTo>
                  <a:close/>
                  <a:moveTo>
                    <a:pt x="340977" y="6915800"/>
                  </a:moveTo>
                  <a:cubicBezTo>
                    <a:pt x="266605" y="6886607"/>
                    <a:pt x="201173" y="6848441"/>
                    <a:pt x="147933" y="6803579"/>
                  </a:cubicBezTo>
                  <a:lnTo>
                    <a:pt x="212146" y="6770636"/>
                  </a:lnTo>
                  <a:cubicBezTo>
                    <a:pt x="259086" y="6810409"/>
                    <a:pt x="316999" y="6844022"/>
                    <a:pt x="382634" y="6869733"/>
                  </a:cubicBezTo>
                  <a:close/>
                  <a:moveTo>
                    <a:pt x="9957" y="6865448"/>
                  </a:moveTo>
                  <a:cubicBezTo>
                    <a:pt x="3454" y="6839870"/>
                    <a:pt x="0" y="6813623"/>
                    <a:pt x="0" y="6786839"/>
                  </a:cubicBezTo>
                  <a:lnTo>
                    <a:pt x="0" y="6700464"/>
                  </a:lnTo>
                  <a:lnTo>
                    <a:pt x="81282" y="6700464"/>
                  </a:lnTo>
                  <a:lnTo>
                    <a:pt x="81282" y="6786839"/>
                  </a:lnTo>
                  <a:lnTo>
                    <a:pt x="40641" y="6786839"/>
                  </a:lnTo>
                  <a:lnTo>
                    <a:pt x="81282" y="6786839"/>
                  </a:lnTo>
                  <a:cubicBezTo>
                    <a:pt x="81282" y="6810542"/>
                    <a:pt x="84330" y="6833844"/>
                    <a:pt x="90223" y="6856476"/>
                  </a:cubicBezTo>
                  <a:close/>
                  <a:moveTo>
                    <a:pt x="0" y="6486199"/>
                  </a:moveTo>
                  <a:lnTo>
                    <a:pt x="0" y="6325501"/>
                  </a:lnTo>
                  <a:lnTo>
                    <a:pt x="81282" y="6325501"/>
                  </a:lnTo>
                  <a:lnTo>
                    <a:pt x="81282" y="6486199"/>
                  </a:lnTo>
                  <a:close/>
                  <a:moveTo>
                    <a:pt x="81282" y="6111236"/>
                  </a:moveTo>
                  <a:lnTo>
                    <a:pt x="81282" y="5950537"/>
                  </a:lnTo>
                  <a:lnTo>
                    <a:pt x="81282" y="6111236"/>
                  </a:lnTo>
                  <a:close/>
                  <a:moveTo>
                    <a:pt x="81282" y="5736272"/>
                  </a:moveTo>
                  <a:lnTo>
                    <a:pt x="81282" y="5575574"/>
                  </a:lnTo>
                  <a:lnTo>
                    <a:pt x="81282" y="5736272"/>
                  </a:lnTo>
                  <a:close/>
                  <a:moveTo>
                    <a:pt x="81282" y="5361309"/>
                  </a:moveTo>
                  <a:lnTo>
                    <a:pt x="81282" y="5200610"/>
                  </a:lnTo>
                  <a:lnTo>
                    <a:pt x="81282" y="5361309"/>
                  </a:lnTo>
                  <a:close/>
                  <a:moveTo>
                    <a:pt x="81282" y="4986345"/>
                  </a:moveTo>
                  <a:lnTo>
                    <a:pt x="81282" y="4825647"/>
                  </a:lnTo>
                  <a:lnTo>
                    <a:pt x="81282" y="4986345"/>
                  </a:lnTo>
                  <a:close/>
                  <a:moveTo>
                    <a:pt x="81282" y="4611382"/>
                  </a:moveTo>
                  <a:lnTo>
                    <a:pt x="81282" y="4450683"/>
                  </a:lnTo>
                  <a:lnTo>
                    <a:pt x="81282" y="4611382"/>
                  </a:lnTo>
                  <a:close/>
                  <a:moveTo>
                    <a:pt x="81282" y="4236418"/>
                  </a:moveTo>
                  <a:lnTo>
                    <a:pt x="81282" y="4075720"/>
                  </a:lnTo>
                  <a:lnTo>
                    <a:pt x="81282" y="4236418"/>
                  </a:lnTo>
                  <a:close/>
                  <a:moveTo>
                    <a:pt x="81282" y="3861455"/>
                  </a:moveTo>
                  <a:lnTo>
                    <a:pt x="81282" y="3700756"/>
                  </a:lnTo>
                  <a:lnTo>
                    <a:pt x="81282" y="3861455"/>
                  </a:lnTo>
                  <a:close/>
                  <a:moveTo>
                    <a:pt x="81282" y="3486491"/>
                  </a:moveTo>
                  <a:lnTo>
                    <a:pt x="81282" y="3325793"/>
                  </a:lnTo>
                  <a:lnTo>
                    <a:pt x="81282" y="3486491"/>
                  </a:lnTo>
                  <a:close/>
                  <a:moveTo>
                    <a:pt x="81282" y="3111528"/>
                  </a:moveTo>
                  <a:lnTo>
                    <a:pt x="81282" y="2950829"/>
                  </a:lnTo>
                  <a:lnTo>
                    <a:pt x="81282" y="3111528"/>
                  </a:lnTo>
                  <a:close/>
                  <a:moveTo>
                    <a:pt x="81282" y="2736564"/>
                  </a:moveTo>
                  <a:lnTo>
                    <a:pt x="81282" y="2575866"/>
                  </a:lnTo>
                  <a:lnTo>
                    <a:pt x="81282" y="2736564"/>
                  </a:lnTo>
                  <a:close/>
                  <a:moveTo>
                    <a:pt x="81282" y="2361601"/>
                  </a:moveTo>
                  <a:lnTo>
                    <a:pt x="81282" y="2200902"/>
                  </a:lnTo>
                  <a:lnTo>
                    <a:pt x="81282" y="2361601"/>
                  </a:lnTo>
                  <a:close/>
                  <a:moveTo>
                    <a:pt x="81282" y="1986637"/>
                  </a:moveTo>
                  <a:lnTo>
                    <a:pt x="81282" y="1825939"/>
                  </a:lnTo>
                  <a:lnTo>
                    <a:pt x="81282" y="1986637"/>
                  </a:lnTo>
                  <a:close/>
                  <a:moveTo>
                    <a:pt x="81282" y="1611674"/>
                  </a:moveTo>
                  <a:lnTo>
                    <a:pt x="81282" y="1450975"/>
                  </a:lnTo>
                  <a:lnTo>
                    <a:pt x="81282" y="1611674"/>
                  </a:lnTo>
                  <a:close/>
                  <a:moveTo>
                    <a:pt x="81282" y="1236710"/>
                  </a:moveTo>
                  <a:lnTo>
                    <a:pt x="81282" y="1076011"/>
                  </a:lnTo>
                  <a:lnTo>
                    <a:pt x="81282" y="1236710"/>
                  </a:lnTo>
                  <a:close/>
                  <a:moveTo>
                    <a:pt x="81282" y="861747"/>
                  </a:moveTo>
                  <a:lnTo>
                    <a:pt x="81282" y="701048"/>
                  </a:lnTo>
                  <a:lnTo>
                    <a:pt x="81282" y="861747"/>
                  </a:lnTo>
                  <a:close/>
                  <a:moveTo>
                    <a:pt x="81282" y="486783"/>
                  </a:moveTo>
                  <a:lnTo>
                    <a:pt x="81282" y="459732"/>
                  </a:lnTo>
                  <a:lnTo>
                    <a:pt x="40641" y="459732"/>
                  </a:lnTo>
                  <a:lnTo>
                    <a:pt x="0" y="459732"/>
                  </a:lnTo>
                  <a:cubicBezTo>
                    <a:pt x="0" y="400943"/>
                    <a:pt x="16460" y="344699"/>
                    <a:pt x="46737" y="292873"/>
                  </a:cubicBezTo>
                  <a:lnTo>
                    <a:pt x="122532" y="312157"/>
                  </a:lnTo>
                  <a:cubicBezTo>
                    <a:pt x="95913" y="357956"/>
                    <a:pt x="81282" y="407639"/>
                    <a:pt x="81282" y="459732"/>
                  </a:cubicBezTo>
                  <a:lnTo>
                    <a:pt x="81282" y="486783"/>
                  </a:lnTo>
                  <a:close/>
                </a:path>
              </a:pathLst>
            </a:custGeom>
            <a:solidFill>
              <a:srgbClr val="FF0000"/>
            </a:solidFill>
            <a:ln w="12700">
              <a:solidFill>
                <a:srgbClr val="000000"/>
              </a:solidFill>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 - ESTRUTURA</a:t>
              </a:r>
            </a:p>
          </p:txBody>
        </p:sp>
      </p:grpSp>
      <p:grpSp>
        <p:nvGrpSpPr>
          <p:cNvPr name="Group 6" id="6"/>
          <p:cNvGrpSpPr/>
          <p:nvPr/>
        </p:nvGrpSpPr>
        <p:grpSpPr>
          <a:xfrm rot="0">
            <a:off x="1028700" y="2764347"/>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CAMAD</a:t>
              </a:r>
              <a:r>
                <a:rPr lang="en-US" sz="2999">
                  <a:solidFill>
                    <a:srgbClr val="04165D"/>
                  </a:solidFill>
                  <a:latin typeface="Poppins"/>
                  <a:ea typeface="Poppins"/>
                  <a:cs typeface="Poppins"/>
                  <a:sym typeface="Poppins"/>
                </a:rPr>
                <a:t>A DE SAÍDA (OUTPUT LAYER)</a:t>
              </a:r>
            </a:p>
          </p:txBody>
        </p:sp>
      </p:grpSp>
      <p:sp>
        <p:nvSpPr>
          <p:cNvPr name="TextBox 9" id="9"/>
          <p:cNvSpPr txBox="true"/>
          <p:nvPr/>
        </p:nvSpPr>
        <p:spPr>
          <a:xfrm rot="0">
            <a:off x="1028700" y="3765222"/>
            <a:ext cx="8115300" cy="40259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última ca</a:t>
            </a:r>
            <a:r>
              <a:rPr lang="en-US" sz="2499">
                <a:solidFill>
                  <a:srgbClr val="000000"/>
                </a:solidFill>
                <a:latin typeface="Poppins Light"/>
                <a:ea typeface="Poppins Light"/>
                <a:cs typeface="Poppins Light"/>
                <a:sym typeface="Poppins Light"/>
              </a:rPr>
              <a:t>mada da rede, onde os neurônios produzem a saída final da rede. Dependendo do tipo de problema, pode haver um ou mais neurônios na camada de saída. Por exemplo, em uma tarefa de classificação bi</a:t>
            </a:r>
            <a:r>
              <a:rPr lang="en-US" sz="2499">
                <a:solidFill>
                  <a:srgbClr val="000000"/>
                </a:solidFill>
                <a:latin typeface="Poppins Light"/>
                <a:ea typeface="Poppins Light"/>
                <a:cs typeface="Poppins Light"/>
                <a:sym typeface="Poppins Light"/>
              </a:rPr>
              <a:t>nária,</a:t>
            </a:r>
            <a:r>
              <a:rPr lang="en-US" sz="2499">
                <a:solidFill>
                  <a:srgbClr val="000000"/>
                </a:solidFill>
                <a:latin typeface="Poppins Light"/>
                <a:ea typeface="Poppins Light"/>
                <a:cs typeface="Poppins Light"/>
                <a:sym typeface="Poppins Light"/>
              </a:rPr>
              <a:t> pode haver um neurônio de saída, enquanto em uma tarefa de classificação de várias classes, pode haver um neurônio por classe.</a:t>
            </a:r>
          </a:p>
        </p:txBody>
      </p:sp>
      <p:sp>
        <p:nvSpPr>
          <p:cNvPr name="Freeform 10" id="10"/>
          <p:cNvSpPr/>
          <p:nvPr/>
        </p:nvSpPr>
        <p:spPr>
          <a:xfrm flipH="false" flipV="false" rot="0">
            <a:off x="9382558" y="2764347"/>
            <a:ext cx="7876742" cy="5434969"/>
          </a:xfrm>
          <a:custGeom>
            <a:avLst/>
            <a:gdLst/>
            <a:ahLst/>
            <a:cxnLst/>
            <a:rect r="r" b="b" t="t" l="l"/>
            <a:pathLst>
              <a:path h="5434969" w="7876742">
                <a:moveTo>
                  <a:pt x="0" y="0"/>
                </a:moveTo>
                <a:lnTo>
                  <a:pt x="7876742" y="0"/>
                </a:lnTo>
                <a:lnTo>
                  <a:pt x="7876742" y="5434969"/>
                </a:lnTo>
                <a:lnTo>
                  <a:pt x="0" y="5434969"/>
                </a:lnTo>
                <a:lnTo>
                  <a:pt x="0" y="0"/>
                </a:lnTo>
                <a:close/>
              </a:path>
            </a:pathLst>
          </a:custGeom>
          <a:blipFill>
            <a:blip r:embed="rId3"/>
            <a:stretch>
              <a:fillRect l="0" t="0" r="0" b="0"/>
            </a:stretch>
          </a:blipFill>
        </p:spPr>
      </p:sp>
      <p:grpSp>
        <p:nvGrpSpPr>
          <p:cNvPr name="Group 11" id="11"/>
          <p:cNvGrpSpPr/>
          <p:nvPr/>
        </p:nvGrpSpPr>
        <p:grpSpPr>
          <a:xfrm rot="0">
            <a:off x="14931409" y="2764347"/>
            <a:ext cx="1401152" cy="5434969"/>
            <a:chOff x="0" y="0"/>
            <a:chExt cx="1868202" cy="7246625"/>
          </a:xfrm>
        </p:grpSpPr>
        <p:sp>
          <p:nvSpPr>
            <p:cNvPr name="Freeform 12" id="12"/>
            <p:cNvSpPr/>
            <p:nvPr/>
          </p:nvSpPr>
          <p:spPr>
            <a:xfrm flipH="false" flipV="false" rot="0">
              <a:off x="0" y="0"/>
              <a:ext cx="1868174" cy="7246572"/>
            </a:xfrm>
            <a:custGeom>
              <a:avLst/>
              <a:gdLst/>
              <a:ahLst/>
              <a:cxnLst/>
              <a:rect r="r" b="b" t="t" l="l"/>
              <a:pathLst>
                <a:path h="7246572" w="1868174">
                  <a:moveTo>
                    <a:pt x="114616" y="109007"/>
                  </a:moveTo>
                  <a:cubicBezTo>
                    <a:pt x="145206" y="72180"/>
                    <a:pt x="180766" y="43255"/>
                    <a:pt x="219673" y="24507"/>
                  </a:cubicBezTo>
                  <a:lnTo>
                    <a:pt x="232100" y="75127"/>
                  </a:lnTo>
                  <a:cubicBezTo>
                    <a:pt x="197877" y="91598"/>
                    <a:pt x="166523" y="117176"/>
                    <a:pt x="139470" y="149718"/>
                  </a:cubicBezTo>
                  <a:close/>
                  <a:moveTo>
                    <a:pt x="377114" y="0"/>
                  </a:moveTo>
                  <a:lnTo>
                    <a:pt x="491826" y="0"/>
                  </a:lnTo>
                  <a:lnTo>
                    <a:pt x="491826" y="53566"/>
                  </a:lnTo>
                  <a:lnTo>
                    <a:pt x="377114" y="53566"/>
                  </a:lnTo>
                  <a:close/>
                  <a:moveTo>
                    <a:pt x="644775" y="53566"/>
                  </a:moveTo>
                  <a:lnTo>
                    <a:pt x="759486" y="53566"/>
                  </a:lnTo>
                  <a:lnTo>
                    <a:pt x="644775" y="53566"/>
                  </a:lnTo>
                  <a:close/>
                  <a:moveTo>
                    <a:pt x="912435" y="53566"/>
                  </a:moveTo>
                  <a:lnTo>
                    <a:pt x="1027147" y="53566"/>
                  </a:lnTo>
                  <a:lnTo>
                    <a:pt x="912435" y="53566"/>
                  </a:lnTo>
                  <a:close/>
                  <a:moveTo>
                    <a:pt x="1180096" y="53566"/>
                  </a:moveTo>
                  <a:lnTo>
                    <a:pt x="1294807" y="53566"/>
                  </a:lnTo>
                  <a:lnTo>
                    <a:pt x="1180096" y="53566"/>
                  </a:lnTo>
                  <a:close/>
                  <a:moveTo>
                    <a:pt x="1447756" y="53566"/>
                  </a:moveTo>
                  <a:lnTo>
                    <a:pt x="1544114" y="53566"/>
                  </a:lnTo>
                  <a:lnTo>
                    <a:pt x="1544114" y="26783"/>
                  </a:lnTo>
                  <a:lnTo>
                    <a:pt x="1544114" y="0"/>
                  </a:lnTo>
                  <a:lnTo>
                    <a:pt x="1544114" y="26783"/>
                  </a:lnTo>
                  <a:lnTo>
                    <a:pt x="1544114" y="0"/>
                  </a:lnTo>
                  <a:cubicBezTo>
                    <a:pt x="1550710" y="0"/>
                    <a:pt x="1557210" y="268"/>
                    <a:pt x="1563710" y="803"/>
                  </a:cubicBezTo>
                  <a:lnTo>
                    <a:pt x="1561416" y="54236"/>
                  </a:lnTo>
                  <a:cubicBezTo>
                    <a:pt x="1555680" y="53700"/>
                    <a:pt x="1549945" y="53566"/>
                    <a:pt x="1544114" y="53566"/>
                  </a:cubicBezTo>
                  <a:lnTo>
                    <a:pt x="1447756" y="53566"/>
                  </a:lnTo>
                  <a:close/>
                  <a:moveTo>
                    <a:pt x="1716659" y="124006"/>
                  </a:moveTo>
                  <a:cubicBezTo>
                    <a:pt x="1750977" y="154672"/>
                    <a:pt x="1780897" y="194178"/>
                    <a:pt x="1804891" y="240244"/>
                  </a:cubicBezTo>
                  <a:lnTo>
                    <a:pt x="1774015" y="271849"/>
                  </a:lnTo>
                  <a:cubicBezTo>
                    <a:pt x="1752793" y="231138"/>
                    <a:pt x="1726314" y="196320"/>
                    <a:pt x="1696106" y="169269"/>
                  </a:cubicBezTo>
                  <a:close/>
                  <a:moveTo>
                    <a:pt x="1865019" y="395319"/>
                  </a:moveTo>
                  <a:cubicBezTo>
                    <a:pt x="1867122" y="416343"/>
                    <a:pt x="1868174" y="437904"/>
                    <a:pt x="1868174" y="459732"/>
                  </a:cubicBezTo>
                  <a:lnTo>
                    <a:pt x="1849055" y="459732"/>
                  </a:lnTo>
                  <a:lnTo>
                    <a:pt x="1868174" y="459732"/>
                  </a:lnTo>
                  <a:lnTo>
                    <a:pt x="1868174" y="559633"/>
                  </a:lnTo>
                  <a:lnTo>
                    <a:pt x="1829937" y="559633"/>
                  </a:lnTo>
                  <a:lnTo>
                    <a:pt x="1829937" y="459732"/>
                  </a:lnTo>
                  <a:cubicBezTo>
                    <a:pt x="1829937" y="440314"/>
                    <a:pt x="1828981" y="421298"/>
                    <a:pt x="1827164" y="402684"/>
                  </a:cubicBezTo>
                  <a:close/>
                  <a:moveTo>
                    <a:pt x="1830319" y="781263"/>
                  </a:moveTo>
                  <a:lnTo>
                    <a:pt x="1830319" y="941962"/>
                  </a:lnTo>
                  <a:lnTo>
                    <a:pt x="1792082" y="941962"/>
                  </a:lnTo>
                  <a:lnTo>
                    <a:pt x="1792082" y="781263"/>
                  </a:lnTo>
                  <a:close/>
                  <a:moveTo>
                    <a:pt x="1792082" y="1156227"/>
                  </a:moveTo>
                  <a:lnTo>
                    <a:pt x="1792082" y="1316926"/>
                  </a:lnTo>
                  <a:lnTo>
                    <a:pt x="1753844" y="1316926"/>
                  </a:lnTo>
                  <a:lnTo>
                    <a:pt x="1753844" y="1156227"/>
                  </a:lnTo>
                  <a:close/>
                  <a:moveTo>
                    <a:pt x="1753844" y="1531190"/>
                  </a:moveTo>
                  <a:lnTo>
                    <a:pt x="1753844" y="1691889"/>
                  </a:lnTo>
                  <a:lnTo>
                    <a:pt x="1715607" y="1691889"/>
                  </a:lnTo>
                  <a:lnTo>
                    <a:pt x="1715607" y="1531190"/>
                  </a:lnTo>
                  <a:close/>
                  <a:moveTo>
                    <a:pt x="1715607" y="1906154"/>
                  </a:moveTo>
                  <a:lnTo>
                    <a:pt x="1715607" y="2066853"/>
                  </a:lnTo>
                  <a:lnTo>
                    <a:pt x="1677370" y="2066853"/>
                  </a:lnTo>
                  <a:lnTo>
                    <a:pt x="1677370" y="1906154"/>
                  </a:lnTo>
                  <a:close/>
                  <a:moveTo>
                    <a:pt x="1677370" y="2281117"/>
                  </a:moveTo>
                  <a:lnTo>
                    <a:pt x="1677370" y="2441816"/>
                  </a:lnTo>
                  <a:lnTo>
                    <a:pt x="1639133" y="2441816"/>
                  </a:lnTo>
                  <a:lnTo>
                    <a:pt x="1639133" y="2281117"/>
                  </a:lnTo>
                  <a:close/>
                  <a:moveTo>
                    <a:pt x="1639133" y="2656081"/>
                  </a:moveTo>
                  <a:lnTo>
                    <a:pt x="1639133" y="2816779"/>
                  </a:lnTo>
                  <a:lnTo>
                    <a:pt x="1600896" y="2816779"/>
                  </a:lnTo>
                  <a:lnTo>
                    <a:pt x="1600896" y="2656081"/>
                  </a:lnTo>
                  <a:close/>
                  <a:moveTo>
                    <a:pt x="1600896" y="3031044"/>
                  </a:moveTo>
                  <a:lnTo>
                    <a:pt x="1600896" y="3191743"/>
                  </a:lnTo>
                  <a:lnTo>
                    <a:pt x="1562659" y="3191743"/>
                  </a:lnTo>
                  <a:lnTo>
                    <a:pt x="1562659" y="3031044"/>
                  </a:lnTo>
                  <a:close/>
                  <a:moveTo>
                    <a:pt x="1562659" y="3406008"/>
                  </a:moveTo>
                  <a:lnTo>
                    <a:pt x="1562659" y="3566707"/>
                  </a:lnTo>
                  <a:lnTo>
                    <a:pt x="1524421" y="3566707"/>
                  </a:lnTo>
                  <a:lnTo>
                    <a:pt x="1524421" y="3406008"/>
                  </a:lnTo>
                  <a:close/>
                  <a:moveTo>
                    <a:pt x="1524421" y="3780972"/>
                  </a:moveTo>
                  <a:lnTo>
                    <a:pt x="1524421" y="3941670"/>
                  </a:lnTo>
                  <a:lnTo>
                    <a:pt x="1486184" y="3941670"/>
                  </a:lnTo>
                  <a:lnTo>
                    <a:pt x="1486184" y="3780972"/>
                  </a:lnTo>
                  <a:close/>
                  <a:moveTo>
                    <a:pt x="1486184" y="4155935"/>
                  </a:moveTo>
                  <a:lnTo>
                    <a:pt x="1486184" y="4316633"/>
                  </a:lnTo>
                  <a:lnTo>
                    <a:pt x="1447947" y="4316633"/>
                  </a:lnTo>
                  <a:lnTo>
                    <a:pt x="1447947" y="4155935"/>
                  </a:lnTo>
                  <a:close/>
                  <a:moveTo>
                    <a:pt x="1447947" y="4530899"/>
                  </a:moveTo>
                  <a:lnTo>
                    <a:pt x="1447947" y="4691597"/>
                  </a:lnTo>
                  <a:lnTo>
                    <a:pt x="1409710" y="4691597"/>
                  </a:lnTo>
                  <a:lnTo>
                    <a:pt x="1409710" y="4530899"/>
                  </a:lnTo>
                  <a:close/>
                  <a:moveTo>
                    <a:pt x="1409710" y="4905862"/>
                  </a:moveTo>
                  <a:lnTo>
                    <a:pt x="1409710" y="5066561"/>
                  </a:lnTo>
                  <a:lnTo>
                    <a:pt x="1371473" y="5066561"/>
                  </a:lnTo>
                  <a:lnTo>
                    <a:pt x="1371473" y="4905862"/>
                  </a:lnTo>
                  <a:close/>
                  <a:moveTo>
                    <a:pt x="1371473" y="5280825"/>
                  </a:moveTo>
                  <a:lnTo>
                    <a:pt x="1371473" y="5441524"/>
                  </a:lnTo>
                  <a:lnTo>
                    <a:pt x="1333235" y="5441524"/>
                  </a:lnTo>
                  <a:lnTo>
                    <a:pt x="1333235" y="5280825"/>
                  </a:lnTo>
                  <a:close/>
                  <a:moveTo>
                    <a:pt x="1333235" y="5655789"/>
                  </a:moveTo>
                  <a:lnTo>
                    <a:pt x="1333235" y="5816488"/>
                  </a:lnTo>
                  <a:lnTo>
                    <a:pt x="1294998" y="5816488"/>
                  </a:lnTo>
                  <a:lnTo>
                    <a:pt x="1294998" y="5655789"/>
                  </a:lnTo>
                  <a:close/>
                  <a:moveTo>
                    <a:pt x="1294998" y="6030752"/>
                  </a:moveTo>
                  <a:lnTo>
                    <a:pt x="1294998" y="6191451"/>
                  </a:lnTo>
                  <a:lnTo>
                    <a:pt x="1256761" y="6191451"/>
                  </a:lnTo>
                  <a:lnTo>
                    <a:pt x="1256761" y="6030752"/>
                  </a:lnTo>
                  <a:close/>
                  <a:moveTo>
                    <a:pt x="1256761" y="6405716"/>
                  </a:moveTo>
                  <a:lnTo>
                    <a:pt x="1256761" y="6566415"/>
                  </a:lnTo>
                  <a:lnTo>
                    <a:pt x="1218524" y="6566415"/>
                  </a:lnTo>
                  <a:lnTo>
                    <a:pt x="1218524" y="6405716"/>
                  </a:lnTo>
                  <a:close/>
                  <a:moveTo>
                    <a:pt x="1218524" y="6780680"/>
                  </a:moveTo>
                  <a:lnTo>
                    <a:pt x="1218524" y="6794205"/>
                  </a:lnTo>
                  <a:lnTo>
                    <a:pt x="1199405" y="6794205"/>
                  </a:lnTo>
                  <a:lnTo>
                    <a:pt x="1218524" y="6794205"/>
                  </a:lnTo>
                  <a:cubicBezTo>
                    <a:pt x="1218524" y="6847905"/>
                    <a:pt x="1212024" y="6899463"/>
                    <a:pt x="1200074" y="6947538"/>
                  </a:cubicBezTo>
                  <a:lnTo>
                    <a:pt x="1163940" y="6929862"/>
                  </a:lnTo>
                  <a:cubicBezTo>
                    <a:pt x="1174551" y="6887545"/>
                    <a:pt x="1180287" y="6841879"/>
                    <a:pt x="1180287" y="6794205"/>
                  </a:cubicBezTo>
                  <a:lnTo>
                    <a:pt x="1180287" y="6780680"/>
                  </a:lnTo>
                  <a:close/>
                  <a:moveTo>
                    <a:pt x="1073318" y="7135556"/>
                  </a:moveTo>
                  <a:cubicBezTo>
                    <a:pt x="1043493" y="7173722"/>
                    <a:pt x="1008602" y="7204255"/>
                    <a:pt x="970269" y="7224744"/>
                  </a:cubicBezTo>
                  <a:lnTo>
                    <a:pt x="956695" y="7174659"/>
                  </a:lnTo>
                  <a:cubicBezTo>
                    <a:pt x="990439" y="7156580"/>
                    <a:pt x="1021220" y="7129797"/>
                    <a:pt x="1047604" y="7096051"/>
                  </a:cubicBezTo>
                  <a:close/>
                  <a:moveTo>
                    <a:pt x="1500810" y="7246572"/>
                  </a:moveTo>
                  <a:lnTo>
                    <a:pt x="1386098" y="7246572"/>
                  </a:lnTo>
                  <a:lnTo>
                    <a:pt x="1386098" y="7193006"/>
                  </a:lnTo>
                  <a:lnTo>
                    <a:pt x="1500810" y="7193006"/>
                  </a:lnTo>
                  <a:close/>
                  <a:moveTo>
                    <a:pt x="1233150" y="7193006"/>
                  </a:moveTo>
                  <a:lnTo>
                    <a:pt x="1118438" y="7193006"/>
                  </a:lnTo>
                  <a:lnTo>
                    <a:pt x="1118438" y="7139439"/>
                  </a:lnTo>
                  <a:lnTo>
                    <a:pt x="1233150" y="7139439"/>
                  </a:lnTo>
                  <a:close/>
                  <a:moveTo>
                    <a:pt x="965489" y="7139439"/>
                  </a:moveTo>
                  <a:lnTo>
                    <a:pt x="850778" y="7139439"/>
                  </a:lnTo>
                  <a:lnTo>
                    <a:pt x="850778" y="7085873"/>
                  </a:lnTo>
                  <a:lnTo>
                    <a:pt x="965489" y="7085873"/>
                  </a:lnTo>
                  <a:close/>
                  <a:moveTo>
                    <a:pt x="697829" y="7085873"/>
                  </a:moveTo>
                  <a:lnTo>
                    <a:pt x="583117" y="7085873"/>
                  </a:lnTo>
                  <a:lnTo>
                    <a:pt x="583117" y="7032307"/>
                  </a:lnTo>
                  <a:lnTo>
                    <a:pt x="697829" y="7032307"/>
                  </a:lnTo>
                  <a:close/>
                  <a:moveTo>
                    <a:pt x="430168" y="7032307"/>
                  </a:moveTo>
                  <a:lnTo>
                    <a:pt x="324156" y="7032307"/>
                  </a:lnTo>
                  <a:lnTo>
                    <a:pt x="324156" y="7005524"/>
                  </a:lnTo>
                  <a:lnTo>
                    <a:pt x="324156" y="7032307"/>
                  </a:lnTo>
                  <a:cubicBezTo>
                    <a:pt x="321001" y="7032307"/>
                    <a:pt x="317942" y="7032307"/>
                    <a:pt x="314883" y="7032173"/>
                  </a:cubicBezTo>
                  <a:lnTo>
                    <a:pt x="315935" y="6978607"/>
                  </a:lnTo>
                  <a:cubicBezTo>
                    <a:pt x="318611" y="6978741"/>
                    <a:pt x="321384" y="6978741"/>
                    <a:pt x="324156" y="6978741"/>
                  </a:cubicBezTo>
                  <a:lnTo>
                    <a:pt x="430168" y="6978741"/>
                  </a:lnTo>
                  <a:close/>
                  <a:moveTo>
                    <a:pt x="160405" y="6915800"/>
                  </a:moveTo>
                  <a:cubicBezTo>
                    <a:pt x="125418" y="6886607"/>
                    <a:pt x="94637" y="6848441"/>
                    <a:pt x="69592" y="6803579"/>
                  </a:cubicBezTo>
                  <a:lnTo>
                    <a:pt x="99799" y="6770636"/>
                  </a:lnTo>
                  <a:cubicBezTo>
                    <a:pt x="121881" y="6810409"/>
                    <a:pt x="149125" y="6844022"/>
                    <a:pt x="180002" y="6869733"/>
                  </a:cubicBezTo>
                  <a:close/>
                  <a:moveTo>
                    <a:pt x="4684" y="6865448"/>
                  </a:moveTo>
                  <a:cubicBezTo>
                    <a:pt x="1625" y="6839870"/>
                    <a:pt x="0" y="6813623"/>
                    <a:pt x="0" y="6786839"/>
                  </a:cubicBezTo>
                  <a:lnTo>
                    <a:pt x="0" y="6700464"/>
                  </a:lnTo>
                  <a:lnTo>
                    <a:pt x="38237" y="6700464"/>
                  </a:lnTo>
                  <a:lnTo>
                    <a:pt x="38237" y="6786839"/>
                  </a:lnTo>
                  <a:lnTo>
                    <a:pt x="19119" y="6786839"/>
                  </a:lnTo>
                  <a:lnTo>
                    <a:pt x="38237" y="6786839"/>
                  </a:lnTo>
                  <a:cubicBezTo>
                    <a:pt x="38237" y="6810542"/>
                    <a:pt x="39671" y="6833844"/>
                    <a:pt x="42443" y="6856476"/>
                  </a:cubicBezTo>
                  <a:close/>
                  <a:moveTo>
                    <a:pt x="0" y="6486199"/>
                  </a:moveTo>
                  <a:lnTo>
                    <a:pt x="0" y="6325501"/>
                  </a:lnTo>
                  <a:lnTo>
                    <a:pt x="38237" y="6325501"/>
                  </a:lnTo>
                  <a:lnTo>
                    <a:pt x="38237" y="6486199"/>
                  </a:lnTo>
                  <a:close/>
                  <a:moveTo>
                    <a:pt x="38237" y="6111236"/>
                  </a:moveTo>
                  <a:lnTo>
                    <a:pt x="38237" y="5950537"/>
                  </a:lnTo>
                  <a:lnTo>
                    <a:pt x="38237" y="6111236"/>
                  </a:lnTo>
                  <a:close/>
                  <a:moveTo>
                    <a:pt x="38237" y="5736272"/>
                  </a:moveTo>
                  <a:lnTo>
                    <a:pt x="38237" y="5575574"/>
                  </a:lnTo>
                  <a:lnTo>
                    <a:pt x="38237" y="5736272"/>
                  </a:lnTo>
                  <a:close/>
                  <a:moveTo>
                    <a:pt x="38237" y="5361309"/>
                  </a:moveTo>
                  <a:lnTo>
                    <a:pt x="38237" y="5200610"/>
                  </a:lnTo>
                  <a:lnTo>
                    <a:pt x="38237" y="5361309"/>
                  </a:lnTo>
                  <a:close/>
                  <a:moveTo>
                    <a:pt x="38237" y="4986345"/>
                  </a:moveTo>
                  <a:lnTo>
                    <a:pt x="38237" y="4825647"/>
                  </a:lnTo>
                  <a:lnTo>
                    <a:pt x="38237" y="4986345"/>
                  </a:lnTo>
                  <a:close/>
                  <a:moveTo>
                    <a:pt x="38237" y="4611382"/>
                  </a:moveTo>
                  <a:lnTo>
                    <a:pt x="38237" y="4450683"/>
                  </a:lnTo>
                  <a:lnTo>
                    <a:pt x="38237" y="4611382"/>
                  </a:lnTo>
                  <a:close/>
                  <a:moveTo>
                    <a:pt x="38237" y="4236418"/>
                  </a:moveTo>
                  <a:lnTo>
                    <a:pt x="38237" y="4075720"/>
                  </a:lnTo>
                  <a:lnTo>
                    <a:pt x="38237" y="4236418"/>
                  </a:lnTo>
                  <a:close/>
                  <a:moveTo>
                    <a:pt x="38237" y="3861455"/>
                  </a:moveTo>
                  <a:lnTo>
                    <a:pt x="38237" y="3700756"/>
                  </a:lnTo>
                  <a:lnTo>
                    <a:pt x="38237" y="3861455"/>
                  </a:lnTo>
                  <a:close/>
                  <a:moveTo>
                    <a:pt x="38237" y="3486491"/>
                  </a:moveTo>
                  <a:lnTo>
                    <a:pt x="38237" y="3325793"/>
                  </a:lnTo>
                  <a:lnTo>
                    <a:pt x="38237" y="3486491"/>
                  </a:lnTo>
                  <a:close/>
                  <a:moveTo>
                    <a:pt x="38237" y="3111528"/>
                  </a:moveTo>
                  <a:lnTo>
                    <a:pt x="38237" y="2950829"/>
                  </a:lnTo>
                  <a:lnTo>
                    <a:pt x="38237" y="3111528"/>
                  </a:lnTo>
                  <a:close/>
                  <a:moveTo>
                    <a:pt x="38237" y="2736564"/>
                  </a:moveTo>
                  <a:lnTo>
                    <a:pt x="38237" y="2575866"/>
                  </a:lnTo>
                  <a:lnTo>
                    <a:pt x="38237" y="2736564"/>
                  </a:lnTo>
                  <a:close/>
                  <a:moveTo>
                    <a:pt x="38237" y="2361601"/>
                  </a:moveTo>
                  <a:lnTo>
                    <a:pt x="38237" y="2200902"/>
                  </a:lnTo>
                  <a:lnTo>
                    <a:pt x="38237" y="2361601"/>
                  </a:lnTo>
                  <a:close/>
                  <a:moveTo>
                    <a:pt x="38237" y="1986637"/>
                  </a:moveTo>
                  <a:lnTo>
                    <a:pt x="38237" y="1825939"/>
                  </a:lnTo>
                  <a:lnTo>
                    <a:pt x="38237" y="1986637"/>
                  </a:lnTo>
                  <a:close/>
                  <a:moveTo>
                    <a:pt x="38237" y="1611674"/>
                  </a:moveTo>
                  <a:lnTo>
                    <a:pt x="38237" y="1450975"/>
                  </a:lnTo>
                  <a:lnTo>
                    <a:pt x="38237" y="1611674"/>
                  </a:lnTo>
                  <a:close/>
                  <a:moveTo>
                    <a:pt x="38237" y="1236710"/>
                  </a:moveTo>
                  <a:lnTo>
                    <a:pt x="38237" y="1076011"/>
                  </a:lnTo>
                  <a:lnTo>
                    <a:pt x="38237" y="1236710"/>
                  </a:lnTo>
                  <a:close/>
                  <a:moveTo>
                    <a:pt x="38237" y="861747"/>
                  </a:moveTo>
                  <a:lnTo>
                    <a:pt x="38237" y="701048"/>
                  </a:lnTo>
                  <a:lnTo>
                    <a:pt x="38237" y="861747"/>
                  </a:lnTo>
                  <a:close/>
                  <a:moveTo>
                    <a:pt x="38237" y="486783"/>
                  </a:moveTo>
                  <a:lnTo>
                    <a:pt x="38237" y="459732"/>
                  </a:lnTo>
                  <a:lnTo>
                    <a:pt x="19119" y="459732"/>
                  </a:lnTo>
                  <a:lnTo>
                    <a:pt x="0" y="459732"/>
                  </a:lnTo>
                  <a:cubicBezTo>
                    <a:pt x="0" y="400943"/>
                    <a:pt x="7743" y="344699"/>
                    <a:pt x="21986" y="292873"/>
                  </a:cubicBezTo>
                  <a:lnTo>
                    <a:pt x="57643" y="312157"/>
                  </a:lnTo>
                  <a:cubicBezTo>
                    <a:pt x="45120" y="357956"/>
                    <a:pt x="38237" y="407639"/>
                    <a:pt x="38237" y="459732"/>
                  </a:cubicBezTo>
                  <a:lnTo>
                    <a:pt x="38237" y="486783"/>
                  </a:lnTo>
                  <a:close/>
                </a:path>
              </a:pathLst>
            </a:custGeom>
            <a:solidFill>
              <a:srgbClr val="FF0000"/>
            </a:solidFill>
            <a:ln w="12700">
              <a:solidFill>
                <a:srgbClr val="000000"/>
              </a:solidFill>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a:t>
              </a:r>
            </a:p>
          </p:txBody>
        </p:sp>
      </p:grpSp>
      <p:grpSp>
        <p:nvGrpSpPr>
          <p:cNvPr name="Group 6" id="6"/>
          <p:cNvGrpSpPr/>
          <p:nvPr/>
        </p:nvGrpSpPr>
        <p:grpSpPr>
          <a:xfrm rot="0">
            <a:off x="1028700" y="2764347"/>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FUNÇÃO</a:t>
              </a:r>
              <a:r>
                <a:rPr lang="en-US" sz="2999">
                  <a:solidFill>
                    <a:srgbClr val="04165D"/>
                  </a:solidFill>
                  <a:latin typeface="Poppins"/>
                  <a:ea typeface="Poppins"/>
                  <a:cs typeface="Poppins"/>
                  <a:sym typeface="Poppins"/>
                </a:rPr>
                <a:t> DE ATIVAÇÃO </a:t>
              </a:r>
            </a:p>
          </p:txBody>
        </p:sp>
      </p:grpSp>
      <p:sp>
        <p:nvSpPr>
          <p:cNvPr name="TextBox 9" id="9"/>
          <p:cNvSpPr txBox="true"/>
          <p:nvPr/>
        </p:nvSpPr>
        <p:spPr>
          <a:xfrm rot="0">
            <a:off x="1028700" y="3765222"/>
            <a:ext cx="8115300" cy="251142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função </a:t>
            </a:r>
            <a:r>
              <a:rPr lang="en-US" sz="2499">
                <a:solidFill>
                  <a:srgbClr val="000000"/>
                </a:solidFill>
                <a:latin typeface="Poppins Light"/>
                <a:ea typeface="Poppins Light"/>
                <a:cs typeface="Poppins Light"/>
                <a:sym typeface="Poppins Light"/>
              </a:rPr>
              <a:t>de ativação representa o efeito que a entrada interna e o estado atual de ativação exercem na definição do próximo estado de ativação da unidade. A partir dela, é possível resolver problemas mais complexos.</a:t>
            </a:r>
          </a:p>
        </p:txBody>
      </p:sp>
      <p:sp>
        <p:nvSpPr>
          <p:cNvPr name="Freeform 10" id="10"/>
          <p:cNvSpPr/>
          <p:nvPr/>
        </p:nvSpPr>
        <p:spPr>
          <a:xfrm flipH="false" flipV="false" rot="0">
            <a:off x="9594337" y="2764347"/>
            <a:ext cx="7445888" cy="4286252"/>
          </a:xfrm>
          <a:custGeom>
            <a:avLst/>
            <a:gdLst/>
            <a:ahLst/>
            <a:cxnLst/>
            <a:rect r="r" b="b" t="t" l="l"/>
            <a:pathLst>
              <a:path h="4286252" w="7445888">
                <a:moveTo>
                  <a:pt x="0" y="0"/>
                </a:moveTo>
                <a:lnTo>
                  <a:pt x="7445888" y="0"/>
                </a:lnTo>
                <a:lnTo>
                  <a:pt x="7445888" y="4286252"/>
                </a:lnTo>
                <a:lnTo>
                  <a:pt x="0" y="4286252"/>
                </a:lnTo>
                <a:lnTo>
                  <a:pt x="0" y="0"/>
                </a:lnTo>
                <a:close/>
              </a:path>
            </a:pathLst>
          </a:custGeom>
          <a:blipFill>
            <a:blip r:embed="rId3"/>
            <a:stretch>
              <a:fillRect l="0" t="-2841" r="-3229" b="-2841"/>
            </a:stretch>
          </a:blipFill>
        </p:spPr>
      </p:sp>
      <p:sp>
        <p:nvSpPr>
          <p:cNvPr name="TextBox 11" id="11"/>
          <p:cNvSpPr txBox="true"/>
          <p:nvPr/>
        </p:nvSpPr>
        <p:spPr>
          <a:xfrm rot="0">
            <a:off x="1028700" y="7186873"/>
            <a:ext cx="16230600" cy="2511425"/>
          </a:xfrm>
          <a:prstGeom prst="rect">
            <a:avLst/>
          </a:prstGeom>
        </p:spPr>
        <p:txBody>
          <a:bodyPr anchor="t" rtlCol="false" tIns="0" lIns="0" bIns="0" rIns="0">
            <a:spAutoFit/>
          </a:bodyPr>
          <a:lstStyle/>
          <a:p>
            <a:pPr algn="just">
              <a:lnSpc>
                <a:spcPts val="3999"/>
              </a:lnSpc>
            </a:pPr>
            <a:r>
              <a:rPr lang="en-US" b="true" sz="2499">
                <a:solidFill>
                  <a:srgbClr val="000000"/>
                </a:solidFill>
                <a:latin typeface="Poppins Bold"/>
                <a:ea typeface="Poppins Bold"/>
                <a:cs typeface="Poppins Bold"/>
                <a:sym typeface="Poppins Bold"/>
              </a:rPr>
              <a:t>sigmoid</a:t>
            </a:r>
            <a:r>
              <a:rPr lang="en-US" sz="2499">
                <a:solidFill>
                  <a:srgbClr val="000000"/>
                </a:solidFill>
                <a:latin typeface="Poppins Light"/>
                <a:ea typeface="Poppins Light"/>
                <a:cs typeface="Poppins Light"/>
                <a:sym typeface="Poppins Light"/>
              </a:rPr>
              <a:t>: É</a:t>
            </a:r>
            <a:r>
              <a:rPr lang="en-US" sz="2499">
                <a:solidFill>
                  <a:srgbClr val="000000"/>
                </a:solidFill>
                <a:latin typeface="Poppins Light"/>
                <a:ea typeface="Poppins Light"/>
                <a:cs typeface="Poppins Light"/>
                <a:sym typeface="Poppins Light"/>
              </a:rPr>
              <a:t> definida por 1/(1+exp(-x)). Seus valores </a:t>
            </a:r>
            <a:r>
              <a:rPr lang="en-US" sz="2499">
                <a:solidFill>
                  <a:srgbClr val="000000"/>
                </a:solidFill>
                <a:latin typeface="Poppins Light"/>
                <a:ea typeface="Poppins Light"/>
                <a:cs typeface="Poppins Light"/>
                <a:sym typeface="Poppins Light"/>
              </a:rPr>
              <a:t>de saída variam de 0 a 1.</a:t>
            </a:r>
          </a:p>
          <a:p>
            <a:pPr algn="just">
              <a:lnSpc>
                <a:spcPts val="3999"/>
              </a:lnSpc>
            </a:pPr>
            <a:r>
              <a:rPr lang="en-US" b="true" sz="2499">
                <a:solidFill>
                  <a:srgbClr val="000000"/>
                </a:solidFill>
                <a:latin typeface="Poppins Bold"/>
                <a:ea typeface="Poppins Bold"/>
                <a:cs typeface="Poppins Bold"/>
                <a:sym typeface="Poppins Bold"/>
              </a:rPr>
              <a:t>tangente hiperbólica</a:t>
            </a:r>
            <a:r>
              <a:rPr lang="en-US" sz="2499">
                <a:solidFill>
                  <a:srgbClr val="000000"/>
                </a:solidFill>
                <a:latin typeface="Poppins Light"/>
                <a:ea typeface="Poppins Light"/>
                <a:cs typeface="Poppins Light"/>
                <a:sym typeface="Poppins Light"/>
              </a:rPr>
              <a:t>: A função tanh(x) parece uma sigmoid, mas a saída variam entre -1 e 1.</a:t>
            </a:r>
          </a:p>
          <a:p>
            <a:pPr algn="just">
              <a:lnSpc>
                <a:spcPts val="3999"/>
              </a:lnSpc>
            </a:pPr>
            <a:r>
              <a:rPr lang="en-US" b="true" sz="2499">
                <a:solidFill>
                  <a:srgbClr val="000000"/>
                </a:solidFill>
                <a:latin typeface="Poppins Bold"/>
                <a:ea typeface="Poppins Bold"/>
                <a:cs typeface="Poppins Bold"/>
                <a:sym typeface="Poppins Bold"/>
              </a:rPr>
              <a:t>softplus</a:t>
            </a:r>
            <a:r>
              <a:rPr lang="en-US" sz="2499">
                <a:solidFill>
                  <a:srgbClr val="000000"/>
                </a:solidFill>
                <a:latin typeface="Poppins Light"/>
                <a:ea typeface="Poppins Light"/>
                <a:cs typeface="Poppins Light"/>
                <a:sym typeface="Poppins Light"/>
              </a:rPr>
              <a:t>: É definida por log(1+exp(x)). </a:t>
            </a:r>
          </a:p>
          <a:p>
            <a:pPr algn="just">
              <a:lnSpc>
                <a:spcPts val="3999"/>
              </a:lnSpc>
            </a:pPr>
            <a:r>
              <a:rPr lang="en-US" b="true" sz="2499">
                <a:solidFill>
                  <a:srgbClr val="000000"/>
                </a:solidFill>
                <a:latin typeface="Poppins Bold"/>
                <a:ea typeface="Poppins Bold"/>
                <a:cs typeface="Poppins Bold"/>
                <a:sym typeface="Poppins Bold"/>
              </a:rPr>
              <a:t>ELU</a:t>
            </a:r>
            <a:r>
              <a:rPr lang="en-US" sz="2499">
                <a:solidFill>
                  <a:srgbClr val="000000"/>
                </a:solidFill>
                <a:latin typeface="Poppins Light"/>
                <a:ea typeface="Poppins Light"/>
                <a:cs typeface="Poppins Light"/>
                <a:sym typeface="Poppins Light"/>
              </a:rPr>
              <a:t>: A função ELU é definida como x quando x &gt; 0, e exp(x)-1 caso contrário.</a:t>
            </a:r>
          </a:p>
          <a:p>
            <a:pPr algn="just">
              <a:lnSpc>
                <a:spcPts val="3999"/>
              </a:lnSpc>
            </a:pPr>
            <a:r>
              <a:rPr lang="en-US" b="true" sz="2499">
                <a:solidFill>
                  <a:srgbClr val="000000"/>
                </a:solidFill>
                <a:latin typeface="Poppins Bold"/>
                <a:ea typeface="Poppins Bold"/>
                <a:cs typeface="Poppins Bold"/>
                <a:sym typeface="Poppins Bold"/>
              </a:rPr>
              <a:t>ReLU</a:t>
            </a:r>
            <a:r>
              <a:rPr lang="en-US" sz="2499">
                <a:solidFill>
                  <a:srgbClr val="000000"/>
                </a:solidFill>
                <a:latin typeface="Poppins Light"/>
                <a:ea typeface="Poppins Light"/>
                <a:cs typeface="Poppins Light"/>
                <a:sym typeface="Poppins Light"/>
              </a:rPr>
              <a:t>: A função ReLU é definida como x quando x &gt; 0, e 0 caso contrário.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a:t>
              </a:r>
            </a:p>
          </p:txBody>
        </p:sp>
      </p:grpSp>
      <p:grpSp>
        <p:nvGrpSpPr>
          <p:cNvPr name="Group 6" id="6"/>
          <p:cNvGrpSpPr/>
          <p:nvPr/>
        </p:nvGrpSpPr>
        <p:grpSpPr>
          <a:xfrm rot="0">
            <a:off x="1028700" y="2764347"/>
            <a:ext cx="4927463" cy="877050"/>
            <a:chOff x="0" y="0"/>
            <a:chExt cx="1297768" cy="230993"/>
          </a:xfrm>
        </p:grpSpPr>
        <p:sp>
          <p:nvSpPr>
            <p:cNvPr name="Freeform 7" id="7"/>
            <p:cNvSpPr/>
            <p:nvPr/>
          </p:nvSpPr>
          <p:spPr>
            <a:xfrm flipH="false" flipV="false" rot="0">
              <a:off x="0" y="0"/>
              <a:ext cx="1297768" cy="230993"/>
            </a:xfrm>
            <a:custGeom>
              <a:avLst/>
              <a:gdLst/>
              <a:ahLst/>
              <a:cxnLst/>
              <a:rect r="r" b="b" t="t" l="l"/>
              <a:pathLst>
                <a:path h="230993" w="1297768">
                  <a:moveTo>
                    <a:pt x="0" y="0"/>
                  </a:moveTo>
                  <a:lnTo>
                    <a:pt x="1297768" y="0"/>
                  </a:lnTo>
                  <a:lnTo>
                    <a:pt x="1297768"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1297768"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FLUXO</a:t>
              </a:r>
              <a:r>
                <a:rPr lang="en-US" sz="2999">
                  <a:solidFill>
                    <a:srgbClr val="04165D"/>
                  </a:solidFill>
                  <a:latin typeface="Poppins"/>
                  <a:ea typeface="Poppins"/>
                  <a:cs typeface="Poppins"/>
                  <a:sym typeface="Poppins"/>
                </a:rPr>
                <a:t> DOS DADOS </a:t>
              </a:r>
            </a:p>
          </p:txBody>
        </p:sp>
      </p:grpSp>
      <p:sp>
        <p:nvSpPr>
          <p:cNvPr name="TextBox 9" id="9"/>
          <p:cNvSpPr txBox="true"/>
          <p:nvPr/>
        </p:nvSpPr>
        <p:spPr>
          <a:xfrm rot="0">
            <a:off x="1028700" y="3765222"/>
            <a:ext cx="4927463" cy="35210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re</a:t>
            </a:r>
            <a:r>
              <a:rPr lang="en-US" sz="2499">
                <a:solidFill>
                  <a:srgbClr val="000000"/>
                </a:solidFill>
                <a:latin typeface="Poppins Light"/>
                <a:ea typeface="Poppins Light"/>
                <a:cs typeface="Poppins Light"/>
                <a:sym typeface="Poppins Light"/>
              </a:rPr>
              <a:t>de neural aprende com os dados que são repassados para ela. A prática comum é dividir o conjunto de dados em três partes principais: conjunto de treinamento, conjunto de validação e conjunto de teste. </a:t>
            </a:r>
          </a:p>
        </p:txBody>
      </p:sp>
      <p:sp>
        <p:nvSpPr>
          <p:cNvPr name="Freeform 10" id="10"/>
          <p:cNvSpPr/>
          <p:nvPr/>
        </p:nvSpPr>
        <p:spPr>
          <a:xfrm flipH="false" flipV="false" rot="0">
            <a:off x="6795442" y="2708232"/>
            <a:ext cx="9627137" cy="4478233"/>
          </a:xfrm>
          <a:custGeom>
            <a:avLst/>
            <a:gdLst/>
            <a:ahLst/>
            <a:cxnLst/>
            <a:rect r="r" b="b" t="t" l="l"/>
            <a:pathLst>
              <a:path h="4478233" w="9627137">
                <a:moveTo>
                  <a:pt x="0" y="0"/>
                </a:moveTo>
                <a:lnTo>
                  <a:pt x="9627137" y="0"/>
                </a:lnTo>
                <a:lnTo>
                  <a:pt x="9627137" y="4478233"/>
                </a:lnTo>
                <a:lnTo>
                  <a:pt x="0" y="4478233"/>
                </a:lnTo>
                <a:lnTo>
                  <a:pt x="0" y="0"/>
                </a:lnTo>
                <a:close/>
              </a:path>
            </a:pathLst>
          </a:custGeom>
          <a:blipFill>
            <a:blip r:embed="rId3"/>
            <a:stretch>
              <a:fillRect l="-104" t="-736" r="-1331" b="-736"/>
            </a:stretch>
          </a:blipFill>
        </p:spPr>
      </p:sp>
      <p:sp>
        <p:nvSpPr>
          <p:cNvPr name="TextBox 11" id="11"/>
          <p:cNvSpPr txBox="true"/>
          <p:nvPr/>
        </p:nvSpPr>
        <p:spPr>
          <a:xfrm rot="0">
            <a:off x="1028700" y="7251700"/>
            <a:ext cx="16230600" cy="20066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O</a:t>
            </a:r>
            <a:r>
              <a:rPr lang="en-US" sz="2499">
                <a:solidFill>
                  <a:srgbClr val="000000"/>
                </a:solidFill>
                <a:latin typeface="Poppins Light"/>
                <a:ea typeface="Poppins Light"/>
                <a:cs typeface="Poppins Light"/>
                <a:sym typeface="Poppins Light"/>
              </a:rPr>
              <a:t> conjunto de treinam</a:t>
            </a:r>
            <a:r>
              <a:rPr lang="en-US" sz="2499">
                <a:solidFill>
                  <a:srgbClr val="000000"/>
                </a:solidFill>
                <a:latin typeface="Poppins Light"/>
                <a:ea typeface="Poppins Light"/>
                <a:cs typeface="Poppins Light"/>
                <a:sym typeface="Poppins Light"/>
              </a:rPr>
              <a:t>ento será usado para mostrar ao modelo qual padrão ela deve aprender, ele será visto durante todo o treino. A validação serve para que tenhamos certeza de que nosso modelo está aprendendo e não decorando. O teste é usado ao fim do treinando, e a prova final que dirá se nosso modelo é ou não de qualidade.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APRENDIZADO</a:t>
              </a:r>
            </a:p>
          </p:txBody>
        </p:sp>
      </p:grpSp>
      <p:sp>
        <p:nvSpPr>
          <p:cNvPr name="TextBox 9" id="9"/>
          <p:cNvSpPr txBox="true"/>
          <p:nvPr/>
        </p:nvSpPr>
        <p:spPr>
          <a:xfrm rot="0">
            <a:off x="1028700" y="3765222"/>
            <a:ext cx="16230600" cy="9969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O MLP é,</a:t>
            </a:r>
            <a:r>
              <a:rPr lang="en-US" sz="2499">
                <a:solidFill>
                  <a:srgbClr val="000000"/>
                </a:solidFill>
                <a:latin typeface="Poppins Light"/>
                <a:ea typeface="Poppins Light"/>
                <a:cs typeface="Poppins Light"/>
                <a:sym typeface="Poppins Light"/>
              </a:rPr>
              <a:t> na verdade, um aproximador de função universal, que para conseguir conhecimento, em um aprendizado supervisionado, ela procura encontrar uma função que possibilite a divisão das classes.</a:t>
            </a:r>
          </a:p>
        </p:txBody>
      </p:sp>
      <p:sp>
        <p:nvSpPr>
          <p:cNvPr name="TextBox 10" id="10"/>
          <p:cNvSpPr txBox="true"/>
          <p:nvPr/>
        </p:nvSpPr>
        <p:spPr>
          <a:xfrm rot="0">
            <a:off x="5647856" y="4866947"/>
            <a:ext cx="11611444" cy="4222750"/>
          </a:xfrm>
          <a:prstGeom prst="rect">
            <a:avLst/>
          </a:prstGeom>
        </p:spPr>
        <p:txBody>
          <a:bodyPr anchor="t" rtlCol="false" tIns="0" lIns="0" bIns="0" rIns="0">
            <a:spAutoFit/>
          </a:bodyPr>
          <a:lstStyle/>
          <a:p>
            <a:pPr algn="just">
              <a:lnSpc>
                <a:spcPts val="4799"/>
              </a:lnSpc>
            </a:pPr>
            <a:r>
              <a:rPr lang="en-US" b="true" sz="2999">
                <a:solidFill>
                  <a:srgbClr val="04165D"/>
                </a:solidFill>
                <a:latin typeface="Poppins Bold"/>
                <a:ea typeface="Poppins Bold"/>
                <a:cs typeface="Poppins Bold"/>
                <a:sym typeface="Poppins Bold"/>
              </a:rPr>
              <a:t>C</a:t>
            </a:r>
            <a:r>
              <a:rPr lang="en-US" b="true" sz="2999">
                <a:solidFill>
                  <a:srgbClr val="04165D"/>
                </a:solidFill>
                <a:latin typeface="Poppins Bold"/>
                <a:ea typeface="Poppins Bold"/>
                <a:cs typeface="Poppins Bold"/>
                <a:sym typeface="Poppins Bold"/>
              </a:rPr>
              <a:t>omo enco</a:t>
            </a:r>
            <a:r>
              <a:rPr lang="en-US" b="true" sz="2999">
                <a:solidFill>
                  <a:srgbClr val="04165D"/>
                </a:solidFill>
                <a:latin typeface="Poppins Bold"/>
                <a:ea typeface="Poppins Bold"/>
                <a:cs typeface="Poppins Bold"/>
                <a:sym typeface="Poppins Bold"/>
              </a:rPr>
              <a:t>ntrar a função?</a:t>
            </a:r>
          </a:p>
          <a:p>
            <a:pPr algn="just">
              <a:lnSpc>
                <a:spcPts val="3999"/>
              </a:lnSpc>
            </a:pPr>
            <a:r>
              <a:rPr lang="en-US" sz="2499">
                <a:solidFill>
                  <a:srgbClr val="000000"/>
                </a:solidFill>
                <a:latin typeface="Poppins Light"/>
                <a:ea typeface="Poppins Light"/>
                <a:cs typeface="Poppins Light"/>
                <a:sym typeface="Poppins Light"/>
              </a:rPr>
              <a:t>No começo, a função inicial é um chute e de acordo com o processamento, ela vai sendo modificada até um ponto em que seja possível a divisão regular de classes. </a:t>
            </a:r>
          </a:p>
          <a:p>
            <a:pPr algn="just">
              <a:lnSpc>
                <a:spcPts val="4799"/>
              </a:lnSpc>
            </a:pPr>
            <a:r>
              <a:rPr lang="en-US" b="true" sz="2999">
                <a:solidFill>
                  <a:srgbClr val="04165D"/>
                </a:solidFill>
                <a:latin typeface="Poppins Bold"/>
                <a:ea typeface="Poppins Bold"/>
                <a:cs typeface="Poppins Bold"/>
                <a:sym typeface="Poppins Bold"/>
              </a:rPr>
              <a:t>Como saber se a modificação está funcionando?</a:t>
            </a:r>
          </a:p>
          <a:p>
            <a:pPr algn="just">
              <a:lnSpc>
                <a:spcPts val="3999"/>
              </a:lnSpc>
            </a:pPr>
            <a:r>
              <a:rPr lang="en-US" sz="2499">
                <a:solidFill>
                  <a:srgbClr val="000000"/>
                </a:solidFill>
                <a:latin typeface="Poppins Light"/>
                <a:ea typeface="Poppins Light"/>
                <a:cs typeface="Poppins Light"/>
                <a:sym typeface="Poppins Light"/>
              </a:rPr>
              <a:t>Como é um processo supervisionado, é possível calcular o quanto o algoritmo está errando, e por meio disso, a capacidade de minimizar os erros é grande.</a:t>
            </a:r>
          </a:p>
        </p:txBody>
      </p:sp>
      <p:sp>
        <p:nvSpPr>
          <p:cNvPr name="Freeform 11" id="11"/>
          <p:cNvSpPr/>
          <p:nvPr/>
        </p:nvSpPr>
        <p:spPr>
          <a:xfrm flipH="false" flipV="false" rot="0">
            <a:off x="1028700" y="5000297"/>
            <a:ext cx="4247236" cy="4258003"/>
          </a:xfrm>
          <a:custGeom>
            <a:avLst/>
            <a:gdLst/>
            <a:ahLst/>
            <a:cxnLst/>
            <a:rect r="r" b="b" t="t" l="l"/>
            <a:pathLst>
              <a:path h="4258003" w="4247236">
                <a:moveTo>
                  <a:pt x="0" y="0"/>
                </a:moveTo>
                <a:lnTo>
                  <a:pt x="4247236" y="0"/>
                </a:lnTo>
                <a:lnTo>
                  <a:pt x="4247236" y="4258003"/>
                </a:lnTo>
                <a:lnTo>
                  <a:pt x="0" y="4258003"/>
                </a:lnTo>
                <a:lnTo>
                  <a:pt x="0" y="0"/>
                </a:lnTo>
                <a:close/>
              </a:path>
            </a:pathLst>
          </a:custGeom>
          <a:blipFill>
            <a:blip r:embed="rId3"/>
            <a:stretch>
              <a:fillRect l="0" t="0" r="-98802" b="0"/>
            </a:stretch>
          </a:blipFill>
        </p:spPr>
      </p:sp>
      <p:grpSp>
        <p:nvGrpSpPr>
          <p:cNvPr name="Group 12" id="12"/>
          <p:cNvGrpSpPr/>
          <p:nvPr/>
        </p:nvGrpSpPr>
        <p:grpSpPr>
          <a:xfrm rot="2552400">
            <a:off x="261259" y="7126641"/>
            <a:ext cx="5786934" cy="372880"/>
            <a:chOff x="0" y="0"/>
            <a:chExt cx="7092611" cy="457011"/>
          </a:xfrm>
        </p:grpSpPr>
        <p:sp>
          <p:nvSpPr>
            <p:cNvPr name="Freeform 13" id="13"/>
            <p:cNvSpPr/>
            <p:nvPr/>
          </p:nvSpPr>
          <p:spPr>
            <a:xfrm flipH="false" flipV="false" rot="0">
              <a:off x="0" y="-18669"/>
              <a:ext cx="7092581" cy="475676"/>
            </a:xfrm>
            <a:custGeom>
              <a:avLst/>
              <a:gdLst/>
              <a:ahLst/>
              <a:cxnLst/>
              <a:rect r="r" b="b" t="t" l="l"/>
              <a:pathLst>
                <a:path h="475676" w="7092581">
                  <a:moveTo>
                    <a:pt x="441484" y="18669"/>
                  </a:moveTo>
                  <a:lnTo>
                    <a:pt x="618077" y="18669"/>
                  </a:lnTo>
                  <a:lnTo>
                    <a:pt x="618077" y="46784"/>
                  </a:lnTo>
                  <a:lnTo>
                    <a:pt x="441484" y="46784"/>
                  </a:lnTo>
                  <a:close/>
                  <a:moveTo>
                    <a:pt x="853535" y="18669"/>
                  </a:moveTo>
                  <a:lnTo>
                    <a:pt x="1030128" y="18669"/>
                  </a:lnTo>
                  <a:lnTo>
                    <a:pt x="1030128" y="46784"/>
                  </a:lnTo>
                  <a:lnTo>
                    <a:pt x="853535" y="46784"/>
                  </a:lnTo>
                  <a:close/>
                  <a:moveTo>
                    <a:pt x="1265586" y="46784"/>
                  </a:moveTo>
                  <a:lnTo>
                    <a:pt x="1442180" y="46784"/>
                  </a:lnTo>
                  <a:lnTo>
                    <a:pt x="1265586" y="46784"/>
                  </a:lnTo>
                  <a:close/>
                  <a:moveTo>
                    <a:pt x="1677638" y="46784"/>
                  </a:moveTo>
                  <a:lnTo>
                    <a:pt x="1854231" y="46784"/>
                  </a:lnTo>
                  <a:lnTo>
                    <a:pt x="1677638" y="46784"/>
                  </a:lnTo>
                  <a:close/>
                  <a:moveTo>
                    <a:pt x="2089689" y="46784"/>
                  </a:moveTo>
                  <a:lnTo>
                    <a:pt x="2266282" y="46784"/>
                  </a:lnTo>
                  <a:lnTo>
                    <a:pt x="2089689" y="46784"/>
                  </a:lnTo>
                  <a:close/>
                  <a:moveTo>
                    <a:pt x="2501740" y="46784"/>
                  </a:moveTo>
                  <a:lnTo>
                    <a:pt x="2678334" y="46784"/>
                  </a:lnTo>
                  <a:lnTo>
                    <a:pt x="2501740" y="46784"/>
                  </a:lnTo>
                  <a:close/>
                  <a:moveTo>
                    <a:pt x="2913792" y="46784"/>
                  </a:moveTo>
                  <a:lnTo>
                    <a:pt x="3090385" y="46784"/>
                  </a:lnTo>
                  <a:lnTo>
                    <a:pt x="2913792" y="46784"/>
                  </a:lnTo>
                  <a:close/>
                  <a:moveTo>
                    <a:pt x="3325843" y="46784"/>
                  </a:moveTo>
                  <a:lnTo>
                    <a:pt x="3502437" y="46784"/>
                  </a:lnTo>
                  <a:lnTo>
                    <a:pt x="3325843" y="46784"/>
                  </a:lnTo>
                  <a:close/>
                  <a:moveTo>
                    <a:pt x="3737894" y="46784"/>
                  </a:moveTo>
                  <a:lnTo>
                    <a:pt x="3914488" y="46784"/>
                  </a:lnTo>
                  <a:lnTo>
                    <a:pt x="3737894" y="46784"/>
                  </a:lnTo>
                  <a:close/>
                  <a:moveTo>
                    <a:pt x="4149946" y="46784"/>
                  </a:moveTo>
                  <a:lnTo>
                    <a:pt x="4326539" y="46784"/>
                  </a:lnTo>
                  <a:lnTo>
                    <a:pt x="4149946" y="46784"/>
                  </a:lnTo>
                  <a:close/>
                  <a:moveTo>
                    <a:pt x="4561997" y="46784"/>
                  </a:moveTo>
                  <a:lnTo>
                    <a:pt x="4738591" y="46784"/>
                  </a:lnTo>
                  <a:lnTo>
                    <a:pt x="4561997" y="46784"/>
                  </a:lnTo>
                  <a:close/>
                  <a:moveTo>
                    <a:pt x="4974048" y="46784"/>
                  </a:moveTo>
                  <a:lnTo>
                    <a:pt x="5150642" y="46784"/>
                  </a:lnTo>
                  <a:lnTo>
                    <a:pt x="4974048" y="46784"/>
                  </a:lnTo>
                  <a:close/>
                  <a:moveTo>
                    <a:pt x="5386100" y="46784"/>
                  </a:moveTo>
                  <a:lnTo>
                    <a:pt x="5562693" y="46784"/>
                  </a:lnTo>
                  <a:lnTo>
                    <a:pt x="5386100" y="46784"/>
                  </a:lnTo>
                  <a:close/>
                  <a:moveTo>
                    <a:pt x="5798151" y="46784"/>
                  </a:moveTo>
                  <a:lnTo>
                    <a:pt x="5974745" y="46784"/>
                  </a:lnTo>
                  <a:lnTo>
                    <a:pt x="5798151" y="46784"/>
                  </a:lnTo>
                  <a:close/>
                  <a:moveTo>
                    <a:pt x="6210203" y="46784"/>
                  </a:moveTo>
                  <a:lnTo>
                    <a:pt x="6386796" y="46784"/>
                  </a:lnTo>
                  <a:lnTo>
                    <a:pt x="6210203" y="46784"/>
                  </a:lnTo>
                  <a:close/>
                  <a:moveTo>
                    <a:pt x="6622254" y="46784"/>
                  </a:moveTo>
                  <a:lnTo>
                    <a:pt x="6798847" y="46784"/>
                  </a:lnTo>
                  <a:lnTo>
                    <a:pt x="6622254" y="46784"/>
                  </a:lnTo>
                  <a:close/>
                  <a:moveTo>
                    <a:pt x="7034306" y="46784"/>
                  </a:moveTo>
                  <a:lnTo>
                    <a:pt x="7063149" y="46784"/>
                  </a:lnTo>
                  <a:cubicBezTo>
                    <a:pt x="7079435" y="46784"/>
                    <a:pt x="7092581" y="53063"/>
                    <a:pt x="7092581" y="60841"/>
                  </a:cubicBezTo>
                  <a:lnTo>
                    <a:pt x="7092581" y="103295"/>
                  </a:lnTo>
                  <a:lnTo>
                    <a:pt x="7033716" y="103295"/>
                  </a:lnTo>
                  <a:lnTo>
                    <a:pt x="7033716" y="32726"/>
                  </a:lnTo>
                  <a:lnTo>
                    <a:pt x="7063149" y="32726"/>
                  </a:lnTo>
                  <a:lnTo>
                    <a:pt x="7063149" y="46784"/>
                  </a:lnTo>
                  <a:lnTo>
                    <a:pt x="7034306" y="46784"/>
                  </a:lnTo>
                  <a:close/>
                  <a:moveTo>
                    <a:pt x="7092581" y="243869"/>
                  </a:moveTo>
                  <a:lnTo>
                    <a:pt x="7092581" y="328213"/>
                  </a:lnTo>
                  <a:lnTo>
                    <a:pt x="7033716" y="328213"/>
                  </a:lnTo>
                  <a:lnTo>
                    <a:pt x="7033716" y="243869"/>
                  </a:lnTo>
                  <a:close/>
                  <a:moveTo>
                    <a:pt x="7033716" y="440673"/>
                  </a:moveTo>
                  <a:lnTo>
                    <a:pt x="7033716" y="461618"/>
                  </a:lnTo>
                  <a:cubicBezTo>
                    <a:pt x="7033716" y="469397"/>
                    <a:pt x="7020570" y="475676"/>
                    <a:pt x="7004284" y="475676"/>
                  </a:cubicBezTo>
                  <a:lnTo>
                    <a:pt x="6930410" y="475676"/>
                  </a:lnTo>
                  <a:lnTo>
                    <a:pt x="6930410" y="447561"/>
                  </a:lnTo>
                  <a:lnTo>
                    <a:pt x="7004284" y="447561"/>
                  </a:lnTo>
                  <a:lnTo>
                    <a:pt x="7004284" y="461618"/>
                  </a:lnTo>
                  <a:lnTo>
                    <a:pt x="6974852" y="461618"/>
                  </a:lnTo>
                  <a:lnTo>
                    <a:pt x="6974852" y="412558"/>
                  </a:lnTo>
                  <a:close/>
                  <a:moveTo>
                    <a:pt x="6753914" y="475676"/>
                  </a:moveTo>
                  <a:lnTo>
                    <a:pt x="6577320" y="475676"/>
                  </a:lnTo>
                  <a:lnTo>
                    <a:pt x="6577320" y="447561"/>
                  </a:lnTo>
                  <a:lnTo>
                    <a:pt x="6753914" y="447561"/>
                  </a:lnTo>
                  <a:close/>
                  <a:moveTo>
                    <a:pt x="6341863" y="447561"/>
                  </a:moveTo>
                  <a:lnTo>
                    <a:pt x="6165269" y="447561"/>
                  </a:lnTo>
                  <a:lnTo>
                    <a:pt x="6165269" y="419446"/>
                  </a:lnTo>
                  <a:lnTo>
                    <a:pt x="6341863" y="419446"/>
                  </a:lnTo>
                  <a:close/>
                  <a:moveTo>
                    <a:pt x="5929811" y="419446"/>
                  </a:moveTo>
                  <a:lnTo>
                    <a:pt x="5753218" y="419446"/>
                  </a:lnTo>
                  <a:lnTo>
                    <a:pt x="5753218" y="391331"/>
                  </a:lnTo>
                  <a:lnTo>
                    <a:pt x="5929811" y="391331"/>
                  </a:lnTo>
                  <a:close/>
                  <a:moveTo>
                    <a:pt x="5517760" y="391331"/>
                  </a:moveTo>
                  <a:lnTo>
                    <a:pt x="5341167" y="391331"/>
                  </a:lnTo>
                  <a:lnTo>
                    <a:pt x="5341167" y="363216"/>
                  </a:lnTo>
                  <a:lnTo>
                    <a:pt x="5517760" y="363216"/>
                  </a:lnTo>
                  <a:close/>
                  <a:moveTo>
                    <a:pt x="5105709" y="363216"/>
                  </a:moveTo>
                  <a:lnTo>
                    <a:pt x="4929115" y="363216"/>
                  </a:lnTo>
                  <a:lnTo>
                    <a:pt x="4929115" y="335102"/>
                  </a:lnTo>
                  <a:lnTo>
                    <a:pt x="5105709" y="335102"/>
                  </a:lnTo>
                  <a:close/>
                  <a:moveTo>
                    <a:pt x="4693657" y="335102"/>
                  </a:moveTo>
                  <a:lnTo>
                    <a:pt x="4517064" y="335102"/>
                  </a:lnTo>
                  <a:lnTo>
                    <a:pt x="4517064" y="306987"/>
                  </a:lnTo>
                  <a:lnTo>
                    <a:pt x="4693657" y="306987"/>
                  </a:lnTo>
                  <a:close/>
                  <a:moveTo>
                    <a:pt x="4281606" y="306987"/>
                  </a:moveTo>
                  <a:lnTo>
                    <a:pt x="4105012" y="306987"/>
                  </a:lnTo>
                  <a:lnTo>
                    <a:pt x="4105012" y="278872"/>
                  </a:lnTo>
                  <a:lnTo>
                    <a:pt x="4281606" y="278872"/>
                  </a:lnTo>
                  <a:close/>
                  <a:moveTo>
                    <a:pt x="3869555" y="278872"/>
                  </a:moveTo>
                  <a:lnTo>
                    <a:pt x="3692961" y="278872"/>
                  </a:lnTo>
                  <a:lnTo>
                    <a:pt x="3692961" y="250757"/>
                  </a:lnTo>
                  <a:lnTo>
                    <a:pt x="3869555" y="250757"/>
                  </a:lnTo>
                  <a:close/>
                  <a:moveTo>
                    <a:pt x="3457503" y="250757"/>
                  </a:moveTo>
                  <a:lnTo>
                    <a:pt x="3280910" y="250757"/>
                  </a:lnTo>
                  <a:lnTo>
                    <a:pt x="3280910" y="222642"/>
                  </a:lnTo>
                  <a:lnTo>
                    <a:pt x="3457503" y="222642"/>
                  </a:lnTo>
                  <a:close/>
                  <a:moveTo>
                    <a:pt x="3045452" y="222642"/>
                  </a:moveTo>
                  <a:lnTo>
                    <a:pt x="2868858" y="222642"/>
                  </a:lnTo>
                  <a:lnTo>
                    <a:pt x="2868858" y="194527"/>
                  </a:lnTo>
                  <a:lnTo>
                    <a:pt x="3045452" y="194527"/>
                  </a:lnTo>
                  <a:close/>
                  <a:moveTo>
                    <a:pt x="2633401" y="194527"/>
                  </a:moveTo>
                  <a:lnTo>
                    <a:pt x="2456807" y="194527"/>
                  </a:lnTo>
                  <a:lnTo>
                    <a:pt x="2456807" y="166413"/>
                  </a:lnTo>
                  <a:lnTo>
                    <a:pt x="2633401" y="166413"/>
                  </a:lnTo>
                  <a:close/>
                  <a:moveTo>
                    <a:pt x="2221349" y="166413"/>
                  </a:moveTo>
                  <a:lnTo>
                    <a:pt x="2044756" y="166413"/>
                  </a:lnTo>
                  <a:lnTo>
                    <a:pt x="2044756" y="138298"/>
                  </a:lnTo>
                  <a:lnTo>
                    <a:pt x="2221349" y="138298"/>
                  </a:lnTo>
                  <a:close/>
                  <a:moveTo>
                    <a:pt x="1809298" y="138298"/>
                  </a:moveTo>
                  <a:lnTo>
                    <a:pt x="1632704" y="138298"/>
                  </a:lnTo>
                  <a:lnTo>
                    <a:pt x="1632704" y="110183"/>
                  </a:lnTo>
                  <a:lnTo>
                    <a:pt x="1809298" y="110183"/>
                  </a:lnTo>
                  <a:close/>
                  <a:moveTo>
                    <a:pt x="1397246" y="110183"/>
                  </a:moveTo>
                  <a:lnTo>
                    <a:pt x="1220653" y="110183"/>
                  </a:lnTo>
                  <a:lnTo>
                    <a:pt x="1220653" y="82068"/>
                  </a:lnTo>
                  <a:lnTo>
                    <a:pt x="1397246" y="82068"/>
                  </a:lnTo>
                  <a:close/>
                  <a:moveTo>
                    <a:pt x="985195" y="82068"/>
                  </a:moveTo>
                  <a:lnTo>
                    <a:pt x="808602" y="82068"/>
                  </a:lnTo>
                  <a:lnTo>
                    <a:pt x="808602" y="53953"/>
                  </a:lnTo>
                  <a:lnTo>
                    <a:pt x="985195" y="53953"/>
                  </a:lnTo>
                  <a:close/>
                  <a:moveTo>
                    <a:pt x="573144" y="53953"/>
                  </a:moveTo>
                  <a:lnTo>
                    <a:pt x="396550" y="53953"/>
                  </a:lnTo>
                  <a:lnTo>
                    <a:pt x="396550" y="25838"/>
                  </a:lnTo>
                  <a:lnTo>
                    <a:pt x="573144" y="25838"/>
                  </a:lnTo>
                  <a:close/>
                  <a:moveTo>
                    <a:pt x="161092" y="25838"/>
                  </a:moveTo>
                  <a:lnTo>
                    <a:pt x="29432" y="25838"/>
                  </a:lnTo>
                  <a:cubicBezTo>
                    <a:pt x="13146" y="25838"/>
                    <a:pt x="0" y="19559"/>
                    <a:pt x="0" y="0"/>
                  </a:cubicBezTo>
                  <a:lnTo>
                    <a:pt x="0" y="440157"/>
                  </a:lnTo>
                  <a:lnTo>
                    <a:pt x="58864" y="440157"/>
                  </a:lnTo>
                  <a:lnTo>
                    <a:pt x="58864" y="461618"/>
                  </a:lnTo>
                  <a:lnTo>
                    <a:pt x="29432" y="461618"/>
                  </a:lnTo>
                  <a:lnTo>
                    <a:pt x="29432" y="447561"/>
                  </a:lnTo>
                  <a:lnTo>
                    <a:pt x="161092" y="447561"/>
                  </a:lnTo>
                  <a:close/>
                  <a:moveTo>
                    <a:pt x="0" y="327698"/>
                  </a:moveTo>
                  <a:lnTo>
                    <a:pt x="0" y="243353"/>
                  </a:lnTo>
                  <a:lnTo>
                    <a:pt x="58864" y="243353"/>
                  </a:lnTo>
                  <a:lnTo>
                    <a:pt x="58864" y="327698"/>
                  </a:lnTo>
                  <a:close/>
                  <a:moveTo>
                    <a:pt x="58864" y="130894"/>
                  </a:moveTo>
                  <a:lnTo>
                    <a:pt x="58864" y="46550"/>
                  </a:lnTo>
                  <a:lnTo>
                    <a:pt x="58864" y="130894"/>
                  </a:lnTo>
                  <a:close/>
                  <a:moveTo>
                    <a:pt x="29432" y="18669"/>
                  </a:moveTo>
                  <a:lnTo>
                    <a:pt x="206026" y="18669"/>
                  </a:lnTo>
                  <a:lnTo>
                    <a:pt x="206026" y="46784"/>
                  </a:lnTo>
                  <a:lnTo>
                    <a:pt x="29432" y="46784"/>
                  </a:lnTo>
                  <a:close/>
                </a:path>
              </a:pathLst>
            </a:custGeom>
            <a:solidFill>
              <a:srgbClr val="FF0000"/>
            </a:solidFill>
            <a:ln w="12700">
              <a:solidFill>
                <a:srgbClr val="000000"/>
              </a:solidFill>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APRENDIZADO - UNDERFITTING E OVERFITTING</a:t>
              </a:r>
            </a:p>
          </p:txBody>
        </p:sp>
      </p:grpSp>
      <p:sp>
        <p:nvSpPr>
          <p:cNvPr name="TextBox 9" id="9"/>
          <p:cNvSpPr txBox="true"/>
          <p:nvPr/>
        </p:nvSpPr>
        <p:spPr>
          <a:xfrm rot="0">
            <a:off x="1028700" y="3765222"/>
            <a:ext cx="16230600" cy="251142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Quando a MLP te</a:t>
            </a:r>
            <a:r>
              <a:rPr lang="en-US" sz="2499">
                <a:solidFill>
                  <a:srgbClr val="000000"/>
                </a:solidFill>
                <a:latin typeface="Poppins Light"/>
                <a:ea typeface="Poppins Light"/>
                <a:cs typeface="Poppins Light"/>
                <a:sym typeface="Poppins Light"/>
              </a:rPr>
              <a:t>ntar encontrar uma função satisfatória para o problema, ela pode cair em 2 dois problemas comuns em MLP, </a:t>
            </a:r>
            <a:r>
              <a:rPr lang="en-US" b="true" sz="2499">
                <a:solidFill>
                  <a:srgbClr val="000000"/>
                </a:solidFill>
                <a:latin typeface="Poppins Bold"/>
                <a:ea typeface="Poppins Bold"/>
                <a:cs typeface="Poppins Bold"/>
                <a:sym typeface="Poppins Bold"/>
              </a:rPr>
              <a:t>underfitting </a:t>
            </a:r>
            <a:r>
              <a:rPr lang="en-US" sz="2499">
                <a:solidFill>
                  <a:srgbClr val="000000"/>
                </a:solidFill>
                <a:latin typeface="Poppins Light"/>
                <a:ea typeface="Poppins Light"/>
                <a:cs typeface="Poppins Light"/>
                <a:sym typeface="Poppins Light"/>
              </a:rPr>
              <a:t>e </a:t>
            </a:r>
            <a:r>
              <a:rPr lang="en-US" b="true" sz="2499">
                <a:solidFill>
                  <a:srgbClr val="000000"/>
                </a:solidFill>
                <a:latin typeface="Poppins Bold"/>
                <a:ea typeface="Poppins Bold"/>
                <a:cs typeface="Poppins Bold"/>
                <a:sym typeface="Poppins Bold"/>
              </a:rPr>
              <a:t>overfitting</a:t>
            </a:r>
            <a:r>
              <a:rPr lang="en-US" sz="2499">
                <a:solidFill>
                  <a:srgbClr val="000000"/>
                </a:solidFill>
                <a:latin typeface="Poppins Light"/>
                <a:ea typeface="Poppins Light"/>
                <a:cs typeface="Poppins Light"/>
                <a:sym typeface="Poppins Light"/>
              </a:rPr>
              <a:t>. O underfitting ocorre quando a rede não teve tempo ou capacidade de aprender a função que é preciso. Já o overfitting ocorre quando a rede aprendeu uma função muito complexa por buscar o erro zero, porém a função que melhor separa as classes é menos complexa e mais genérica.</a:t>
            </a:r>
          </a:p>
        </p:txBody>
      </p:sp>
      <p:sp>
        <p:nvSpPr>
          <p:cNvPr name="Freeform 10" id="10"/>
          <p:cNvSpPr/>
          <p:nvPr/>
        </p:nvSpPr>
        <p:spPr>
          <a:xfrm flipH="false" flipV="false" rot="0">
            <a:off x="7546496" y="6821395"/>
            <a:ext cx="9712804" cy="2436905"/>
          </a:xfrm>
          <a:custGeom>
            <a:avLst/>
            <a:gdLst/>
            <a:ahLst/>
            <a:cxnLst/>
            <a:rect r="r" b="b" t="t" l="l"/>
            <a:pathLst>
              <a:path h="2436905" w="9712804">
                <a:moveTo>
                  <a:pt x="0" y="0"/>
                </a:moveTo>
                <a:lnTo>
                  <a:pt x="9712804" y="0"/>
                </a:lnTo>
                <a:lnTo>
                  <a:pt x="9712804" y="2436905"/>
                </a:lnTo>
                <a:lnTo>
                  <a:pt x="0" y="2436905"/>
                </a:lnTo>
                <a:lnTo>
                  <a:pt x="0" y="0"/>
                </a:lnTo>
                <a:close/>
              </a:path>
            </a:pathLst>
          </a:custGeom>
          <a:blipFill>
            <a:blip r:embed="rId3"/>
            <a:stretch>
              <a:fillRect l="0" t="-119434" r="0" b="-96338"/>
            </a:stretch>
          </a:blipFill>
        </p:spPr>
      </p:sp>
      <p:sp>
        <p:nvSpPr>
          <p:cNvPr name="Freeform 11" id="11"/>
          <p:cNvSpPr/>
          <p:nvPr/>
        </p:nvSpPr>
        <p:spPr>
          <a:xfrm flipH="false" flipV="false" rot="0">
            <a:off x="7546496" y="6319342"/>
            <a:ext cx="9712804" cy="502053"/>
          </a:xfrm>
          <a:custGeom>
            <a:avLst/>
            <a:gdLst/>
            <a:ahLst/>
            <a:cxnLst/>
            <a:rect r="r" b="b" t="t" l="l"/>
            <a:pathLst>
              <a:path h="502053" w="9712804">
                <a:moveTo>
                  <a:pt x="0" y="0"/>
                </a:moveTo>
                <a:lnTo>
                  <a:pt x="9712804" y="0"/>
                </a:lnTo>
                <a:lnTo>
                  <a:pt x="9712804" y="502053"/>
                </a:lnTo>
                <a:lnTo>
                  <a:pt x="0" y="502053"/>
                </a:lnTo>
                <a:lnTo>
                  <a:pt x="0" y="0"/>
                </a:lnTo>
                <a:close/>
              </a:path>
            </a:pathLst>
          </a:custGeom>
          <a:blipFill>
            <a:blip r:embed="rId3"/>
            <a:stretch>
              <a:fillRect l="0" t="0" r="0" b="-1432724"/>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MLP</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APRENDIZADO - TAXA DE APRENDIZADO</a:t>
              </a:r>
            </a:p>
          </p:txBody>
        </p:sp>
      </p:grpSp>
      <p:sp>
        <p:nvSpPr>
          <p:cNvPr name="TextBox 9" id="9"/>
          <p:cNvSpPr txBox="true"/>
          <p:nvPr/>
        </p:nvSpPr>
        <p:spPr>
          <a:xfrm rot="0">
            <a:off x="1028700" y="3765222"/>
            <a:ext cx="10087373" cy="55403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Ao observar o crescime</a:t>
            </a:r>
            <a:r>
              <a:rPr lang="en-US" sz="2499">
                <a:solidFill>
                  <a:srgbClr val="000000"/>
                </a:solidFill>
                <a:latin typeface="Poppins Light"/>
                <a:ea typeface="Poppins Light"/>
                <a:cs typeface="Poppins Light"/>
                <a:sym typeface="Poppins Light"/>
              </a:rPr>
              <a:t>nto dos parâmetros, verifica-se se a função também aumenta. Se essa relação for identificada, a rede neural deve ajustar os parâmetros na direção oposta. Nesse contexto, a direção a ser seguida pela rede neural é conhecida, mas a quantidade exata de ajuste nessa direção é desconhecida. A taxa de aprendizado desempenha o papel crucial de indicar à rede neural o quanto ela deve avançar nessa direção específica. Portanto, à medida que os passos em uma direção aumentam em magnitude, o aprendizado da rede neural acelera, mas existe o risco de que os passos sejam tão grandes a ponto de ultrapassar o mínimo da função.</a:t>
            </a:r>
          </a:p>
        </p:txBody>
      </p:sp>
      <p:sp>
        <p:nvSpPr>
          <p:cNvPr name="Freeform 10" id="10"/>
          <p:cNvSpPr/>
          <p:nvPr/>
        </p:nvSpPr>
        <p:spPr>
          <a:xfrm flipH="false" flipV="false" rot="0">
            <a:off x="11354885" y="5027073"/>
            <a:ext cx="5904415" cy="3130974"/>
          </a:xfrm>
          <a:custGeom>
            <a:avLst/>
            <a:gdLst/>
            <a:ahLst/>
            <a:cxnLst/>
            <a:rect r="r" b="b" t="t" l="l"/>
            <a:pathLst>
              <a:path h="3130974" w="5904415">
                <a:moveTo>
                  <a:pt x="0" y="0"/>
                </a:moveTo>
                <a:lnTo>
                  <a:pt x="5904415" y="0"/>
                </a:lnTo>
                <a:lnTo>
                  <a:pt x="5904415" y="3130974"/>
                </a:lnTo>
                <a:lnTo>
                  <a:pt x="0" y="3130974"/>
                </a:lnTo>
                <a:lnTo>
                  <a:pt x="0" y="0"/>
                </a:lnTo>
                <a:close/>
              </a:path>
            </a:pathLst>
          </a:custGeom>
          <a:blipFill>
            <a:blip r:embed="rId3"/>
            <a:stretch>
              <a:fillRect l="-50704" t="-33996" r="-62352" b="-58036"/>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BACKPROPAGATION</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RETROPROPAGAÇÃO DE ERROS</a:t>
              </a:r>
            </a:p>
          </p:txBody>
        </p:sp>
      </p:grpSp>
      <p:sp>
        <p:nvSpPr>
          <p:cNvPr name="TextBox 9" id="9"/>
          <p:cNvSpPr txBox="true"/>
          <p:nvPr/>
        </p:nvSpPr>
        <p:spPr>
          <a:xfrm rot="0">
            <a:off x="1028700" y="3765222"/>
            <a:ext cx="8115300" cy="30162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O erro ob</a:t>
            </a:r>
            <a:r>
              <a:rPr lang="en-US" sz="2499">
                <a:solidFill>
                  <a:srgbClr val="000000"/>
                </a:solidFill>
                <a:latin typeface="Poppins Light"/>
                <a:ea typeface="Poppins Light"/>
                <a:cs typeface="Poppins Light"/>
                <a:sym typeface="Poppins Light"/>
              </a:rPr>
              <a:t>tido na saída é transferido para as camadas intermediárias. Daí o nome retropropagação (backpropagation). Isso se dá pela necessidade de ajuste dos neurônios que não têm contato com a saída, necessitando, assim, de algum parâmetro para atualização dos pesos.</a:t>
            </a:r>
          </a:p>
        </p:txBody>
      </p:sp>
      <p:sp>
        <p:nvSpPr>
          <p:cNvPr name="Freeform 10" id="10"/>
          <p:cNvSpPr/>
          <p:nvPr/>
        </p:nvSpPr>
        <p:spPr>
          <a:xfrm flipH="false" flipV="false" rot="0">
            <a:off x="9392212" y="3879522"/>
            <a:ext cx="7867088" cy="5378778"/>
          </a:xfrm>
          <a:custGeom>
            <a:avLst/>
            <a:gdLst/>
            <a:ahLst/>
            <a:cxnLst/>
            <a:rect r="r" b="b" t="t" l="l"/>
            <a:pathLst>
              <a:path h="5378778" w="7867088">
                <a:moveTo>
                  <a:pt x="0" y="0"/>
                </a:moveTo>
                <a:lnTo>
                  <a:pt x="7867088" y="0"/>
                </a:lnTo>
                <a:lnTo>
                  <a:pt x="7867088" y="5378778"/>
                </a:lnTo>
                <a:lnTo>
                  <a:pt x="0" y="5378778"/>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BACKPROPAGATION</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FASE FORWARD</a:t>
              </a:r>
            </a:p>
          </p:txBody>
        </p:sp>
      </p:grpSp>
      <p:sp>
        <p:nvSpPr>
          <p:cNvPr name="TextBox 9" id="9"/>
          <p:cNvSpPr txBox="true"/>
          <p:nvPr/>
        </p:nvSpPr>
        <p:spPr>
          <a:xfrm rot="0">
            <a:off x="1028700" y="3765222"/>
            <a:ext cx="8115300" cy="30162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u</a:t>
            </a:r>
            <a:r>
              <a:rPr lang="en-US" sz="2499">
                <a:solidFill>
                  <a:srgbClr val="000000"/>
                </a:solidFill>
                <a:latin typeface="Poppins Light"/>
                <a:ea typeface="Poppins Light"/>
                <a:cs typeface="Poppins Light"/>
                <a:sym typeface="Poppins Light"/>
              </a:rPr>
              <a:t>tilizada para definir a saída da rede para um dado padrão de entrada. Nesta fase, um padrão de atividade (vetor de entrada) é aplicado aos neurônios da rede e seu efeito se propaga através da rede, camada por camada, até que uma saída seja gerada pela camada de saída. </a:t>
            </a:r>
          </a:p>
        </p:txBody>
      </p:sp>
      <p:sp>
        <p:nvSpPr>
          <p:cNvPr name="Freeform 10" id="10"/>
          <p:cNvSpPr/>
          <p:nvPr/>
        </p:nvSpPr>
        <p:spPr>
          <a:xfrm flipH="false" flipV="false" rot="0">
            <a:off x="9386463" y="3879522"/>
            <a:ext cx="7872837" cy="5378778"/>
          </a:xfrm>
          <a:custGeom>
            <a:avLst/>
            <a:gdLst/>
            <a:ahLst/>
            <a:cxnLst/>
            <a:rect r="r" b="b" t="t" l="l"/>
            <a:pathLst>
              <a:path h="5378778" w="7872837">
                <a:moveTo>
                  <a:pt x="0" y="0"/>
                </a:moveTo>
                <a:lnTo>
                  <a:pt x="7872837" y="0"/>
                </a:lnTo>
                <a:lnTo>
                  <a:pt x="7872837" y="5378778"/>
                </a:lnTo>
                <a:lnTo>
                  <a:pt x="0" y="5378778"/>
                </a:lnTo>
                <a:lnTo>
                  <a:pt x="0" y="0"/>
                </a:lnTo>
                <a:close/>
              </a:path>
            </a:pathLst>
          </a:custGeom>
          <a:blipFill>
            <a:blip r:embed="rId3"/>
            <a:stretch>
              <a:fillRect l="-213" t="0" r="-213" b="-40219"/>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BACKPROPAGATION</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FASE BACKWARD</a:t>
              </a:r>
            </a:p>
          </p:txBody>
        </p:sp>
      </p:grpSp>
      <p:sp>
        <p:nvSpPr>
          <p:cNvPr name="TextBox 9" id="9"/>
          <p:cNvSpPr txBox="true"/>
          <p:nvPr/>
        </p:nvSpPr>
        <p:spPr>
          <a:xfrm rot="0">
            <a:off x="1028700" y="3765222"/>
            <a:ext cx="8115300" cy="30162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u</a:t>
            </a:r>
            <a:r>
              <a:rPr lang="en-US" sz="2499">
                <a:solidFill>
                  <a:srgbClr val="000000"/>
                </a:solidFill>
                <a:latin typeface="Poppins Light"/>
                <a:ea typeface="Poppins Light"/>
                <a:cs typeface="Poppins Light"/>
                <a:sym typeface="Poppins Light"/>
              </a:rPr>
              <a:t>tiliza a saída desejada e a saída fornecida pela rede para atualizar os pesos de suas conexões, é feita uma transmissão dos sinais de erro calculados anteriormente em direção contrária, da camada de saída para cada nó nas camadas intermediárias, contra a direção das conexões. </a:t>
            </a:r>
          </a:p>
        </p:txBody>
      </p:sp>
      <p:sp>
        <p:nvSpPr>
          <p:cNvPr name="Freeform 10" id="10"/>
          <p:cNvSpPr/>
          <p:nvPr/>
        </p:nvSpPr>
        <p:spPr>
          <a:xfrm flipH="false" flipV="false" rot="0">
            <a:off x="9386463" y="3879522"/>
            <a:ext cx="7872837" cy="5378778"/>
          </a:xfrm>
          <a:custGeom>
            <a:avLst/>
            <a:gdLst/>
            <a:ahLst/>
            <a:cxnLst/>
            <a:rect r="r" b="b" t="t" l="l"/>
            <a:pathLst>
              <a:path h="5378778" w="7872837">
                <a:moveTo>
                  <a:pt x="0" y="0"/>
                </a:moveTo>
                <a:lnTo>
                  <a:pt x="7872837" y="0"/>
                </a:lnTo>
                <a:lnTo>
                  <a:pt x="7872837" y="5378778"/>
                </a:lnTo>
                <a:lnTo>
                  <a:pt x="0" y="5378778"/>
                </a:lnTo>
                <a:lnTo>
                  <a:pt x="0" y="0"/>
                </a:lnTo>
                <a:close/>
              </a:path>
            </a:pathLst>
          </a:custGeom>
          <a:blipFill>
            <a:blip r:embed="rId3"/>
            <a:stretch>
              <a:fillRect l="-213" t="-38585" r="-213" b="-1633"/>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BACKPROPAGATION</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MATEMATICAMENTE</a:t>
              </a:r>
            </a:p>
          </p:txBody>
        </p:sp>
      </p:grpSp>
      <p:sp>
        <p:nvSpPr>
          <p:cNvPr name="TextBox 9" id="9"/>
          <p:cNvSpPr txBox="true"/>
          <p:nvPr/>
        </p:nvSpPr>
        <p:spPr>
          <a:xfrm rot="0">
            <a:off x="1028700" y="3765222"/>
            <a:ext cx="9174190" cy="55403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saída de um neurôn</a:t>
            </a:r>
            <a:r>
              <a:rPr lang="en-US" sz="2499">
                <a:solidFill>
                  <a:srgbClr val="000000"/>
                </a:solidFill>
                <a:latin typeface="Poppins Light"/>
                <a:ea typeface="Poppins Light"/>
                <a:cs typeface="Poppins Light"/>
                <a:sym typeface="Poppins Light"/>
              </a:rPr>
              <a:t>io da camada de saída, é uma combinação da saída de todos os outros neurônio anteriores, então temos uma função composta, e queremos minimizar uma função de erro, o que podemos utilizar para isso é o conceito de derivada, porém nossa função geralmente tem mais de uma variável, então temos que utilizar derivada parcial para calcular este erro. Porém nós devemos tomar cuidado ao calcular o erro da camada intermediária, pois a saída dela vai servir como entrada para vários neurônios na maioria dos casos, e o erro deve ser uma média de todos os erros.</a:t>
            </a:r>
          </a:p>
        </p:txBody>
      </p:sp>
      <p:sp>
        <p:nvSpPr>
          <p:cNvPr name="Freeform 10" id="10"/>
          <p:cNvSpPr/>
          <p:nvPr/>
        </p:nvSpPr>
        <p:spPr>
          <a:xfrm flipH="false" flipV="false" rot="0">
            <a:off x="10441384" y="3879522"/>
            <a:ext cx="6817916" cy="4876546"/>
          </a:xfrm>
          <a:custGeom>
            <a:avLst/>
            <a:gdLst/>
            <a:ahLst/>
            <a:cxnLst/>
            <a:rect r="r" b="b" t="t" l="l"/>
            <a:pathLst>
              <a:path h="4876546" w="6817916">
                <a:moveTo>
                  <a:pt x="0" y="0"/>
                </a:moveTo>
                <a:lnTo>
                  <a:pt x="6817916" y="0"/>
                </a:lnTo>
                <a:lnTo>
                  <a:pt x="6817916" y="4876547"/>
                </a:lnTo>
                <a:lnTo>
                  <a:pt x="0" y="4876547"/>
                </a:lnTo>
                <a:lnTo>
                  <a:pt x="0" y="0"/>
                </a:lnTo>
                <a:close/>
              </a:path>
            </a:pathLst>
          </a:custGeom>
          <a:blipFill>
            <a:blip r:embed="rId3"/>
            <a:stretch>
              <a:fillRect l="-3556" t="-126" r="0" b="-126"/>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ARTIFICIAIS (MLP)</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EXEMPLOS PRÁTICOS - DATASETS</a:t>
              </a:r>
            </a:p>
          </p:txBody>
        </p:sp>
      </p:grpSp>
      <p:sp>
        <p:nvSpPr>
          <p:cNvPr name="Freeform 9" id="9"/>
          <p:cNvSpPr/>
          <p:nvPr/>
        </p:nvSpPr>
        <p:spPr>
          <a:xfrm flipH="false" flipV="false" rot="0">
            <a:off x="2531066" y="5407332"/>
            <a:ext cx="5134629" cy="3850968"/>
          </a:xfrm>
          <a:custGeom>
            <a:avLst/>
            <a:gdLst/>
            <a:ahLst/>
            <a:cxnLst/>
            <a:rect r="r" b="b" t="t" l="l"/>
            <a:pathLst>
              <a:path h="3850968" w="5134629">
                <a:moveTo>
                  <a:pt x="0" y="0"/>
                </a:moveTo>
                <a:lnTo>
                  <a:pt x="5134628" y="0"/>
                </a:lnTo>
                <a:lnTo>
                  <a:pt x="5134628" y="3850968"/>
                </a:lnTo>
                <a:lnTo>
                  <a:pt x="0" y="3850968"/>
                </a:lnTo>
                <a:lnTo>
                  <a:pt x="0" y="0"/>
                </a:lnTo>
                <a:close/>
              </a:path>
            </a:pathLst>
          </a:custGeom>
          <a:blipFill>
            <a:blip r:embed="rId3"/>
            <a:stretch>
              <a:fillRect l="0" t="0" r="0" b="0"/>
            </a:stretch>
          </a:blipFill>
        </p:spPr>
      </p:sp>
      <p:sp>
        <p:nvSpPr>
          <p:cNvPr name="Freeform 10" id="10"/>
          <p:cNvSpPr/>
          <p:nvPr/>
        </p:nvSpPr>
        <p:spPr>
          <a:xfrm flipH="false" flipV="false" rot="0">
            <a:off x="9112114" y="5407332"/>
            <a:ext cx="8147186" cy="3850968"/>
          </a:xfrm>
          <a:custGeom>
            <a:avLst/>
            <a:gdLst/>
            <a:ahLst/>
            <a:cxnLst/>
            <a:rect r="r" b="b" t="t" l="l"/>
            <a:pathLst>
              <a:path h="3850968" w="8147186">
                <a:moveTo>
                  <a:pt x="0" y="0"/>
                </a:moveTo>
                <a:lnTo>
                  <a:pt x="8147186" y="0"/>
                </a:lnTo>
                <a:lnTo>
                  <a:pt x="8147186" y="3850968"/>
                </a:lnTo>
                <a:lnTo>
                  <a:pt x="0" y="3850968"/>
                </a:lnTo>
                <a:lnTo>
                  <a:pt x="0" y="0"/>
                </a:lnTo>
                <a:close/>
              </a:path>
            </a:pathLst>
          </a:custGeom>
          <a:blipFill>
            <a:blip r:embed="rId4"/>
            <a:stretch>
              <a:fillRect l="-8519" t="-29188" r="-1" b="0"/>
            </a:stretch>
          </a:blipFill>
        </p:spPr>
      </p:sp>
      <p:grpSp>
        <p:nvGrpSpPr>
          <p:cNvPr name="Group 11" id="11"/>
          <p:cNvGrpSpPr/>
          <p:nvPr/>
        </p:nvGrpSpPr>
        <p:grpSpPr>
          <a:xfrm rot="0">
            <a:off x="3048797" y="3879522"/>
            <a:ext cx="4099167" cy="1289685"/>
            <a:chOff x="0" y="0"/>
            <a:chExt cx="1079616" cy="339670"/>
          </a:xfrm>
        </p:grpSpPr>
        <p:sp>
          <p:nvSpPr>
            <p:cNvPr name="Freeform 12" id="12"/>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13" id="13"/>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Wine</a:t>
              </a:r>
            </a:p>
            <a:p>
              <a:pPr algn="ctr">
                <a:lnSpc>
                  <a:spcPts val="4499"/>
                </a:lnSpc>
              </a:pPr>
              <a:r>
                <a:rPr lang="en-US" sz="2499" u="sng">
                  <a:solidFill>
                    <a:srgbClr val="000000"/>
                  </a:solidFill>
                  <a:latin typeface="Poppins"/>
                  <a:ea typeface="Poppins"/>
                  <a:cs typeface="Poppins"/>
                  <a:sym typeface="Poppins"/>
                  <a:hlinkClick r:id="rId5" tooltip="https://colab.research.google.com/drive/1qdS9PDhqKKHEzF4NeIJJymgFeXS2Detf"/>
                </a:rPr>
                <a:t>CÓDIGO</a:t>
              </a:r>
            </a:p>
          </p:txBody>
        </p:sp>
      </p:grpSp>
      <p:grpSp>
        <p:nvGrpSpPr>
          <p:cNvPr name="Group 14" id="14"/>
          <p:cNvGrpSpPr/>
          <p:nvPr/>
        </p:nvGrpSpPr>
        <p:grpSpPr>
          <a:xfrm rot="0">
            <a:off x="11136124" y="3879522"/>
            <a:ext cx="4099167" cy="1289685"/>
            <a:chOff x="0" y="0"/>
            <a:chExt cx="1079616" cy="339670"/>
          </a:xfrm>
        </p:grpSpPr>
        <p:sp>
          <p:nvSpPr>
            <p:cNvPr name="Freeform 15" id="15"/>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16" id="16"/>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Íris</a:t>
              </a:r>
            </a:p>
            <a:p>
              <a:pPr algn="ctr">
                <a:lnSpc>
                  <a:spcPts val="4499"/>
                </a:lnSpc>
              </a:pPr>
              <a:r>
                <a:rPr lang="en-US" sz="2499" u="sng">
                  <a:solidFill>
                    <a:srgbClr val="000000"/>
                  </a:solidFill>
                  <a:latin typeface="Poppins"/>
                  <a:ea typeface="Poppins"/>
                  <a:cs typeface="Poppins"/>
                  <a:sym typeface="Poppins"/>
                  <a:hlinkClick r:id="rId6" tooltip="https://colab.research.google.com/drive/1pGG3EeBdoJBywl-K-8OxVGx-fyJrYRps"/>
                </a:rPr>
                <a:t>CÓDIGO</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SISTEMAS HÍBRIDOS</a:t>
              </a:r>
            </a:p>
          </p:txBody>
        </p:sp>
      </p:grpSp>
      <p:grpSp>
        <p:nvGrpSpPr>
          <p:cNvPr name="Group 6" id="6"/>
          <p:cNvGrpSpPr/>
          <p:nvPr/>
        </p:nvGrpSpPr>
        <p:grpSpPr>
          <a:xfrm rot="0">
            <a:off x="1028700" y="4895406"/>
            <a:ext cx="8115300" cy="877050"/>
            <a:chOff x="0" y="0"/>
            <a:chExt cx="2137363" cy="230993"/>
          </a:xfrm>
        </p:grpSpPr>
        <p:sp>
          <p:nvSpPr>
            <p:cNvPr name="Freeform 7" id="7"/>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SEQUENCIAL</a:t>
              </a:r>
            </a:p>
          </p:txBody>
        </p:sp>
      </p:grpSp>
      <p:grpSp>
        <p:nvGrpSpPr>
          <p:cNvPr name="Group 9" id="9"/>
          <p:cNvGrpSpPr/>
          <p:nvPr/>
        </p:nvGrpSpPr>
        <p:grpSpPr>
          <a:xfrm rot="0">
            <a:off x="9144000" y="4895406"/>
            <a:ext cx="8115300" cy="877050"/>
            <a:chOff x="0" y="0"/>
            <a:chExt cx="2137363" cy="230993"/>
          </a:xfrm>
        </p:grpSpPr>
        <p:sp>
          <p:nvSpPr>
            <p:cNvPr name="Freeform 10" id="10"/>
            <p:cNvSpPr/>
            <p:nvPr/>
          </p:nvSpPr>
          <p:spPr>
            <a:xfrm flipH="false" flipV="false" rot="0">
              <a:off x="0" y="0"/>
              <a:ext cx="2137363" cy="230993"/>
            </a:xfrm>
            <a:custGeom>
              <a:avLst/>
              <a:gdLst/>
              <a:ahLst/>
              <a:cxnLst/>
              <a:rect r="r" b="b" t="t" l="l"/>
              <a:pathLst>
                <a:path h="230993" w="2137363">
                  <a:moveTo>
                    <a:pt x="0" y="0"/>
                  </a:moveTo>
                  <a:lnTo>
                    <a:pt x="2137363" y="0"/>
                  </a:lnTo>
                  <a:lnTo>
                    <a:pt x="2137363" y="230993"/>
                  </a:lnTo>
                  <a:lnTo>
                    <a:pt x="0" y="230993"/>
                  </a:lnTo>
                  <a:close/>
                </a:path>
              </a:pathLst>
            </a:custGeom>
            <a:solidFill>
              <a:srgbClr val="000000">
                <a:alpha val="0"/>
              </a:srgbClr>
            </a:solidFill>
            <a:ln w="19050" cap="sq">
              <a:solidFill>
                <a:srgbClr val="000000"/>
              </a:solidFill>
              <a:prstDash val="solid"/>
              <a:miter/>
            </a:ln>
          </p:spPr>
        </p:sp>
        <p:sp>
          <p:nvSpPr>
            <p:cNvPr name="TextBox 11" id="11"/>
            <p:cNvSpPr txBox="true"/>
            <p:nvPr/>
          </p:nvSpPr>
          <p:spPr>
            <a:xfrm>
              <a:off x="0" y="-190500"/>
              <a:ext cx="2137363"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INCORPORADO</a:t>
              </a:r>
            </a:p>
          </p:txBody>
        </p:sp>
      </p:grpSp>
      <p:sp>
        <p:nvSpPr>
          <p:cNvPr name="Freeform 12" id="12"/>
          <p:cNvSpPr/>
          <p:nvPr/>
        </p:nvSpPr>
        <p:spPr>
          <a:xfrm flipH="false" flipV="false" rot="0">
            <a:off x="1028700" y="6010581"/>
            <a:ext cx="8115300" cy="2844417"/>
          </a:xfrm>
          <a:custGeom>
            <a:avLst/>
            <a:gdLst/>
            <a:ahLst/>
            <a:cxnLst/>
            <a:rect r="r" b="b" t="t" l="l"/>
            <a:pathLst>
              <a:path h="2844417" w="8115300">
                <a:moveTo>
                  <a:pt x="0" y="0"/>
                </a:moveTo>
                <a:lnTo>
                  <a:pt x="8115300" y="0"/>
                </a:lnTo>
                <a:lnTo>
                  <a:pt x="8115300" y="2844417"/>
                </a:lnTo>
                <a:lnTo>
                  <a:pt x="0" y="2844417"/>
                </a:lnTo>
                <a:lnTo>
                  <a:pt x="0" y="0"/>
                </a:lnTo>
                <a:close/>
              </a:path>
            </a:pathLst>
          </a:custGeom>
          <a:blipFill>
            <a:blip r:embed="rId3"/>
            <a:stretch>
              <a:fillRect l="-3209" t="0" r="-3744" b="0"/>
            </a:stretch>
          </a:blipFill>
        </p:spPr>
      </p:sp>
      <p:sp>
        <p:nvSpPr>
          <p:cNvPr name="Freeform 13" id="13"/>
          <p:cNvSpPr/>
          <p:nvPr/>
        </p:nvSpPr>
        <p:spPr>
          <a:xfrm flipH="false" flipV="false" rot="0">
            <a:off x="9845406" y="6010581"/>
            <a:ext cx="6712488" cy="2844417"/>
          </a:xfrm>
          <a:custGeom>
            <a:avLst/>
            <a:gdLst/>
            <a:ahLst/>
            <a:cxnLst/>
            <a:rect r="r" b="b" t="t" l="l"/>
            <a:pathLst>
              <a:path h="2844417" w="6712488">
                <a:moveTo>
                  <a:pt x="0" y="0"/>
                </a:moveTo>
                <a:lnTo>
                  <a:pt x="6712488" y="0"/>
                </a:lnTo>
                <a:lnTo>
                  <a:pt x="6712488" y="2844417"/>
                </a:lnTo>
                <a:lnTo>
                  <a:pt x="0" y="2844417"/>
                </a:lnTo>
                <a:lnTo>
                  <a:pt x="0" y="0"/>
                </a:lnTo>
                <a:close/>
              </a:path>
            </a:pathLst>
          </a:custGeom>
          <a:blipFill>
            <a:blip r:embed="rId4"/>
            <a:stretch>
              <a:fillRect l="0" t="0" r="0" b="0"/>
            </a:stretch>
          </a:blipFill>
        </p:spPr>
      </p:sp>
      <p:sp>
        <p:nvSpPr>
          <p:cNvPr name="TextBox 14" id="14"/>
          <p:cNvSpPr txBox="true"/>
          <p:nvPr/>
        </p:nvSpPr>
        <p:spPr>
          <a:xfrm rot="0">
            <a:off x="1028700" y="2650681"/>
            <a:ext cx="16230600" cy="20066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São sistemas que produzem sinerg</a:t>
            </a:r>
            <a:r>
              <a:rPr lang="en-US" sz="2499">
                <a:solidFill>
                  <a:srgbClr val="000000"/>
                </a:solidFill>
                <a:latin typeface="Poppins Light"/>
                <a:ea typeface="Poppins Light"/>
                <a:cs typeface="Poppins Light"/>
                <a:sym typeface="Poppins Light"/>
              </a:rPr>
              <a:t>ia com a combinação de duas ou mais técnicas de modelagem. O foco destes sistemas está em obter um sistema mais poderoso e com menos deficiência. Dependendo da forma de construção, uma abordagem pode ser usada para suprir as deficiências da outra em um certo grau.</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NEUROFUZZY - HÍBRIDO RNA E FUZZY</a:t>
              </a:r>
            </a:p>
          </p:txBody>
        </p:sp>
      </p:grpSp>
      <p:sp>
        <p:nvSpPr>
          <p:cNvPr name="TextBox 6" id="6"/>
          <p:cNvSpPr txBox="true"/>
          <p:nvPr/>
        </p:nvSpPr>
        <p:spPr>
          <a:xfrm rot="0">
            <a:off x="1028700" y="2654155"/>
            <a:ext cx="6535884" cy="453072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É um sistema híbrido incorpor</a:t>
            </a:r>
            <a:r>
              <a:rPr lang="en-US" sz="2499">
                <a:solidFill>
                  <a:srgbClr val="000000"/>
                </a:solidFill>
                <a:latin typeface="Poppins Light"/>
                <a:ea typeface="Poppins Light"/>
                <a:cs typeface="Poppins Light"/>
                <a:sym typeface="Poppins Light"/>
              </a:rPr>
              <a:t>ado constituído pela combinação de duas técnicas de modelagem muito conhecidas como as Redes Neurais Artificiais e a Lógica Fuzzy. Esse sistema tem a capacidade de aprendizado e adaptação das redes neurais com a capacidade de modelagem de incerteza e tomada de decisão da lógica fuzzy.</a:t>
            </a:r>
          </a:p>
        </p:txBody>
      </p:sp>
      <p:sp>
        <p:nvSpPr>
          <p:cNvPr name="Freeform 7" id="7"/>
          <p:cNvSpPr/>
          <p:nvPr/>
        </p:nvSpPr>
        <p:spPr>
          <a:xfrm flipH="false" flipV="false" rot="0">
            <a:off x="8039100" y="2768455"/>
            <a:ext cx="9220200" cy="5829300"/>
          </a:xfrm>
          <a:custGeom>
            <a:avLst/>
            <a:gdLst/>
            <a:ahLst/>
            <a:cxnLst/>
            <a:rect r="r" b="b" t="t" l="l"/>
            <a:pathLst>
              <a:path h="5829300" w="9220200">
                <a:moveTo>
                  <a:pt x="0" y="0"/>
                </a:moveTo>
                <a:lnTo>
                  <a:pt x="9220200" y="0"/>
                </a:lnTo>
                <a:lnTo>
                  <a:pt x="9220200" y="5829300"/>
                </a:lnTo>
                <a:lnTo>
                  <a:pt x="0" y="5829300"/>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sp>
        <p:nvSpPr>
          <p:cNvPr name="Freeform 6" id="6"/>
          <p:cNvSpPr/>
          <p:nvPr/>
        </p:nvSpPr>
        <p:spPr>
          <a:xfrm flipH="false" flipV="false" rot="0">
            <a:off x="2234354" y="2763619"/>
            <a:ext cx="13819292" cy="6494681"/>
          </a:xfrm>
          <a:custGeom>
            <a:avLst/>
            <a:gdLst/>
            <a:ahLst/>
            <a:cxnLst/>
            <a:rect r="r" b="b" t="t" l="l"/>
            <a:pathLst>
              <a:path h="6494681" w="13819292">
                <a:moveTo>
                  <a:pt x="0" y="0"/>
                </a:moveTo>
                <a:lnTo>
                  <a:pt x="13819292" y="0"/>
                </a:lnTo>
                <a:lnTo>
                  <a:pt x="13819292" y="6494681"/>
                </a:lnTo>
                <a:lnTo>
                  <a:pt x="0" y="6494681"/>
                </a:lnTo>
                <a:lnTo>
                  <a:pt x="0" y="0"/>
                </a:lnTo>
                <a:close/>
              </a:path>
            </a:pathLst>
          </a:custGeom>
          <a:blipFill>
            <a:blip r:embed="rId3"/>
            <a:stretch>
              <a:fillRect l="0" t="-10459" r="0" b="-9228"/>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sp>
        <p:nvSpPr>
          <p:cNvPr name="TextBox 6" id="6"/>
          <p:cNvSpPr txBox="true"/>
          <p:nvPr/>
        </p:nvSpPr>
        <p:spPr>
          <a:xfrm rot="0">
            <a:off x="1028700" y="2654155"/>
            <a:ext cx="16230600" cy="20066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 Rede Neural Convolucion</a:t>
            </a:r>
            <a:r>
              <a:rPr lang="en-US" sz="2499">
                <a:solidFill>
                  <a:srgbClr val="000000"/>
                </a:solidFill>
                <a:latin typeface="Poppins Light"/>
                <a:ea typeface="Poppins Light"/>
                <a:cs typeface="Poppins Light"/>
                <a:sym typeface="Poppins Light"/>
              </a:rPr>
              <a:t>al (RNN) ou Convolutional Neural Network (CNN) é um tipo de modelo de aprendizado profundo projetado para processar e reconhecer padrões em dados de forma eficaz, especialmente em imagens. Sendo assim, uma das principais arquiteturas de redes na área de visão computacional.</a:t>
            </a:r>
          </a:p>
        </p:txBody>
      </p:sp>
      <p:sp>
        <p:nvSpPr>
          <p:cNvPr name="Freeform 7" id="7"/>
          <p:cNvSpPr/>
          <p:nvPr/>
        </p:nvSpPr>
        <p:spPr>
          <a:xfrm flipH="false" flipV="false" rot="0">
            <a:off x="7971453" y="4898880"/>
            <a:ext cx="8868747" cy="4359420"/>
          </a:xfrm>
          <a:custGeom>
            <a:avLst/>
            <a:gdLst/>
            <a:ahLst/>
            <a:cxnLst/>
            <a:rect r="r" b="b" t="t" l="l"/>
            <a:pathLst>
              <a:path h="4359420" w="8868747">
                <a:moveTo>
                  <a:pt x="0" y="0"/>
                </a:moveTo>
                <a:lnTo>
                  <a:pt x="8868747" y="0"/>
                </a:lnTo>
                <a:lnTo>
                  <a:pt x="8868747" y="4359420"/>
                </a:lnTo>
                <a:lnTo>
                  <a:pt x="0" y="4359420"/>
                </a:lnTo>
                <a:lnTo>
                  <a:pt x="0" y="0"/>
                </a:lnTo>
                <a:close/>
              </a:path>
            </a:pathLst>
          </a:custGeom>
          <a:blipFill>
            <a:blip r:embed="rId3"/>
            <a:stretch>
              <a:fillRect l="0" t="-13239" r="0" b="-39339"/>
            </a:stretch>
          </a:blipFill>
        </p:spPr>
      </p:sp>
      <p:sp>
        <p:nvSpPr>
          <p:cNvPr name="TextBox 8" id="8"/>
          <p:cNvSpPr txBox="true"/>
          <p:nvPr/>
        </p:nvSpPr>
        <p:spPr>
          <a:xfrm rot="0">
            <a:off x="1028700" y="4784580"/>
            <a:ext cx="6535884" cy="40259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Usado em :</a:t>
            </a:r>
            <a:r>
              <a:rPr lang="en-US" sz="2499">
                <a:solidFill>
                  <a:srgbClr val="000000"/>
                </a:solidFill>
                <a:latin typeface="Poppins Light"/>
                <a:ea typeface="Poppins Light"/>
                <a:cs typeface="Poppins Light"/>
                <a:sym typeface="Poppins Light"/>
              </a:rPr>
              <a:t> </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Classificação de Imagens</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Carros Autônomos</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Reconhecimento de Doenças de pele e nódulos</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Reconhecimento de Dígitos </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Detecção de Objetos</a:t>
            </a:r>
          </a:p>
          <a:p>
            <a:pPr algn="just">
              <a:lnSpc>
                <a:spcPts val="3999"/>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FORMATO E COMPONENTES DA REDE</a:t>
              </a:r>
            </a:p>
          </p:txBody>
        </p:sp>
      </p:grpSp>
      <p:sp>
        <p:nvSpPr>
          <p:cNvPr name="Freeform 9" id="9"/>
          <p:cNvSpPr/>
          <p:nvPr/>
        </p:nvSpPr>
        <p:spPr>
          <a:xfrm flipH="false" flipV="false" rot="0">
            <a:off x="1028700" y="3879522"/>
            <a:ext cx="16230600" cy="5378778"/>
          </a:xfrm>
          <a:custGeom>
            <a:avLst/>
            <a:gdLst/>
            <a:ahLst/>
            <a:cxnLst/>
            <a:rect r="r" b="b" t="t" l="l"/>
            <a:pathLst>
              <a:path h="5378778" w="16230600">
                <a:moveTo>
                  <a:pt x="0" y="0"/>
                </a:moveTo>
                <a:lnTo>
                  <a:pt x="16230600" y="0"/>
                </a:lnTo>
                <a:lnTo>
                  <a:pt x="16230600" y="5378778"/>
                </a:lnTo>
                <a:lnTo>
                  <a:pt x="0" y="5378778"/>
                </a:lnTo>
                <a:lnTo>
                  <a:pt x="0" y="0"/>
                </a:lnTo>
                <a:close/>
              </a:path>
            </a:pathLst>
          </a:custGeom>
          <a:blipFill>
            <a:blip r:embed="rId3"/>
            <a:stretch>
              <a:fillRect l="0" t="-2449" r="0" b="-42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FORMATO E COMPONENTES DA REDE</a:t>
              </a:r>
            </a:p>
          </p:txBody>
        </p:sp>
      </p:grpSp>
      <p:sp>
        <p:nvSpPr>
          <p:cNvPr name="Freeform 9" id="9"/>
          <p:cNvSpPr/>
          <p:nvPr/>
        </p:nvSpPr>
        <p:spPr>
          <a:xfrm flipH="false" flipV="false" rot="0">
            <a:off x="8630266" y="3879522"/>
            <a:ext cx="8055958" cy="5378778"/>
          </a:xfrm>
          <a:custGeom>
            <a:avLst/>
            <a:gdLst/>
            <a:ahLst/>
            <a:cxnLst/>
            <a:rect r="r" b="b" t="t" l="l"/>
            <a:pathLst>
              <a:path h="5378778" w="8055958">
                <a:moveTo>
                  <a:pt x="0" y="0"/>
                </a:moveTo>
                <a:lnTo>
                  <a:pt x="8055959" y="0"/>
                </a:lnTo>
                <a:lnTo>
                  <a:pt x="8055959" y="5378778"/>
                </a:lnTo>
                <a:lnTo>
                  <a:pt x="0" y="5378778"/>
                </a:lnTo>
                <a:lnTo>
                  <a:pt x="0" y="0"/>
                </a:lnTo>
                <a:close/>
              </a:path>
            </a:pathLst>
          </a:custGeom>
          <a:blipFill>
            <a:blip r:embed="rId3"/>
            <a:stretch>
              <a:fillRect l="-59504" t="-2449" r="-41968" b="-420"/>
            </a:stretch>
          </a:blipFill>
        </p:spPr>
      </p:sp>
      <p:sp>
        <p:nvSpPr>
          <p:cNvPr name="TextBox 10" id="10"/>
          <p:cNvSpPr txBox="true"/>
          <p:nvPr/>
        </p:nvSpPr>
        <p:spPr>
          <a:xfrm rot="0">
            <a:off x="1028700" y="3765222"/>
            <a:ext cx="7015978" cy="35210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Uma CNN é</a:t>
            </a:r>
            <a:r>
              <a:rPr lang="en-US" sz="2499">
                <a:solidFill>
                  <a:srgbClr val="000000"/>
                </a:solidFill>
                <a:latin typeface="Poppins Light"/>
                <a:ea typeface="Poppins Light"/>
                <a:cs typeface="Poppins Light"/>
                <a:sym typeface="Poppins Light"/>
              </a:rPr>
              <a:t> composta por componentes e operações básicas, que podem se repetir ao longo da rede.</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Convolução</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Pooling</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Flattening</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Rede Neural Densa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CONVOLUÇÃO</a:t>
              </a:r>
            </a:p>
          </p:txBody>
        </p:sp>
      </p:grpSp>
      <p:sp>
        <p:nvSpPr>
          <p:cNvPr name="TextBox 9" id="9"/>
          <p:cNvSpPr txBox="true"/>
          <p:nvPr/>
        </p:nvSpPr>
        <p:spPr>
          <a:xfrm rot="0">
            <a:off x="1028700" y="3765222"/>
            <a:ext cx="16230600" cy="15017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Esta </a:t>
            </a:r>
            <a:r>
              <a:rPr lang="en-US" sz="2499">
                <a:solidFill>
                  <a:srgbClr val="000000"/>
                </a:solidFill>
                <a:latin typeface="Poppins Light"/>
                <a:ea typeface="Poppins Light"/>
                <a:cs typeface="Poppins Light"/>
                <a:sym typeface="Poppins Light"/>
              </a:rPr>
              <a:t>operação consiste na aplicação de um kernel(filtro) para a extração de mapas de características das imagens. O kernel é uma matriz que quando multiplicado pela matriz que representa a imagem irá ressaltar as características que foram determinadas.</a:t>
            </a:r>
          </a:p>
        </p:txBody>
      </p:sp>
      <p:sp>
        <p:nvSpPr>
          <p:cNvPr name="Freeform 10" id="10"/>
          <p:cNvSpPr/>
          <p:nvPr/>
        </p:nvSpPr>
        <p:spPr>
          <a:xfrm flipH="false" flipV="false" rot="0">
            <a:off x="1028700" y="5505122"/>
            <a:ext cx="7302694" cy="3753178"/>
          </a:xfrm>
          <a:custGeom>
            <a:avLst/>
            <a:gdLst/>
            <a:ahLst/>
            <a:cxnLst/>
            <a:rect r="r" b="b" t="t" l="l"/>
            <a:pathLst>
              <a:path h="3753178" w="7302694">
                <a:moveTo>
                  <a:pt x="0" y="0"/>
                </a:moveTo>
                <a:lnTo>
                  <a:pt x="7302694" y="0"/>
                </a:lnTo>
                <a:lnTo>
                  <a:pt x="7302694" y="3753178"/>
                </a:lnTo>
                <a:lnTo>
                  <a:pt x="0" y="3753178"/>
                </a:lnTo>
                <a:lnTo>
                  <a:pt x="0" y="0"/>
                </a:lnTo>
                <a:close/>
              </a:path>
            </a:pathLst>
          </a:custGeom>
          <a:blipFill>
            <a:blip r:embed="rId3"/>
            <a:stretch>
              <a:fillRect l="0" t="0" r="0" b="0"/>
            </a:stretch>
          </a:blipFill>
        </p:spPr>
      </p:sp>
      <p:sp>
        <p:nvSpPr>
          <p:cNvPr name="Freeform 11" id="11"/>
          <p:cNvSpPr/>
          <p:nvPr/>
        </p:nvSpPr>
        <p:spPr>
          <a:xfrm flipH="false" flipV="false" rot="0">
            <a:off x="4680047" y="7122112"/>
            <a:ext cx="519198" cy="519198"/>
          </a:xfrm>
          <a:custGeom>
            <a:avLst/>
            <a:gdLst/>
            <a:ahLst/>
            <a:cxnLst/>
            <a:rect r="r" b="b" t="t" l="l"/>
            <a:pathLst>
              <a:path h="519198" w="519198">
                <a:moveTo>
                  <a:pt x="0" y="0"/>
                </a:moveTo>
                <a:lnTo>
                  <a:pt x="519198" y="0"/>
                </a:lnTo>
                <a:lnTo>
                  <a:pt x="519198" y="519198"/>
                </a:lnTo>
                <a:lnTo>
                  <a:pt x="0" y="519198"/>
                </a:lnTo>
                <a:lnTo>
                  <a:pt x="0" y="0"/>
                </a:lnTo>
                <a:close/>
              </a:path>
            </a:pathLst>
          </a:custGeom>
          <a:blipFill>
            <a:blip r:embed="rId4"/>
            <a:stretch>
              <a:fillRect l="0" t="0" r="0" b="0"/>
            </a:stretch>
          </a:blipFill>
        </p:spPr>
      </p:sp>
      <p:sp>
        <p:nvSpPr>
          <p:cNvPr name="TextBox 12" id="12"/>
          <p:cNvSpPr txBox="true"/>
          <p:nvPr/>
        </p:nvSpPr>
        <p:spPr>
          <a:xfrm rot="0">
            <a:off x="8763398" y="5390822"/>
            <a:ext cx="8495902" cy="15017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Para entender melhor esse processo de convolução e a função dos kernels, acesse esse site:</a:t>
            </a:r>
          </a:p>
          <a:p>
            <a:pPr algn="ctr">
              <a:lnSpc>
                <a:spcPts val="3999"/>
              </a:lnSpc>
            </a:pPr>
            <a:r>
              <a:rPr lang="en-US" b="true" sz="2499" u="sng">
                <a:solidFill>
                  <a:srgbClr val="04165D"/>
                </a:solidFill>
                <a:latin typeface="Poppins Bold"/>
                <a:ea typeface="Poppins Bold"/>
                <a:cs typeface="Poppins Bold"/>
                <a:sym typeface="Poppins Bold"/>
                <a:hlinkClick r:id="rId5" tooltip="https://setosa.io/ev/image-kernels/"/>
              </a:rPr>
              <a:t>setosa.io/ev/image-kernels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CONVOLUÇÃO - MAPA DE CARACTERÍSTICAS</a:t>
              </a:r>
            </a:p>
          </p:txBody>
        </p:sp>
      </p:grpSp>
      <p:sp>
        <p:nvSpPr>
          <p:cNvPr name="Freeform 9" id="9"/>
          <p:cNvSpPr/>
          <p:nvPr/>
        </p:nvSpPr>
        <p:spPr>
          <a:xfrm flipH="false" flipV="false" rot="0">
            <a:off x="9829827" y="3879522"/>
            <a:ext cx="6504655" cy="5378778"/>
          </a:xfrm>
          <a:custGeom>
            <a:avLst/>
            <a:gdLst/>
            <a:ahLst/>
            <a:cxnLst/>
            <a:rect r="r" b="b" t="t" l="l"/>
            <a:pathLst>
              <a:path h="5378778" w="6504655">
                <a:moveTo>
                  <a:pt x="0" y="0"/>
                </a:moveTo>
                <a:lnTo>
                  <a:pt x="6504654" y="0"/>
                </a:lnTo>
                <a:lnTo>
                  <a:pt x="6504654" y="5378778"/>
                </a:lnTo>
                <a:lnTo>
                  <a:pt x="0" y="5378778"/>
                </a:lnTo>
                <a:lnTo>
                  <a:pt x="0" y="0"/>
                </a:lnTo>
                <a:close/>
              </a:path>
            </a:pathLst>
          </a:custGeom>
          <a:blipFill>
            <a:blip r:embed="rId3"/>
            <a:stretch>
              <a:fillRect l="-8396" t="0" r="-5971" b="-3384"/>
            </a:stretch>
          </a:blipFill>
        </p:spPr>
      </p:sp>
      <p:sp>
        <p:nvSpPr>
          <p:cNvPr name="TextBox 10" id="10"/>
          <p:cNvSpPr txBox="true"/>
          <p:nvPr/>
        </p:nvSpPr>
        <p:spPr>
          <a:xfrm rot="0">
            <a:off x="1028700" y="3765222"/>
            <a:ext cx="7845925" cy="50355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Quand</a:t>
            </a:r>
            <a:r>
              <a:rPr lang="en-US" sz="2499">
                <a:solidFill>
                  <a:srgbClr val="000000"/>
                </a:solidFill>
                <a:latin typeface="Poppins Light"/>
                <a:ea typeface="Poppins Light"/>
                <a:cs typeface="Poppins Light"/>
                <a:sym typeface="Poppins Light"/>
              </a:rPr>
              <a:t>o for aplicado kernel na matriz, será gerada uma nova matriz, chamada Mapa de características. Dessa forma, cada célula da nova matriz corresponde à soma da multiplicação da matriz original pelo filtro.</a:t>
            </a:r>
          </a:p>
          <a:p>
            <a:pPr algn="just">
              <a:lnSpc>
                <a:spcPts val="3999"/>
              </a:lnSpc>
            </a:pPr>
            <a:r>
              <a:rPr lang="en-US" sz="2499">
                <a:solidFill>
                  <a:srgbClr val="000000"/>
                </a:solidFill>
                <a:latin typeface="Poppins Light"/>
                <a:ea typeface="Poppins Light"/>
                <a:cs typeface="Poppins Light"/>
                <a:sym typeface="Poppins Light"/>
              </a:rPr>
              <a:t>Após a operação de Convolução, a imagem fica menor para os processamentos posteriores, porém os mapas de características (olho, boca, nariz) são aprendidos. Porém essa camada é composta por diferentes kernels de convolução.</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CONVOLUÇÃO - FUNÇÃO DE ATIVAÇÃO</a:t>
              </a:r>
            </a:p>
          </p:txBody>
        </p:sp>
      </p:grpSp>
      <p:sp>
        <p:nvSpPr>
          <p:cNvPr name="TextBox 9" id="9"/>
          <p:cNvSpPr txBox="true"/>
          <p:nvPr/>
        </p:nvSpPr>
        <p:spPr>
          <a:xfrm rot="0">
            <a:off x="1028700" y="3765222"/>
            <a:ext cx="16230600" cy="200660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L</a:t>
            </a:r>
            <a:r>
              <a:rPr lang="en-US" sz="2499">
                <a:solidFill>
                  <a:srgbClr val="000000"/>
                </a:solidFill>
                <a:latin typeface="Poppins Light"/>
                <a:ea typeface="Poppins Light"/>
                <a:cs typeface="Poppins Light"/>
                <a:sym typeface="Poppins Light"/>
              </a:rPr>
              <a:t>ogo após a obtenção dos mapas de características, normalmente aplica-se a fun</a:t>
            </a:r>
            <a:r>
              <a:rPr lang="en-US" sz="2499">
                <a:solidFill>
                  <a:srgbClr val="000000"/>
                </a:solidFill>
                <a:latin typeface="Poppins Light"/>
                <a:ea typeface="Poppins Light"/>
                <a:cs typeface="Poppins Light"/>
                <a:sym typeface="Poppins Light"/>
              </a:rPr>
              <a:t>ção RELU, função essa que zera os valores negativos. Dessa forma, </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y = max(0, x)</a:t>
            </a:r>
          </a:p>
          <a:p>
            <a:pPr algn="just" marL="539749" indent="-269875" lvl="1">
              <a:lnSpc>
                <a:spcPts val="3999"/>
              </a:lnSpc>
              <a:buFont typeface="Arial"/>
              <a:buChar char="•"/>
            </a:pPr>
            <a:r>
              <a:rPr lang="en-US" sz="2499">
                <a:solidFill>
                  <a:srgbClr val="000000"/>
                </a:solidFill>
                <a:latin typeface="Poppins Light"/>
                <a:ea typeface="Poppins Light"/>
                <a:cs typeface="Poppins Light"/>
                <a:sym typeface="Poppins Light"/>
              </a:rPr>
              <a:t>Objetivo é ressaltar ainda mais os padrões.</a:t>
            </a:r>
          </a:p>
        </p:txBody>
      </p:sp>
      <p:sp>
        <p:nvSpPr>
          <p:cNvPr name="Freeform 10" id="10"/>
          <p:cNvSpPr/>
          <p:nvPr/>
        </p:nvSpPr>
        <p:spPr>
          <a:xfrm flipH="false" flipV="false" rot="0">
            <a:off x="4883043" y="6009947"/>
            <a:ext cx="8521913" cy="3248353"/>
          </a:xfrm>
          <a:custGeom>
            <a:avLst/>
            <a:gdLst/>
            <a:ahLst/>
            <a:cxnLst/>
            <a:rect r="r" b="b" t="t" l="l"/>
            <a:pathLst>
              <a:path h="3248353" w="8521913">
                <a:moveTo>
                  <a:pt x="0" y="0"/>
                </a:moveTo>
                <a:lnTo>
                  <a:pt x="8521914" y="0"/>
                </a:lnTo>
                <a:lnTo>
                  <a:pt x="8521914" y="3248353"/>
                </a:lnTo>
                <a:lnTo>
                  <a:pt x="0" y="3248353"/>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POOLING</a:t>
              </a:r>
            </a:p>
          </p:txBody>
        </p:sp>
      </p:grpSp>
      <p:sp>
        <p:nvSpPr>
          <p:cNvPr name="TextBox 9" id="9"/>
          <p:cNvSpPr txBox="true"/>
          <p:nvPr/>
        </p:nvSpPr>
        <p:spPr>
          <a:xfrm rot="0">
            <a:off x="1028700" y="3765222"/>
            <a:ext cx="8115300" cy="50355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As</a:t>
            </a:r>
            <a:r>
              <a:rPr lang="en-US" sz="2499">
                <a:solidFill>
                  <a:srgbClr val="000000"/>
                </a:solidFill>
                <a:latin typeface="Poppins Light"/>
                <a:ea typeface="Poppins Light"/>
                <a:cs typeface="Poppins Light"/>
                <a:sym typeface="Poppins Light"/>
              </a:rPr>
              <a:t> camadas de Pooling são comumente aplicadas logo após as camadas convolucionais. Elas têm como função simplificar as informações provenientes das camadas convolucionais. Uma camada de pooling recebe os mapa de características e produz um mapa de características condensado. Nesse processo é utilizado uma janela que irá se mover ao longo da matriz de características realizando uma operação sobre os valores contidos na janela.</a:t>
            </a:r>
          </a:p>
        </p:txBody>
      </p:sp>
      <p:sp>
        <p:nvSpPr>
          <p:cNvPr name="Freeform 10" id="10"/>
          <p:cNvSpPr/>
          <p:nvPr/>
        </p:nvSpPr>
        <p:spPr>
          <a:xfrm flipH="false" flipV="false" rot="0">
            <a:off x="9526353" y="3879522"/>
            <a:ext cx="7487253" cy="4006784"/>
          </a:xfrm>
          <a:custGeom>
            <a:avLst/>
            <a:gdLst/>
            <a:ahLst/>
            <a:cxnLst/>
            <a:rect r="r" b="b" t="t" l="l"/>
            <a:pathLst>
              <a:path h="4006784" w="7487253">
                <a:moveTo>
                  <a:pt x="0" y="0"/>
                </a:moveTo>
                <a:lnTo>
                  <a:pt x="7487253" y="0"/>
                </a:lnTo>
                <a:lnTo>
                  <a:pt x="7487253" y="4006784"/>
                </a:lnTo>
                <a:lnTo>
                  <a:pt x="0" y="4006784"/>
                </a:lnTo>
                <a:lnTo>
                  <a:pt x="0" y="0"/>
                </a:lnTo>
                <a:close/>
              </a:path>
            </a:pathLst>
          </a:custGeom>
          <a:blipFill>
            <a:blip r:embed="rId3"/>
            <a:stretch>
              <a:fillRect l="0" t="0" r="0" b="0"/>
            </a:stretch>
          </a:blipFill>
        </p:spPr>
      </p:sp>
      <p:sp>
        <p:nvSpPr>
          <p:cNvPr name="TextBox 11" id="11"/>
          <p:cNvSpPr txBox="true"/>
          <p:nvPr/>
        </p:nvSpPr>
        <p:spPr>
          <a:xfrm rot="0">
            <a:off x="9526353" y="8261350"/>
            <a:ext cx="7732947" cy="9969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Nesse exemplo, temos um MaxPooling (pega o maior valor da janela) com uma janela de 2x2.</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FLATTENING</a:t>
              </a:r>
            </a:p>
          </p:txBody>
        </p:sp>
      </p:grpSp>
      <p:sp>
        <p:nvSpPr>
          <p:cNvPr name="TextBox 9" id="9"/>
          <p:cNvSpPr txBox="true"/>
          <p:nvPr/>
        </p:nvSpPr>
        <p:spPr>
          <a:xfrm rot="0">
            <a:off x="1028700" y="3765222"/>
            <a:ext cx="16230600" cy="9969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a:t>
            </a:r>
            <a:r>
              <a:rPr lang="en-US" sz="2499">
                <a:solidFill>
                  <a:srgbClr val="000000"/>
                </a:solidFill>
                <a:latin typeface="Poppins Light"/>
                <a:ea typeface="Poppins Light"/>
                <a:cs typeface="Poppins Light"/>
                <a:sym typeface="Poppins Light"/>
              </a:rPr>
              <a:t> etapa de Flattening transforma a matriz gerada pelo pooling em em vetor, passo esse, necessário para posteriormente ser aplicado a uma rede neural densa.</a:t>
            </a:r>
          </a:p>
        </p:txBody>
      </p:sp>
      <p:sp>
        <p:nvSpPr>
          <p:cNvPr name="Freeform 10" id="10"/>
          <p:cNvSpPr/>
          <p:nvPr/>
        </p:nvSpPr>
        <p:spPr>
          <a:xfrm flipH="false" flipV="false" rot="0">
            <a:off x="4690588" y="5000297"/>
            <a:ext cx="8906824" cy="4258003"/>
          </a:xfrm>
          <a:custGeom>
            <a:avLst/>
            <a:gdLst/>
            <a:ahLst/>
            <a:cxnLst/>
            <a:rect r="r" b="b" t="t" l="l"/>
            <a:pathLst>
              <a:path h="4258003" w="8906824">
                <a:moveTo>
                  <a:pt x="0" y="0"/>
                </a:moveTo>
                <a:lnTo>
                  <a:pt x="8906824" y="0"/>
                </a:lnTo>
                <a:lnTo>
                  <a:pt x="8906824" y="4258003"/>
                </a:lnTo>
                <a:lnTo>
                  <a:pt x="0" y="4258003"/>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REDE NEURAL DENSA</a:t>
              </a:r>
            </a:p>
          </p:txBody>
        </p:sp>
      </p:grpSp>
      <p:sp>
        <p:nvSpPr>
          <p:cNvPr name="TextBox 9" id="9"/>
          <p:cNvSpPr txBox="true"/>
          <p:nvPr/>
        </p:nvSpPr>
        <p:spPr>
          <a:xfrm rot="0">
            <a:off x="1028700" y="3765222"/>
            <a:ext cx="16230600" cy="996950"/>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Após</a:t>
            </a:r>
            <a:r>
              <a:rPr lang="en-US" sz="2499">
                <a:solidFill>
                  <a:srgbClr val="000000"/>
                </a:solidFill>
                <a:latin typeface="Poppins Light"/>
                <a:ea typeface="Poppins Light"/>
                <a:cs typeface="Poppins Light"/>
                <a:sym typeface="Poppins Light"/>
              </a:rPr>
              <a:t> o processo de Flattening, o vetor gerado serve de entrada para uma rede neural densa trabalhar. Aqui é possível enxergar a mesma estrutura de uma rede MLP e seus fundamentos.</a:t>
            </a:r>
          </a:p>
        </p:txBody>
      </p:sp>
      <p:sp>
        <p:nvSpPr>
          <p:cNvPr name="Freeform 10" id="10"/>
          <p:cNvSpPr/>
          <p:nvPr/>
        </p:nvSpPr>
        <p:spPr>
          <a:xfrm flipH="false" flipV="false" rot="0">
            <a:off x="5164562" y="5000297"/>
            <a:ext cx="7958876" cy="4258003"/>
          </a:xfrm>
          <a:custGeom>
            <a:avLst/>
            <a:gdLst/>
            <a:ahLst/>
            <a:cxnLst/>
            <a:rect r="r" b="b" t="t" l="l"/>
            <a:pathLst>
              <a:path h="4258003" w="7958876">
                <a:moveTo>
                  <a:pt x="0" y="0"/>
                </a:moveTo>
                <a:lnTo>
                  <a:pt x="7958876" y="0"/>
                </a:lnTo>
                <a:lnTo>
                  <a:pt x="7958876" y="4258003"/>
                </a:lnTo>
                <a:lnTo>
                  <a:pt x="0" y="4258003"/>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CONVOLUCIONAIS</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DIFERENÇA ENTRE MLP E REDES CONVOLUCIONAIS</a:t>
              </a:r>
            </a:p>
          </p:txBody>
        </p:sp>
      </p:grpSp>
      <p:sp>
        <p:nvSpPr>
          <p:cNvPr name="TextBox 9" id="9"/>
          <p:cNvSpPr txBox="true"/>
          <p:nvPr/>
        </p:nvSpPr>
        <p:spPr>
          <a:xfrm rot="0">
            <a:off x="1028700" y="3765222"/>
            <a:ext cx="8115300" cy="3521075"/>
          </a:xfrm>
          <a:prstGeom prst="rect">
            <a:avLst/>
          </a:prstGeom>
        </p:spPr>
        <p:txBody>
          <a:bodyPr anchor="t" rtlCol="false" tIns="0" lIns="0" bIns="0" rIns="0">
            <a:spAutoFit/>
          </a:bodyPr>
          <a:lstStyle/>
          <a:p>
            <a:pPr algn="just">
              <a:lnSpc>
                <a:spcPts val="3999"/>
              </a:lnSpc>
            </a:pPr>
            <a:r>
              <a:rPr lang="en-US" sz="2499">
                <a:solidFill>
                  <a:srgbClr val="000000"/>
                </a:solidFill>
                <a:latin typeface="Poppins Light"/>
                <a:ea typeface="Poppins Light"/>
                <a:cs typeface="Poppins Light"/>
                <a:sym typeface="Poppins Light"/>
              </a:rPr>
              <a:t>Enquanto as</a:t>
            </a:r>
            <a:r>
              <a:rPr lang="en-US" sz="2499">
                <a:solidFill>
                  <a:srgbClr val="000000"/>
                </a:solidFill>
                <a:latin typeface="Poppins Light"/>
                <a:ea typeface="Poppins Light"/>
                <a:cs typeface="Poppins Light"/>
                <a:sym typeface="Poppins Light"/>
              </a:rPr>
              <a:t> CNNs são altamente especializadas em processar dados com estrutura espacial, como imagens, as MLPs são redes neurais mais genéricas, sem levar em conta a estrutura dos dados de entrada. A escolha entre uma ou outra depende da natureza dos dados e da tarefa específica que se deseja realizar.</a:t>
            </a:r>
          </a:p>
        </p:txBody>
      </p:sp>
      <p:sp>
        <p:nvSpPr>
          <p:cNvPr name="Freeform 10" id="10"/>
          <p:cNvSpPr/>
          <p:nvPr/>
        </p:nvSpPr>
        <p:spPr>
          <a:xfrm flipH="false" flipV="false" rot="0">
            <a:off x="9342025" y="3879522"/>
            <a:ext cx="7698200" cy="4253436"/>
          </a:xfrm>
          <a:custGeom>
            <a:avLst/>
            <a:gdLst/>
            <a:ahLst/>
            <a:cxnLst/>
            <a:rect r="r" b="b" t="t" l="l"/>
            <a:pathLst>
              <a:path h="4253436" w="7698200">
                <a:moveTo>
                  <a:pt x="0" y="0"/>
                </a:moveTo>
                <a:lnTo>
                  <a:pt x="7698200" y="0"/>
                </a:lnTo>
                <a:lnTo>
                  <a:pt x="7698200" y="4253437"/>
                </a:lnTo>
                <a:lnTo>
                  <a:pt x="0" y="4253437"/>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230600" cy="1499997"/>
            <a:chOff x="0" y="0"/>
            <a:chExt cx="21640800" cy="1999996"/>
          </a:xfrm>
        </p:grpSpPr>
        <p:grpSp>
          <p:nvGrpSpPr>
            <p:cNvPr name="Group 3" id="3"/>
            <p:cNvGrpSpPr/>
            <p:nvPr/>
          </p:nvGrpSpPr>
          <p:grpSpPr>
            <a:xfrm rot="0">
              <a:off x="0" y="0"/>
              <a:ext cx="21640800" cy="1999996"/>
              <a:chOff x="0" y="0"/>
              <a:chExt cx="21640800" cy="1999996"/>
            </a:xfrm>
          </p:grpSpPr>
          <p:sp>
            <p:nvSpPr>
              <p:cNvPr name="Freeform 4" id="4"/>
              <p:cNvSpPr/>
              <p:nvPr/>
            </p:nvSpPr>
            <p:spPr>
              <a:xfrm flipH="false" flipV="false" rot="0">
                <a:off x="0" y="0"/>
                <a:ext cx="21640750" cy="1999996"/>
              </a:xfrm>
              <a:custGeom>
                <a:avLst/>
                <a:gdLst/>
                <a:ahLst/>
                <a:cxnLst/>
                <a:rect r="r" b="b" t="t" l="l"/>
                <a:pathLst>
                  <a:path h="1999996" w="21640750">
                    <a:moveTo>
                      <a:pt x="0" y="0"/>
                    </a:moveTo>
                    <a:lnTo>
                      <a:pt x="21640750" y="0"/>
                    </a:lnTo>
                    <a:lnTo>
                      <a:pt x="21640750" y="1999996"/>
                    </a:lnTo>
                    <a:lnTo>
                      <a:pt x="0" y="1999996"/>
                    </a:lnTo>
                    <a:close/>
                  </a:path>
                </a:pathLst>
              </a:custGeom>
              <a:solidFill>
                <a:srgbClr val="04165D"/>
              </a:solidFill>
              <a:ln w="12700">
                <a:solidFill>
                  <a:srgbClr val="000000"/>
                </a:solidFill>
              </a:ln>
            </p:spPr>
          </p:sp>
        </p:grpSp>
        <p:sp>
          <p:nvSpPr>
            <p:cNvPr name="TextBox 5" id="5"/>
            <p:cNvSpPr txBox="true"/>
            <p:nvPr/>
          </p:nvSpPr>
          <p:spPr>
            <a:xfrm rot="0">
              <a:off x="0" y="228473"/>
              <a:ext cx="21640800" cy="1476375"/>
            </a:xfrm>
            <a:prstGeom prst="rect">
              <a:avLst/>
            </a:prstGeom>
          </p:spPr>
          <p:txBody>
            <a:bodyPr anchor="t" rtlCol="false" tIns="0" lIns="0" bIns="0" rIns="0">
              <a:spAutoFit/>
            </a:bodyPr>
            <a:lstStyle/>
            <a:p>
              <a:pPr algn="ctr">
                <a:lnSpc>
                  <a:spcPts val="8400"/>
                </a:lnSpc>
              </a:pPr>
              <a:r>
                <a:rPr lang="en-US" sz="7000">
                  <a:solidFill>
                    <a:srgbClr val="FFFFFF"/>
                  </a:solidFill>
                  <a:latin typeface="Poppins"/>
                  <a:ea typeface="Poppins"/>
                  <a:cs typeface="Poppins"/>
                  <a:sym typeface="Poppins"/>
                </a:rPr>
                <a:t>REDES NEURAIS ARTIFICIAIS (MLP)</a:t>
              </a:r>
            </a:p>
          </p:txBody>
        </p:sp>
      </p:grpSp>
      <p:grpSp>
        <p:nvGrpSpPr>
          <p:cNvPr name="Group 6" id="6"/>
          <p:cNvGrpSpPr/>
          <p:nvPr/>
        </p:nvGrpSpPr>
        <p:grpSpPr>
          <a:xfrm rot="0">
            <a:off x="1028700" y="2764347"/>
            <a:ext cx="16230600" cy="877050"/>
            <a:chOff x="0" y="0"/>
            <a:chExt cx="4274726" cy="230993"/>
          </a:xfrm>
        </p:grpSpPr>
        <p:sp>
          <p:nvSpPr>
            <p:cNvPr name="Freeform 7" id="7"/>
            <p:cNvSpPr/>
            <p:nvPr/>
          </p:nvSpPr>
          <p:spPr>
            <a:xfrm flipH="false" flipV="false" rot="0">
              <a:off x="0" y="0"/>
              <a:ext cx="4274726" cy="230993"/>
            </a:xfrm>
            <a:custGeom>
              <a:avLst/>
              <a:gdLst/>
              <a:ahLst/>
              <a:cxnLst/>
              <a:rect r="r" b="b" t="t" l="l"/>
              <a:pathLst>
                <a:path h="230993" w="4274726">
                  <a:moveTo>
                    <a:pt x="0" y="0"/>
                  </a:moveTo>
                  <a:lnTo>
                    <a:pt x="4274726" y="0"/>
                  </a:lnTo>
                  <a:lnTo>
                    <a:pt x="4274726" y="230993"/>
                  </a:lnTo>
                  <a:lnTo>
                    <a:pt x="0" y="230993"/>
                  </a:ln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0" y="-190500"/>
              <a:ext cx="4274726" cy="421493"/>
            </a:xfrm>
            <a:prstGeom prst="rect">
              <a:avLst/>
            </a:prstGeom>
          </p:spPr>
          <p:txBody>
            <a:bodyPr anchor="ctr" rtlCol="false" tIns="50800" lIns="50800" bIns="50800" rIns="50800"/>
            <a:lstStyle/>
            <a:p>
              <a:pPr algn="ctr">
                <a:lnSpc>
                  <a:spcPts val="5399"/>
                </a:lnSpc>
              </a:pPr>
              <a:r>
                <a:rPr lang="en-US" sz="2999">
                  <a:solidFill>
                    <a:srgbClr val="04165D"/>
                  </a:solidFill>
                  <a:latin typeface="Poppins"/>
                  <a:ea typeface="Poppins"/>
                  <a:cs typeface="Poppins"/>
                  <a:sym typeface="Poppins"/>
                </a:rPr>
                <a:t>EXEMPLOS PRÁTICOS - DATASETS</a:t>
              </a:r>
            </a:p>
          </p:txBody>
        </p:sp>
      </p:grpSp>
      <p:grpSp>
        <p:nvGrpSpPr>
          <p:cNvPr name="Group 9" id="9"/>
          <p:cNvGrpSpPr/>
          <p:nvPr/>
        </p:nvGrpSpPr>
        <p:grpSpPr>
          <a:xfrm rot="0">
            <a:off x="3048797" y="3879522"/>
            <a:ext cx="4099167" cy="1289685"/>
            <a:chOff x="0" y="0"/>
            <a:chExt cx="1079616" cy="339670"/>
          </a:xfrm>
        </p:grpSpPr>
        <p:sp>
          <p:nvSpPr>
            <p:cNvPr name="Freeform 10" id="10"/>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11" id="11"/>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CIFAR10</a:t>
              </a:r>
            </a:p>
            <a:p>
              <a:pPr algn="ctr">
                <a:lnSpc>
                  <a:spcPts val="4499"/>
                </a:lnSpc>
              </a:pPr>
              <a:r>
                <a:rPr lang="en-US" sz="2499" u="sng">
                  <a:solidFill>
                    <a:srgbClr val="000000"/>
                  </a:solidFill>
                  <a:latin typeface="Poppins"/>
                  <a:ea typeface="Poppins"/>
                  <a:cs typeface="Poppins"/>
                  <a:sym typeface="Poppins"/>
                  <a:hlinkClick r:id="rId3" tooltip="https://colab.research.google.com/drive/1ZEkFxmeyR3Bt19m7W98Y9B_uDoyEOB1I"/>
                </a:rPr>
                <a:t>CÓDIGO</a:t>
              </a:r>
            </a:p>
          </p:txBody>
        </p:sp>
      </p:grpSp>
      <p:grpSp>
        <p:nvGrpSpPr>
          <p:cNvPr name="Group 12" id="12"/>
          <p:cNvGrpSpPr/>
          <p:nvPr/>
        </p:nvGrpSpPr>
        <p:grpSpPr>
          <a:xfrm rot="0">
            <a:off x="11136124" y="3879522"/>
            <a:ext cx="4099167" cy="1289685"/>
            <a:chOff x="0" y="0"/>
            <a:chExt cx="1079616" cy="339670"/>
          </a:xfrm>
        </p:grpSpPr>
        <p:sp>
          <p:nvSpPr>
            <p:cNvPr name="Freeform 13" id="13"/>
            <p:cNvSpPr/>
            <p:nvPr/>
          </p:nvSpPr>
          <p:spPr>
            <a:xfrm flipH="false" flipV="false" rot="0">
              <a:off x="0" y="0"/>
              <a:ext cx="1079616" cy="339670"/>
            </a:xfrm>
            <a:custGeom>
              <a:avLst/>
              <a:gdLst/>
              <a:ahLst/>
              <a:cxnLst/>
              <a:rect r="r" b="b" t="t" l="l"/>
              <a:pathLst>
                <a:path h="339670" w="1079616">
                  <a:moveTo>
                    <a:pt x="0" y="0"/>
                  </a:moveTo>
                  <a:lnTo>
                    <a:pt x="1079616" y="0"/>
                  </a:lnTo>
                  <a:lnTo>
                    <a:pt x="1079616" y="339670"/>
                  </a:lnTo>
                  <a:lnTo>
                    <a:pt x="0" y="339670"/>
                  </a:lnTo>
                  <a:close/>
                </a:path>
              </a:pathLst>
            </a:custGeom>
            <a:solidFill>
              <a:srgbClr val="000000">
                <a:alpha val="0"/>
              </a:srgbClr>
            </a:solidFill>
            <a:ln w="19050" cap="sq">
              <a:solidFill>
                <a:srgbClr val="000000"/>
              </a:solidFill>
              <a:prstDash val="solid"/>
              <a:miter/>
            </a:ln>
          </p:spPr>
        </p:sp>
        <p:sp>
          <p:nvSpPr>
            <p:cNvPr name="TextBox 14" id="14"/>
            <p:cNvSpPr txBox="true"/>
            <p:nvPr/>
          </p:nvSpPr>
          <p:spPr>
            <a:xfrm>
              <a:off x="0" y="-161925"/>
              <a:ext cx="1079616" cy="501595"/>
            </a:xfrm>
            <a:prstGeom prst="rect">
              <a:avLst/>
            </a:prstGeom>
          </p:spPr>
          <p:txBody>
            <a:bodyPr anchor="ctr" rtlCol="false" tIns="50800" lIns="50800" bIns="50800" rIns="50800"/>
            <a:lstStyle/>
            <a:p>
              <a:pPr algn="ctr">
                <a:lnSpc>
                  <a:spcPts val="4499"/>
                </a:lnSpc>
              </a:pPr>
              <a:r>
                <a:rPr lang="en-US" sz="2499" b="true">
                  <a:solidFill>
                    <a:srgbClr val="000000"/>
                  </a:solidFill>
                  <a:latin typeface="Poppins Bold"/>
                  <a:ea typeface="Poppins Bold"/>
                  <a:cs typeface="Poppins Bold"/>
                  <a:sym typeface="Poppins Bold"/>
                </a:rPr>
                <a:t>Cats and Dogs</a:t>
              </a:r>
            </a:p>
            <a:p>
              <a:pPr algn="ctr">
                <a:lnSpc>
                  <a:spcPts val="4499"/>
                </a:lnSpc>
              </a:pPr>
              <a:r>
                <a:rPr lang="en-US" sz="2499" u="sng">
                  <a:solidFill>
                    <a:srgbClr val="000000"/>
                  </a:solidFill>
                  <a:latin typeface="Poppins"/>
                  <a:ea typeface="Poppins"/>
                  <a:cs typeface="Poppins"/>
                  <a:sym typeface="Poppins"/>
                  <a:hlinkClick r:id="rId4" tooltip="https://colab.research.google.com/drive/1SpsPHMuXGLc98FCS3p07Y2au7uWG8ZQE"/>
                </a:rPr>
                <a:t>CÓDIGO</a:t>
              </a:r>
            </a:p>
          </p:txBody>
        </p:sp>
      </p:grpSp>
      <p:sp>
        <p:nvSpPr>
          <p:cNvPr name="Freeform 15" id="15"/>
          <p:cNvSpPr/>
          <p:nvPr/>
        </p:nvSpPr>
        <p:spPr>
          <a:xfrm flipH="false" flipV="false" rot="0">
            <a:off x="2765996" y="5407332"/>
            <a:ext cx="4664769" cy="3601305"/>
          </a:xfrm>
          <a:custGeom>
            <a:avLst/>
            <a:gdLst/>
            <a:ahLst/>
            <a:cxnLst/>
            <a:rect r="r" b="b" t="t" l="l"/>
            <a:pathLst>
              <a:path h="3601305" w="4664769">
                <a:moveTo>
                  <a:pt x="0" y="0"/>
                </a:moveTo>
                <a:lnTo>
                  <a:pt x="4664768" y="0"/>
                </a:lnTo>
                <a:lnTo>
                  <a:pt x="4664768" y="3601306"/>
                </a:lnTo>
                <a:lnTo>
                  <a:pt x="0" y="3601306"/>
                </a:lnTo>
                <a:lnTo>
                  <a:pt x="0" y="0"/>
                </a:lnTo>
                <a:close/>
              </a:path>
            </a:pathLst>
          </a:custGeom>
          <a:blipFill>
            <a:blip r:embed="rId5"/>
            <a:stretch>
              <a:fillRect l="0" t="0" r="0" b="0"/>
            </a:stretch>
          </a:blipFill>
        </p:spPr>
      </p:sp>
      <p:sp>
        <p:nvSpPr>
          <p:cNvPr name="Freeform 16" id="16"/>
          <p:cNvSpPr/>
          <p:nvPr/>
        </p:nvSpPr>
        <p:spPr>
          <a:xfrm flipH="false" flipV="false" rot="0">
            <a:off x="11098342" y="5407332"/>
            <a:ext cx="4174731" cy="3742112"/>
          </a:xfrm>
          <a:custGeom>
            <a:avLst/>
            <a:gdLst/>
            <a:ahLst/>
            <a:cxnLst/>
            <a:rect r="r" b="b" t="t" l="l"/>
            <a:pathLst>
              <a:path h="3742112" w="4174731">
                <a:moveTo>
                  <a:pt x="0" y="0"/>
                </a:moveTo>
                <a:lnTo>
                  <a:pt x="4174730" y="0"/>
                </a:lnTo>
                <a:lnTo>
                  <a:pt x="4174730" y="3742112"/>
                </a:lnTo>
                <a:lnTo>
                  <a:pt x="0" y="3742112"/>
                </a:lnTo>
                <a:lnTo>
                  <a:pt x="0" y="0"/>
                </a:lnTo>
                <a:close/>
              </a:path>
            </a:pathLst>
          </a:custGeom>
          <a:blipFill>
            <a:blip r:embed="rId6"/>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3810000" cy="872109"/>
            <a:chOff x="0" y="0"/>
            <a:chExt cx="5080000" cy="1162812"/>
          </a:xfrm>
        </p:grpSpPr>
        <p:sp>
          <p:nvSpPr>
            <p:cNvPr name="Freeform 3" id="3"/>
            <p:cNvSpPr/>
            <p:nvPr/>
          </p:nvSpPr>
          <p:spPr>
            <a:xfrm flipH="false" flipV="false" rot="0">
              <a:off x="0" y="0"/>
              <a:ext cx="5080000" cy="1162807"/>
            </a:xfrm>
            <a:custGeom>
              <a:avLst/>
              <a:gdLst/>
              <a:ahLst/>
              <a:cxnLst/>
              <a:rect r="r" b="b" t="t" l="l"/>
              <a:pathLst>
                <a:path h="1162807" w="5080000">
                  <a:moveTo>
                    <a:pt x="0" y="0"/>
                  </a:moveTo>
                  <a:lnTo>
                    <a:pt x="5080000" y="0"/>
                  </a:lnTo>
                  <a:lnTo>
                    <a:pt x="5080000" y="1162807"/>
                  </a:lnTo>
                  <a:lnTo>
                    <a:pt x="0" y="1162807"/>
                  </a:lnTo>
                  <a:close/>
                </a:path>
              </a:pathLst>
            </a:custGeom>
            <a:solidFill>
              <a:srgbClr val="000000">
                <a:alpha val="0"/>
              </a:srgbClr>
            </a:solidFill>
            <a:ln w="12700">
              <a:solidFill>
                <a:srgbClr val="000000"/>
              </a:solidFill>
            </a:ln>
          </p:spPr>
        </p:sp>
        <p:sp>
          <p:nvSpPr>
            <p:cNvPr name="TextBox 4" id="4"/>
            <p:cNvSpPr txBox="true"/>
            <p:nvPr/>
          </p:nvSpPr>
          <p:spPr>
            <a:xfrm>
              <a:off x="0" y="-38100"/>
              <a:ext cx="5080000" cy="1200912"/>
            </a:xfrm>
            <a:prstGeom prst="rect">
              <a:avLst/>
            </a:prstGeom>
          </p:spPr>
          <p:txBody>
            <a:bodyPr anchor="b" rtlCol="false" tIns="0" lIns="0" bIns="0" rIns="0"/>
            <a:lstStyle/>
            <a:p>
              <a:pPr algn="l">
                <a:lnSpc>
                  <a:spcPts val="4200"/>
                </a:lnSpc>
              </a:pPr>
              <a:r>
                <a:rPr lang="en-US" sz="3500" b="true">
                  <a:solidFill>
                    <a:srgbClr val="000000"/>
                  </a:solidFill>
                  <a:latin typeface="Poppins Bold"/>
                  <a:ea typeface="Poppins Bold"/>
                  <a:cs typeface="Poppins Bold"/>
                  <a:sym typeface="Poppins Bold"/>
                </a:rPr>
                <a:t>Referências</a:t>
              </a:r>
            </a:p>
          </p:txBody>
        </p:sp>
      </p:grpSp>
      <p:sp>
        <p:nvSpPr>
          <p:cNvPr name="TextBox 5" id="5"/>
          <p:cNvSpPr txBox="true"/>
          <p:nvPr/>
        </p:nvSpPr>
        <p:spPr>
          <a:xfrm rot="0">
            <a:off x="1028700" y="1984403"/>
            <a:ext cx="16230600" cy="5019675"/>
          </a:xfrm>
          <a:prstGeom prst="rect">
            <a:avLst/>
          </a:prstGeom>
        </p:spPr>
        <p:txBody>
          <a:bodyPr anchor="t" rtlCol="false" tIns="0" lIns="0" bIns="0" rIns="0">
            <a:spAutoFit/>
          </a:bodyPr>
          <a:lstStyle/>
          <a:p>
            <a:pPr algn="just">
              <a:lnSpc>
                <a:spcPts val="4499"/>
              </a:lnSpc>
            </a:pPr>
            <a:r>
              <a:rPr lang="en-US" sz="2499">
                <a:solidFill>
                  <a:srgbClr val="000000"/>
                </a:solidFill>
                <a:latin typeface="Arial"/>
                <a:ea typeface="Arial"/>
                <a:cs typeface="Arial"/>
                <a:sym typeface="Arial"/>
              </a:rPr>
              <a:t>Inteligência computacional. SBIC, 2022. Disponível em: </a:t>
            </a:r>
            <a:r>
              <a:rPr lang="en-US" sz="2499" u="sng">
                <a:solidFill>
                  <a:srgbClr val="0097A7"/>
                </a:solidFill>
                <a:latin typeface="Arial"/>
                <a:ea typeface="Arial"/>
                <a:cs typeface="Arial"/>
                <a:sym typeface="Arial"/>
                <a:hlinkClick r:id="rId3" tooltip="https://sbic.org.br/inteligencia-computacional/"/>
              </a:rPr>
              <a:t>https://sbic.org.br/inteligencia-computacional/</a:t>
            </a:r>
            <a:r>
              <a:rPr lang="en-US" sz="2499">
                <a:solidFill>
                  <a:srgbClr val="000000"/>
                </a:solidFill>
                <a:latin typeface="Arial"/>
                <a:ea typeface="Arial"/>
                <a:cs typeface="Arial"/>
                <a:sym typeface="Arial"/>
              </a:rPr>
              <a:t>. Acesso em: 20/10/2022.</a:t>
            </a:r>
          </a:p>
          <a:p>
            <a:pPr algn="just">
              <a:lnSpc>
                <a:spcPts val="4499"/>
              </a:lnSpc>
            </a:pPr>
          </a:p>
          <a:p>
            <a:pPr algn="just">
              <a:lnSpc>
                <a:spcPts val="4499"/>
              </a:lnSpc>
            </a:pPr>
            <a:r>
              <a:rPr lang="en-US" sz="2499">
                <a:solidFill>
                  <a:srgbClr val="000000"/>
                </a:solidFill>
                <a:latin typeface="Arial"/>
                <a:ea typeface="Arial"/>
                <a:cs typeface="Arial"/>
                <a:sym typeface="Arial"/>
              </a:rPr>
              <a:t>A. C. P. F. de Carvalho. Título: Redes Neurais Artificiais. Disponível em: </a:t>
            </a:r>
            <a:r>
              <a:rPr lang="en-US" sz="2499" u="sng">
                <a:solidFill>
                  <a:srgbClr val="0097A7"/>
                </a:solidFill>
                <a:latin typeface="Arial"/>
                <a:ea typeface="Arial"/>
                <a:cs typeface="Arial"/>
                <a:sym typeface="Arial"/>
                <a:hlinkClick r:id="rId4" tooltip="https://sites.icmc.usp.br/andre/research/neural/"/>
              </a:rPr>
              <a:t>https://sites.icmc.usp.br/andre/research/neural/</a:t>
            </a:r>
            <a:r>
              <a:rPr lang="en-US" sz="2499">
                <a:solidFill>
                  <a:srgbClr val="000000"/>
                </a:solidFill>
                <a:latin typeface="Arial"/>
                <a:ea typeface="Arial"/>
                <a:cs typeface="Arial"/>
                <a:sym typeface="Arial"/>
              </a:rPr>
              <a:t>. Acesso em: 20/10/2022.</a:t>
            </a:r>
          </a:p>
          <a:p>
            <a:pPr algn="just">
              <a:lnSpc>
                <a:spcPts val="4499"/>
              </a:lnSpc>
            </a:pPr>
          </a:p>
          <a:p>
            <a:pPr algn="l">
              <a:lnSpc>
                <a:spcPts val="4499"/>
              </a:lnSpc>
            </a:pPr>
            <a:r>
              <a:rPr lang="en-US" sz="2499">
                <a:solidFill>
                  <a:srgbClr val="000000"/>
                </a:solidFill>
                <a:latin typeface="Arial"/>
                <a:ea typeface="Arial"/>
                <a:cs typeface="Arial"/>
                <a:sym typeface="Arial"/>
              </a:rPr>
              <a:t>Rodrigues, Victor. Título: Métricas de Avaliação: acurácia, precisão, recall… quais as diferenças?. Disponível em: </a:t>
            </a:r>
            <a:r>
              <a:rPr lang="en-US" sz="2499" u="sng">
                <a:solidFill>
                  <a:srgbClr val="0097A7"/>
                </a:solidFill>
                <a:latin typeface="Arial"/>
                <a:ea typeface="Arial"/>
                <a:cs typeface="Arial"/>
                <a:sym typeface="Arial"/>
                <a:hlinkClick r:id="rId5" tooltip="https://vitorborbarodrigues.medium.com/m%C3%A9tricas-de-avalia%C3%A7%C3%A3o-acur%C3%A1cia-precis%C3%A3o-recall-quais-as-diferen%C3%A7as-c8f05e0a513c"/>
              </a:rPr>
              <a:t>https://vitorborbarodrigues.medium.com/m%C3%A9tricas-de-avalia%C3%A7%C3%A3o-acur%C3%A1cia-precis%C3%A3o-recall-quais-as-diferen%C3%A7as-c8f05e0a513c</a:t>
            </a:r>
            <a:r>
              <a:rPr lang="en-US" sz="2499">
                <a:solidFill>
                  <a:srgbClr val="000000"/>
                </a:solidFill>
                <a:latin typeface="Arial"/>
                <a:ea typeface="Arial"/>
                <a:cs typeface="Arial"/>
                <a:sym typeface="Arial"/>
              </a:rPr>
              <a:t>. Acesso em: 20/10/2022.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DAG9qlBL4mM</dc:identifier>
  <dcterms:modified xsi:type="dcterms:W3CDTF">2011-08-01T06:04:30Z</dcterms:modified>
  <cp:revision>1</cp:revision>
  <dc:title>Aula 2 - Redes Neurais.pptx</dc:title>
</cp:coreProperties>
</file>