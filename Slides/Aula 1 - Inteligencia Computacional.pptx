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5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</p:sldIdLst>
  <p:sldSz cx="18288000" cy="10287000"/>
  <p:notesSz cx="6858000" cy="9144000"/>
  <p:embeddedFontLst>
    <p:embeddedFont>
      <p:font typeface="Poppins Bold" charset="1" panose="00000800000000000000"/>
      <p:regular r:id="rId55"/>
    </p:embeddedFont>
    <p:embeddedFont>
      <p:font typeface="Poppins Light" charset="1" panose="00000400000000000000"/>
      <p:regular r:id="rId56"/>
    </p:embeddedFont>
    <p:embeddedFont>
      <p:font typeface="Poppins" charset="1" panose="00000500000000000000"/>
      <p:regular r:id="rId5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00" Target="notesSlides/notesSlide44.xml" Type="http://schemas.openxmlformats.org/officeDocument/2006/relationships/notesSlide"/><Relationship Id="rId101" Target="notesSlides/notesSlide45.xml" Type="http://schemas.openxmlformats.org/officeDocument/2006/relationships/notesSlide"/><Relationship Id="rId102" Target="notesSlides/notesSlide46.xml" Type="http://schemas.openxmlformats.org/officeDocument/2006/relationships/notes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notesMasters/notesMaster1.xml" Type="http://schemas.openxmlformats.org/officeDocument/2006/relationships/notesMaster"/><Relationship Id="rId53" Target="theme/theme2.xml" Type="http://schemas.openxmlformats.org/officeDocument/2006/relationships/theme"/><Relationship Id="rId54" Target="notesSlides/notesSlide1.xml" Type="http://schemas.openxmlformats.org/officeDocument/2006/relationships/notesSlide"/><Relationship Id="rId55" Target="fonts/font55.fntdata" Type="http://schemas.openxmlformats.org/officeDocument/2006/relationships/font"/><Relationship Id="rId56" Target="fonts/font56.fntdata" Type="http://schemas.openxmlformats.org/officeDocument/2006/relationships/font"/><Relationship Id="rId57" Target="notesSlides/notesSlide2.xml" Type="http://schemas.openxmlformats.org/officeDocument/2006/relationships/notesSlide"/><Relationship Id="rId58" Target="fonts/font58.fntdata" Type="http://schemas.openxmlformats.org/officeDocument/2006/relationships/font"/><Relationship Id="rId59" Target="notesSlides/notesSlide3.xml" Type="http://schemas.openxmlformats.org/officeDocument/2006/relationships/notesSlide"/><Relationship Id="rId6" Target="slides/slide1.xml" Type="http://schemas.openxmlformats.org/officeDocument/2006/relationships/slide"/><Relationship Id="rId60" Target="notesSlides/notesSlide4.xml" Type="http://schemas.openxmlformats.org/officeDocument/2006/relationships/notesSlide"/><Relationship Id="rId61" Target="notesSlides/notesSlide5.xml" Type="http://schemas.openxmlformats.org/officeDocument/2006/relationships/notesSlide"/><Relationship Id="rId62" Target="notesSlides/notesSlide6.xml" Type="http://schemas.openxmlformats.org/officeDocument/2006/relationships/notesSlide"/><Relationship Id="rId63" Target="notesSlides/notesSlide7.xml" Type="http://schemas.openxmlformats.org/officeDocument/2006/relationships/notesSlide"/><Relationship Id="rId64" Target="notesSlides/notesSlide8.xml" Type="http://schemas.openxmlformats.org/officeDocument/2006/relationships/notesSlide"/><Relationship Id="rId65" Target="notesSlides/notesSlide9.xml" Type="http://schemas.openxmlformats.org/officeDocument/2006/relationships/notesSlide"/><Relationship Id="rId66" Target="notesSlides/notesSlide10.xml" Type="http://schemas.openxmlformats.org/officeDocument/2006/relationships/notesSlide"/><Relationship Id="rId67" Target="notesSlides/notesSlide11.xml" Type="http://schemas.openxmlformats.org/officeDocument/2006/relationships/notesSlide"/><Relationship Id="rId68" Target="notesSlides/notesSlide12.xml" Type="http://schemas.openxmlformats.org/officeDocument/2006/relationships/notesSlide"/><Relationship Id="rId69" Target="notesSlides/notesSlide13.xml" Type="http://schemas.openxmlformats.org/officeDocument/2006/relationships/notesSlide"/><Relationship Id="rId7" Target="slides/slide2.xml" Type="http://schemas.openxmlformats.org/officeDocument/2006/relationships/slide"/><Relationship Id="rId70" Target="notesSlides/notesSlide14.xml" Type="http://schemas.openxmlformats.org/officeDocument/2006/relationships/notesSlide"/><Relationship Id="rId71" Target="notesSlides/notesSlide15.xml" Type="http://schemas.openxmlformats.org/officeDocument/2006/relationships/notesSlide"/><Relationship Id="rId72" Target="notesSlides/notesSlide16.xml" Type="http://schemas.openxmlformats.org/officeDocument/2006/relationships/notesSlide"/><Relationship Id="rId73" Target="notesSlides/notesSlide17.xml" Type="http://schemas.openxmlformats.org/officeDocument/2006/relationships/notesSlide"/><Relationship Id="rId74" Target="notesSlides/notesSlide18.xml" Type="http://schemas.openxmlformats.org/officeDocument/2006/relationships/notesSlide"/><Relationship Id="rId75" Target="notesSlides/notesSlide19.xml" Type="http://schemas.openxmlformats.org/officeDocument/2006/relationships/notesSlide"/><Relationship Id="rId76" Target="notesSlides/notesSlide20.xml" Type="http://schemas.openxmlformats.org/officeDocument/2006/relationships/notesSlide"/><Relationship Id="rId77" Target="notesSlides/notesSlide21.xml" Type="http://schemas.openxmlformats.org/officeDocument/2006/relationships/notesSlide"/><Relationship Id="rId78" Target="notesSlides/notesSlide22.xml" Type="http://schemas.openxmlformats.org/officeDocument/2006/relationships/notesSlide"/><Relationship Id="rId79" Target="notesSlides/notesSlide23.xml" Type="http://schemas.openxmlformats.org/officeDocument/2006/relationships/notesSlide"/><Relationship Id="rId8" Target="slides/slide3.xml" Type="http://schemas.openxmlformats.org/officeDocument/2006/relationships/slide"/><Relationship Id="rId80" Target="notesSlides/notesSlide24.xml" Type="http://schemas.openxmlformats.org/officeDocument/2006/relationships/notesSlide"/><Relationship Id="rId81" Target="notesSlides/notesSlide25.xml" Type="http://schemas.openxmlformats.org/officeDocument/2006/relationships/notesSlide"/><Relationship Id="rId82" Target="notesSlides/notesSlide26.xml" Type="http://schemas.openxmlformats.org/officeDocument/2006/relationships/notesSlide"/><Relationship Id="rId83" Target="notesSlides/notesSlide27.xml" Type="http://schemas.openxmlformats.org/officeDocument/2006/relationships/notesSlide"/><Relationship Id="rId84" Target="notesSlides/notesSlide28.xml" Type="http://schemas.openxmlformats.org/officeDocument/2006/relationships/notesSlide"/><Relationship Id="rId85" Target="notesSlides/notesSlide29.xml" Type="http://schemas.openxmlformats.org/officeDocument/2006/relationships/notesSlide"/><Relationship Id="rId86" Target="notesSlides/notesSlide30.xml" Type="http://schemas.openxmlformats.org/officeDocument/2006/relationships/notesSlide"/><Relationship Id="rId87" Target="notesSlides/notesSlide31.xml" Type="http://schemas.openxmlformats.org/officeDocument/2006/relationships/notesSlide"/><Relationship Id="rId88" Target="notesSlides/notesSlide32.xml" Type="http://schemas.openxmlformats.org/officeDocument/2006/relationships/notesSlide"/><Relationship Id="rId89" Target="notesSlides/notesSlide33.xml" Type="http://schemas.openxmlformats.org/officeDocument/2006/relationships/notesSlide"/><Relationship Id="rId9" Target="slides/slide4.xml" Type="http://schemas.openxmlformats.org/officeDocument/2006/relationships/slide"/><Relationship Id="rId90" Target="notesSlides/notesSlide34.xml" Type="http://schemas.openxmlformats.org/officeDocument/2006/relationships/notesSlide"/><Relationship Id="rId91" Target="notesSlides/notesSlide35.xml" Type="http://schemas.openxmlformats.org/officeDocument/2006/relationships/notesSlide"/><Relationship Id="rId92" Target="notesSlides/notesSlide36.xml" Type="http://schemas.openxmlformats.org/officeDocument/2006/relationships/notesSlide"/><Relationship Id="rId93" Target="notesSlides/notesSlide37.xml" Type="http://schemas.openxmlformats.org/officeDocument/2006/relationships/notesSlide"/><Relationship Id="rId94" Target="notesSlides/notesSlide38.xml" Type="http://schemas.openxmlformats.org/officeDocument/2006/relationships/notesSlide"/><Relationship Id="rId95" Target="notesSlides/notesSlide39.xml" Type="http://schemas.openxmlformats.org/officeDocument/2006/relationships/notesSlide"/><Relationship Id="rId96" Target="notesSlides/notesSlide40.xml" Type="http://schemas.openxmlformats.org/officeDocument/2006/relationships/notesSlide"/><Relationship Id="rId97" Target="notesSlides/notesSlide41.xml" Type="http://schemas.openxmlformats.org/officeDocument/2006/relationships/notesSlide"/><Relationship Id="rId98" Target="notesSlides/notesSlide42.xml" Type="http://schemas.openxmlformats.org/officeDocument/2006/relationships/notesSlide"/><Relationship Id="rId99" Target="notesSlides/notesSlide43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_rels/notesSlide3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0.xml" Type="http://schemas.openxmlformats.org/officeDocument/2006/relationships/slide"/></Relationships>
</file>

<file path=ppt/notesSlides/_rels/notesSlide3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1.xml" Type="http://schemas.openxmlformats.org/officeDocument/2006/relationships/slide"/></Relationships>
</file>

<file path=ppt/notesSlides/_rels/notesSlide3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2.xml" Type="http://schemas.openxmlformats.org/officeDocument/2006/relationships/slide"/></Relationships>
</file>

<file path=ppt/notesSlides/_rels/notesSlide3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3.xml" Type="http://schemas.openxmlformats.org/officeDocument/2006/relationships/slide"/></Relationships>
</file>

<file path=ppt/notesSlides/_rels/notesSlide3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4.xml" Type="http://schemas.openxmlformats.org/officeDocument/2006/relationships/slide"/></Relationships>
</file>

<file path=ppt/notesSlides/_rels/notesSlide3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5.xml" Type="http://schemas.openxmlformats.org/officeDocument/2006/relationships/slide"/></Relationships>
</file>

<file path=ppt/notesSlides/_rels/notesSlide3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6.xml" Type="http://schemas.openxmlformats.org/officeDocument/2006/relationships/slide"/></Relationships>
</file>

<file path=ppt/notesSlides/_rels/notesSlide3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7.xml" Type="http://schemas.openxmlformats.org/officeDocument/2006/relationships/slide"/></Relationships>
</file>

<file path=ppt/notesSlides/_rels/notesSlide3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8.xml" Type="http://schemas.openxmlformats.org/officeDocument/2006/relationships/slide"/></Relationships>
</file>

<file path=ppt/notesSlides/_rels/notesSlide3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9.xml" Type="http://schemas.openxmlformats.org/officeDocument/2006/relationships/slide"/></Relationships>
</file>

<file path=ppt/notesSlides/_rels/notesSlide4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0.xml" Type="http://schemas.openxmlformats.org/officeDocument/2006/relationships/slide"/></Relationships>
</file>

<file path=ppt/notesSlides/_rels/notesSlide4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1.xml" Type="http://schemas.openxmlformats.org/officeDocument/2006/relationships/slide"/></Relationships>
</file>

<file path=ppt/notesSlides/_rels/notesSlide4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2.xml" Type="http://schemas.openxmlformats.org/officeDocument/2006/relationships/slide"/></Relationships>
</file>

<file path=ppt/notesSlides/_rels/notesSlide4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3.xml" Type="http://schemas.openxmlformats.org/officeDocument/2006/relationships/slide"/></Relationships>
</file>

<file path=ppt/notesSlides/_rels/notesSlide4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4.xml" Type="http://schemas.openxmlformats.org/officeDocument/2006/relationships/slide"/></Relationships>
</file>

<file path=ppt/notesSlides/_rels/notesSlide4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5.xml" Type="http://schemas.openxmlformats.org/officeDocument/2006/relationships/slide"/></Relationships>
</file>

<file path=ppt/notesSlides/_rels/notesSlide4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https://rainy-faucet-ba5.notion.site/Monitoria-IA-28267395db404de195bb97411fd6abae?pvs=4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3.png" Type="http://schemas.openxmlformats.org/officeDocument/2006/relationships/image"/><Relationship Id="rId7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6.png" Type="http://schemas.openxmlformats.org/officeDocument/2006/relationships/image"/><Relationship Id="rId4" Target="https://colab.research.google.com/drive/1iGf5Z37QZ5BqTZnR7su2l53KgQGREt_b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https://colab.research.google.com/drive/1HQEFUmt_f7JImWOqeOfB2QMDNageOh3M" TargetMode="External" Type="http://schemas.openxmlformats.org/officeDocument/2006/relationships/hyperlink"/><Relationship Id="rId4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https://colab.research.google.com/drive/1fDDbbVhAzIL71QBXXzow8mXNvGs-2Xe-" TargetMode="External" Type="http://schemas.openxmlformats.org/officeDocument/2006/relationships/hyperlink"/><Relationship Id="rId4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https://colab.research.google.com/drive/1l3cLx-i38WOVRe3FK2iFy9XrEGyQQ88I" TargetMode="External" Type="http://schemas.openxmlformats.org/officeDocument/2006/relationships/hyperlink"/><Relationship Id="rId4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https://colab.research.google.com/drive/12CKK4RXeQRbEaRcjcTAcaIHvxM230A4F" TargetMode="External" Type="http://schemas.openxmlformats.org/officeDocument/2006/relationships/hyperlink"/><Relationship Id="rId4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https://colab.research.google.com/drive/1rvwXSd5ycZe74Sqy_QosBPcPS464SHLE" TargetMode="External" Type="http://schemas.openxmlformats.org/officeDocument/2006/relationships/hyperlink"/><Relationship Id="rId4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https://colab.research.google.com/drive/1sng2MwGqAzXw1f6WC0zYPCGXfbNfJs4p" TargetMode="External" Type="http://schemas.openxmlformats.org/officeDocument/2006/relationships/hyperlink"/><Relationship Id="rId4" Target="../media/image1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https://colab.research.google.com/drive/1S5rAm47BajFoYC_cc14QyRO_JJU0EjtN" TargetMode="External" Type="http://schemas.openxmlformats.org/officeDocument/2006/relationships/hyperlink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16.png" Type="http://schemas.openxmlformats.org/officeDocument/2006/relationships/image"/><Relationship Id="rId4" Target="https://colab.research.google.com/drive/1Kio4oejaNvffUMAtfsa6Pi4L7KegV0NO" TargetMode="External" Type="http://schemas.openxmlformats.org/officeDocument/2006/relationships/hyperlink"/><Relationship Id="rId5" Target="https://colab.research.google.com/drive/1zDhZvtEY7HA8b-iiu2h_jUD7Lfeurjq_" TargetMode="External" Type="http://schemas.openxmlformats.org/officeDocument/2006/relationships/hyperlink"/><Relationship Id="rId6" Target="https://colab.research.google.com/drive/15oNWp3By82l7DgSCZYhH7KKyyeRHWhdc" TargetMode="External" Type="http://schemas.openxmlformats.org/officeDocument/2006/relationships/hyperlink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17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18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https://colab.research.google.com/drive/1rki3taZCzhBoiEP8SdRthFIuxiJuAkmR" TargetMode="External" Type="http://schemas.openxmlformats.org/officeDocument/2006/relationships/hyperlink"/><Relationship Id="rId4" Target="../media/image19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20.pn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Relationship Id="rId3" Target="../media/image22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Relationship Id="rId3" Target="../media/image23.png" Type="http://schemas.openxmlformats.org/officeDocument/2006/relationships/image"/><Relationship Id="rId4" Target="../media/image24.png" Type="http://schemas.openxmlformats.org/officeDocument/2006/relationships/image"/><Relationship Id="rId5" Target="https://colab.research.google.com/drive/1KQCa2sssDth0R4j7685y_Oqip9YGnItU" TargetMode="External" Type="http://schemas.openxmlformats.org/officeDocument/2006/relationships/hyperlink"/><Relationship Id="rId6" Target="https://colab.research.google.com/drive/1tb3XOTExx-46S1rRPB9s5IxRT9DB-RNK" TargetMode="External" Type="http://schemas.openxmlformats.org/officeDocument/2006/relationships/hyperlink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Relationship Id="rId3" Target="../media/image25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6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7.xml" Type="http://schemas.openxmlformats.org/officeDocument/2006/relationships/notesSlide"/><Relationship Id="rId3" Target="../media/image26.png" Type="http://schemas.openxmlformats.org/officeDocument/2006/relationships/image"/><Relationship Id="rId4" Target="https://colab.research.google.com/drive/19H0GgsUDjSEI9tcpiq7zmrC8SmlYJYiV" TargetMode="External" Type="http://schemas.openxmlformats.org/officeDocument/2006/relationships/hyperlink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8.xml" Type="http://schemas.openxmlformats.org/officeDocument/2006/relationships/notesSlid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9.xml" Type="http://schemas.openxmlformats.org/officeDocument/2006/relationships/notesSlid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0.xml" Type="http://schemas.openxmlformats.org/officeDocument/2006/relationships/notesSlide"/><Relationship Id="rId3" Target="../media/image27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1.xml" Type="http://schemas.openxmlformats.org/officeDocument/2006/relationships/notesSlid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2.xml" Type="http://schemas.openxmlformats.org/officeDocument/2006/relationships/notesSlid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3.xml" Type="http://schemas.openxmlformats.org/officeDocument/2006/relationships/notesSlide"/><Relationship Id="rId3" Target="../media/image28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4.xml" Type="http://schemas.openxmlformats.org/officeDocument/2006/relationships/notesSlide"/><Relationship Id="rId3" Target="../media/image28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5.xml" Type="http://schemas.openxmlformats.org/officeDocument/2006/relationships/notesSlide"/><Relationship Id="rId3" Target="../media/image28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6.xml" Type="http://schemas.openxmlformats.org/officeDocument/2006/relationships/notesSlide"/><Relationship Id="rId3" Target="../media/image28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7.xml" Type="http://schemas.openxmlformats.org/officeDocument/2006/relationships/notesSlide"/><Relationship Id="rId3" Target="../media/image28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8.xml" Type="http://schemas.openxmlformats.org/officeDocument/2006/relationships/notesSlide"/><Relationship Id="rId3" Target="../media/image29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9.xml" Type="http://schemas.openxmlformats.org/officeDocument/2006/relationships/notesSlid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0.xml" Type="http://schemas.openxmlformats.org/officeDocument/2006/relationships/notesSlide"/><Relationship Id="rId3" Target="../media/image30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1.xml" Type="http://schemas.openxmlformats.org/officeDocument/2006/relationships/notesSlide"/><Relationship Id="rId3" Target="../media/image30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2.xml" Type="http://schemas.openxmlformats.org/officeDocument/2006/relationships/notesSlide"/><Relationship Id="rId3" Target="../media/image30.pn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3.xml" Type="http://schemas.openxmlformats.org/officeDocument/2006/relationships/notesSlid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4.xml" Type="http://schemas.openxmlformats.org/officeDocument/2006/relationships/notesSlide"/><Relationship Id="rId3" Target="../media/image31.pn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5.xml" Type="http://schemas.openxmlformats.org/officeDocument/2006/relationships/notesSlide"/><Relationship Id="rId3" Target="../media/image31.pn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6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144000" cy="10287000"/>
          </a:xfrm>
          <a:custGeom>
            <a:avLst/>
            <a:gdLst/>
            <a:ahLst/>
            <a:cxnLst/>
            <a:rect r="r" b="b" t="t" l="l"/>
            <a:pathLst>
              <a:path h="10287000" w="9144000">
                <a:moveTo>
                  <a:pt x="0" y="0"/>
                </a:moveTo>
                <a:lnTo>
                  <a:pt x="9144000" y="0"/>
                </a:lnTo>
                <a:lnTo>
                  <a:pt x="9144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6223" r="-5978" b="-1622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0" y="855135"/>
            <a:ext cx="8115300" cy="2791968"/>
            <a:chOff x="0" y="0"/>
            <a:chExt cx="10820400" cy="372262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820395" cy="3722619"/>
            </a:xfrm>
            <a:custGeom>
              <a:avLst/>
              <a:gdLst/>
              <a:ahLst/>
              <a:cxnLst/>
              <a:rect r="r" b="b" t="t" l="l"/>
              <a:pathLst>
                <a:path h="3722619" w="10820395">
                  <a:moveTo>
                    <a:pt x="0" y="0"/>
                  </a:moveTo>
                  <a:lnTo>
                    <a:pt x="10820395" y="0"/>
                  </a:lnTo>
                  <a:lnTo>
                    <a:pt x="10820395" y="3722619"/>
                  </a:lnTo>
                  <a:lnTo>
                    <a:pt x="0" y="37226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0820400" cy="3789299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r">
                <a:lnSpc>
                  <a:spcPts val="8400"/>
                </a:lnSpc>
              </a:pPr>
              <a:r>
                <a:rPr lang="en-US" b="true" sz="70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INTELIGÊNCIA COMPUTACIONAL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389459" y="6667500"/>
            <a:ext cx="6869841" cy="2590800"/>
            <a:chOff x="0" y="0"/>
            <a:chExt cx="9159789" cy="34544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8403385" cy="3540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Ryan Santana - Bes 2023</a:t>
              </a:r>
            </a:p>
            <a:p>
              <a:pPr algn="r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github.com/Ryan-S-S/Monitoria</a:t>
              </a:r>
            </a:p>
            <a:p>
              <a:pPr algn="r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Rafael Batista - Bes 2021</a:t>
              </a:r>
            </a:p>
            <a:p>
              <a:pPr algn="r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github.com/garotola/MonitoriaIA</a:t>
              </a:r>
            </a:p>
            <a:p>
              <a:pPr algn="r">
                <a:lnSpc>
                  <a:spcPts val="4200"/>
                </a:lnSpc>
              </a:pPr>
              <a:r>
                <a:rPr lang="en-US" sz="3000" u="sng">
                  <a:solidFill>
                    <a:srgbClr val="04165D"/>
                  </a:solidFill>
                  <a:latin typeface="Poppins Light"/>
                  <a:ea typeface="Poppins Light"/>
                  <a:cs typeface="Poppins Light"/>
                  <a:sym typeface="Poppins Light"/>
                  <a:hlinkClick r:id="rId4" tooltip="https://rainy-faucet-ba5.notion.site/Monitoria-IA-28267395db404de195bb97411fd6abae?pvs=4"/>
                </a:rPr>
                <a:t>Notion</a:t>
              </a:r>
            </a:p>
          </p:txBody>
        </p:sp>
        <p:sp>
          <p:nvSpPr>
            <p:cNvPr name="Freeform 8" id="8"/>
            <p:cNvSpPr/>
            <p:nvPr/>
          </p:nvSpPr>
          <p:spPr>
            <a:xfrm flipH="false" flipV="false" rot="0">
              <a:off x="8554253" y="2136648"/>
              <a:ext cx="605536" cy="605536"/>
            </a:xfrm>
            <a:custGeom>
              <a:avLst/>
              <a:gdLst/>
              <a:ahLst/>
              <a:cxnLst/>
              <a:rect r="r" b="b" t="t" l="l"/>
              <a:pathLst>
                <a:path h="605536" w="605536">
                  <a:moveTo>
                    <a:pt x="0" y="0"/>
                  </a:moveTo>
                  <a:lnTo>
                    <a:pt x="605536" y="0"/>
                  </a:lnTo>
                  <a:lnTo>
                    <a:pt x="605536" y="605536"/>
                  </a:lnTo>
                  <a:lnTo>
                    <a:pt x="0" y="6055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8554253" y="1424432"/>
              <a:ext cx="605536" cy="605536"/>
            </a:xfrm>
            <a:custGeom>
              <a:avLst/>
              <a:gdLst/>
              <a:ahLst/>
              <a:cxnLst/>
              <a:rect r="r" b="b" t="t" l="l"/>
              <a:pathLst>
                <a:path h="605536" w="605536">
                  <a:moveTo>
                    <a:pt x="0" y="0"/>
                  </a:moveTo>
                  <a:lnTo>
                    <a:pt x="605536" y="0"/>
                  </a:lnTo>
                  <a:lnTo>
                    <a:pt x="605536" y="605536"/>
                  </a:lnTo>
                  <a:lnTo>
                    <a:pt x="0" y="6055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8554253" y="2843784"/>
              <a:ext cx="605536" cy="605536"/>
            </a:xfrm>
            <a:custGeom>
              <a:avLst/>
              <a:gdLst/>
              <a:ahLst/>
              <a:cxnLst/>
              <a:rect r="r" b="b" t="t" l="l"/>
              <a:pathLst>
                <a:path h="605536" w="605536">
                  <a:moveTo>
                    <a:pt x="0" y="0"/>
                  </a:moveTo>
                  <a:lnTo>
                    <a:pt x="605536" y="0"/>
                  </a:lnTo>
                  <a:lnTo>
                    <a:pt x="605536" y="605536"/>
                  </a:lnTo>
                  <a:lnTo>
                    <a:pt x="0" y="6055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8554253" y="712216"/>
              <a:ext cx="605536" cy="605536"/>
            </a:xfrm>
            <a:custGeom>
              <a:avLst/>
              <a:gdLst/>
              <a:ahLst/>
              <a:cxnLst/>
              <a:rect r="r" b="b" t="t" l="l"/>
              <a:pathLst>
                <a:path h="605536" w="605536">
                  <a:moveTo>
                    <a:pt x="0" y="0"/>
                  </a:moveTo>
                  <a:lnTo>
                    <a:pt x="605536" y="0"/>
                  </a:lnTo>
                  <a:lnTo>
                    <a:pt x="605536" y="605536"/>
                  </a:lnTo>
                  <a:lnTo>
                    <a:pt x="0" y="6055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8554253" y="0"/>
              <a:ext cx="605536" cy="605536"/>
            </a:xfrm>
            <a:custGeom>
              <a:avLst/>
              <a:gdLst/>
              <a:ahLst/>
              <a:cxnLst/>
              <a:rect r="r" b="b" t="t" l="l"/>
              <a:pathLst>
                <a:path h="605536" w="605536">
                  <a:moveTo>
                    <a:pt x="0" y="0"/>
                  </a:moveTo>
                  <a:lnTo>
                    <a:pt x="605536" y="0"/>
                  </a:lnTo>
                  <a:lnTo>
                    <a:pt x="605536" y="605536"/>
                  </a:lnTo>
                  <a:lnTo>
                    <a:pt x="0" y="6055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  <a:ln w="9525" cap="sq">
              <a:solidFill>
                <a:srgbClr val="000000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0"/>
            <a:ext cx="9144000" cy="10287000"/>
          </a:xfrm>
          <a:custGeom>
            <a:avLst/>
            <a:gdLst/>
            <a:ahLst/>
            <a:cxnLst/>
            <a:rect r="r" b="b" t="t" l="l"/>
            <a:pathLst>
              <a:path h="10287000" w="9144000">
                <a:moveTo>
                  <a:pt x="0" y="0"/>
                </a:moveTo>
                <a:lnTo>
                  <a:pt x="9144000" y="0"/>
                </a:lnTo>
                <a:lnTo>
                  <a:pt x="9144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6223" r="-5978" b="-16223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9144000" y="1028700"/>
            <a:ext cx="8591076" cy="1734693"/>
            <a:chOff x="0" y="0"/>
            <a:chExt cx="2262720" cy="4568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62720" cy="456872"/>
            </a:xfrm>
            <a:custGeom>
              <a:avLst/>
              <a:gdLst/>
              <a:ahLst/>
              <a:cxnLst/>
              <a:rect r="r" b="b" t="t" l="l"/>
              <a:pathLst>
                <a:path h="456872" w="2262720">
                  <a:moveTo>
                    <a:pt x="2262720" y="16221"/>
                  </a:moveTo>
                  <a:lnTo>
                    <a:pt x="2262720" y="440651"/>
                  </a:lnTo>
                  <a:cubicBezTo>
                    <a:pt x="2262720" y="449610"/>
                    <a:pt x="2255457" y="456872"/>
                    <a:pt x="2246499" y="456872"/>
                  </a:cubicBezTo>
                  <a:lnTo>
                    <a:pt x="16221" y="456872"/>
                  </a:lnTo>
                  <a:cubicBezTo>
                    <a:pt x="7262" y="456872"/>
                    <a:pt x="0" y="449610"/>
                    <a:pt x="0" y="440651"/>
                  </a:cubicBezTo>
                  <a:lnTo>
                    <a:pt x="0" y="16221"/>
                  </a:lnTo>
                  <a:cubicBezTo>
                    <a:pt x="0" y="7262"/>
                    <a:pt x="7262" y="0"/>
                    <a:pt x="16221" y="0"/>
                  </a:cubicBezTo>
                  <a:lnTo>
                    <a:pt x="2246499" y="0"/>
                  </a:lnTo>
                  <a:cubicBezTo>
                    <a:pt x="2255457" y="0"/>
                    <a:pt x="2262720" y="7262"/>
                    <a:pt x="2262720" y="16221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0000">
                    <a:alpha val="25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262720" cy="4949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866775"/>
            <a:ext cx="8115300" cy="6581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INTELIGÊNCIA ARTIFICIAL</a:t>
            </a:r>
          </a:p>
          <a:p>
            <a:pPr algn="l" marL="647700" indent="-323850" lvl="1">
              <a:lnSpc>
                <a:spcPts val="48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IA “CLÁSSICA”</a:t>
            </a:r>
          </a:p>
          <a:p>
            <a:pPr algn="l" marL="1079499" indent="-359833" lvl="2">
              <a:lnSpc>
                <a:spcPts val="3999"/>
              </a:lnSpc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ABORDAGEM SIMBÓLICA</a:t>
            </a:r>
          </a:p>
          <a:p>
            <a:pPr algn="l" marL="647700" indent="-323850" lvl="1">
              <a:lnSpc>
                <a:spcPts val="48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MODELOS MATEMÁTICOS</a:t>
            </a:r>
          </a:p>
          <a:p>
            <a:pPr algn="l" marL="1079499" indent="-359833" lvl="2">
              <a:lnSpc>
                <a:spcPts val="3999"/>
              </a:lnSpc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ABORDAGEM ESTATÍSTICA</a:t>
            </a:r>
          </a:p>
          <a:p>
            <a:pPr algn="l" marL="1079499" indent="-359833" lvl="2">
              <a:lnSpc>
                <a:spcPts val="3999"/>
              </a:lnSpc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ABORDAGEM GEOMÉTRICA</a:t>
            </a:r>
          </a:p>
          <a:p>
            <a:pPr algn="l" marL="1079499" indent="-359833" lvl="2">
              <a:lnSpc>
                <a:spcPts val="3999"/>
              </a:lnSpc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TEORIA DOS JOGOS</a:t>
            </a:r>
          </a:p>
          <a:p>
            <a:pPr algn="l" marL="647700" indent="-323850" lvl="1">
              <a:lnSpc>
                <a:spcPts val="48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INTELIGÊNCIA COMPUTACIONAL</a:t>
            </a:r>
          </a:p>
          <a:p>
            <a:pPr algn="l" marL="1079499" indent="-359833" lvl="2">
              <a:lnSpc>
                <a:spcPts val="3999"/>
              </a:lnSpc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LÓGICA FUZZY</a:t>
            </a:r>
          </a:p>
          <a:p>
            <a:pPr algn="l" marL="1079499" indent="-359833" lvl="2">
              <a:lnSpc>
                <a:spcPts val="3999"/>
              </a:lnSpc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ABORDAGEM EVOLUCIONÁRIA</a:t>
            </a:r>
          </a:p>
          <a:p>
            <a:pPr algn="l" marL="1079499" indent="-359833" lvl="2">
              <a:lnSpc>
                <a:spcPts val="3999"/>
              </a:lnSpc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ABORDAGEM COMPORTAMENTAL</a:t>
            </a:r>
          </a:p>
          <a:p>
            <a:pPr algn="l" marL="1079499" indent="-359833" lvl="2">
              <a:lnSpc>
                <a:spcPts val="3999"/>
              </a:lnSpc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ABORDAGEM CONEXIONISTA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144000" y="1028700"/>
            <a:ext cx="8115300" cy="1734693"/>
            <a:chOff x="0" y="0"/>
            <a:chExt cx="10820400" cy="231292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820395" cy="2312921"/>
            </a:xfrm>
            <a:custGeom>
              <a:avLst/>
              <a:gdLst/>
              <a:ahLst/>
              <a:cxnLst/>
              <a:rect r="r" b="b" t="t" l="l"/>
              <a:pathLst>
                <a:path h="2312921" w="10820395">
                  <a:moveTo>
                    <a:pt x="0" y="0"/>
                  </a:moveTo>
                  <a:lnTo>
                    <a:pt x="10820395" y="0"/>
                  </a:lnTo>
                  <a:lnTo>
                    <a:pt x="10820395" y="2312921"/>
                  </a:lnTo>
                  <a:lnTo>
                    <a:pt x="0" y="23129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0820400" cy="2370074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r">
                <a:lnSpc>
                  <a:spcPts val="8399"/>
                </a:lnSpc>
              </a:pPr>
              <a:r>
                <a:rPr lang="en-US" b="true" sz="69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SUMÁRIO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0"/>
            <a:ext cx="9144000" cy="10287000"/>
          </a:xfrm>
          <a:custGeom>
            <a:avLst/>
            <a:gdLst/>
            <a:ahLst/>
            <a:cxnLst/>
            <a:rect r="r" b="b" t="t" l="l"/>
            <a:pathLst>
              <a:path h="10287000" w="9144000">
                <a:moveTo>
                  <a:pt x="0" y="0"/>
                </a:moveTo>
                <a:lnTo>
                  <a:pt x="9144000" y="0"/>
                </a:lnTo>
                <a:lnTo>
                  <a:pt x="9144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6223" r="-5978" b="-16223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9144000" y="1028700"/>
            <a:ext cx="8591076" cy="2791968"/>
            <a:chOff x="0" y="0"/>
            <a:chExt cx="2262720" cy="7353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62720" cy="735330"/>
            </a:xfrm>
            <a:custGeom>
              <a:avLst/>
              <a:gdLst/>
              <a:ahLst/>
              <a:cxnLst/>
              <a:rect r="r" b="b" t="t" l="l"/>
              <a:pathLst>
                <a:path h="735330" w="2262720">
                  <a:moveTo>
                    <a:pt x="2262720" y="18023"/>
                  </a:moveTo>
                  <a:lnTo>
                    <a:pt x="2262720" y="717307"/>
                  </a:lnTo>
                  <a:cubicBezTo>
                    <a:pt x="2262720" y="727261"/>
                    <a:pt x="2254651" y="735330"/>
                    <a:pt x="2244697" y="735330"/>
                  </a:cubicBezTo>
                  <a:lnTo>
                    <a:pt x="18023" y="735330"/>
                  </a:lnTo>
                  <a:cubicBezTo>
                    <a:pt x="8069" y="735330"/>
                    <a:pt x="0" y="727261"/>
                    <a:pt x="0" y="717307"/>
                  </a:cubicBezTo>
                  <a:lnTo>
                    <a:pt x="0" y="18023"/>
                  </a:lnTo>
                  <a:cubicBezTo>
                    <a:pt x="0" y="8069"/>
                    <a:pt x="8069" y="0"/>
                    <a:pt x="18023" y="0"/>
                  </a:cubicBezTo>
                  <a:lnTo>
                    <a:pt x="2244697" y="0"/>
                  </a:lnTo>
                  <a:cubicBezTo>
                    <a:pt x="2254651" y="0"/>
                    <a:pt x="2262720" y="8069"/>
                    <a:pt x="2262720" y="18023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0000">
                    <a:alpha val="25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262720" cy="773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0" y="1028700"/>
            <a:ext cx="8115300" cy="2791968"/>
            <a:chOff x="0" y="0"/>
            <a:chExt cx="10820400" cy="372262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820395" cy="3722619"/>
            </a:xfrm>
            <a:custGeom>
              <a:avLst/>
              <a:gdLst/>
              <a:ahLst/>
              <a:cxnLst/>
              <a:rect r="r" b="b" t="t" l="l"/>
              <a:pathLst>
                <a:path h="3722619" w="10820395">
                  <a:moveTo>
                    <a:pt x="0" y="0"/>
                  </a:moveTo>
                  <a:lnTo>
                    <a:pt x="10820395" y="0"/>
                  </a:lnTo>
                  <a:lnTo>
                    <a:pt x="10820395" y="3722619"/>
                  </a:lnTo>
                  <a:lnTo>
                    <a:pt x="0" y="37226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0820400" cy="3779774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r">
                <a:lnSpc>
                  <a:spcPts val="8399"/>
                </a:lnSpc>
              </a:pPr>
              <a:r>
                <a:rPr lang="en-US" b="true" sz="69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IA</a:t>
              </a:r>
            </a:p>
            <a:p>
              <a:pPr algn="r">
                <a:lnSpc>
                  <a:spcPts val="8400"/>
                </a:lnSpc>
              </a:pPr>
              <a:r>
                <a:rPr lang="en-US" b="true" sz="70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CLÁSSICA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2310384"/>
            <a:ext cx="7548022" cy="453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A </a:t>
            </a: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Inteligência Ar</a:t>
            </a: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tificial Clássica (Simbólica)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 opera de forma lógica e rígida. Ela se baseia no processamento de símbolos explícitos e regras formais "top-down" (de cima para baixo). O conhecimento é codificado manualmente por humanos em estruturas claras de "se-então", buscando replicar o raciocínio lógico dedutivo para resolver problemas onde as regras são bem definidas e não ambíguas.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1499997"/>
            <a:chOff x="0" y="0"/>
            <a:chExt cx="21640800" cy="199999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1640800" cy="1999996"/>
              <a:chOff x="0" y="0"/>
              <a:chExt cx="21640800" cy="199999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1640750" cy="1999996"/>
              </a:xfrm>
              <a:custGeom>
                <a:avLst/>
                <a:gdLst/>
                <a:ahLst/>
                <a:cxnLst/>
                <a:rect r="r" b="b" t="t" l="l"/>
                <a:pathLst>
                  <a:path h="1999996" w="21640750">
                    <a:moveTo>
                      <a:pt x="0" y="0"/>
                    </a:moveTo>
                    <a:lnTo>
                      <a:pt x="21640750" y="0"/>
                    </a:lnTo>
                    <a:lnTo>
                      <a:pt x="21640750" y="1999996"/>
                    </a:lnTo>
                    <a:lnTo>
                      <a:pt x="0" y="1999996"/>
                    </a:lnTo>
                    <a:close/>
                  </a:path>
                </a:pathLst>
              </a:custGeom>
              <a:solidFill>
                <a:srgbClr val="04165D"/>
              </a:solidFill>
              <a:ln w="12700">
                <a:solidFill>
                  <a:srgbClr val="000000"/>
                </a:solidFill>
              </a:ln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0" y="228473"/>
              <a:ext cx="21640800" cy="1476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400"/>
                </a:lnSpc>
              </a:pP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ABORDAGEM SIMBÓLICA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2648513"/>
            <a:ext cx="8620954" cy="604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Na abordagem simbólica, o sistema busca simular o raciocínio humano por meio da representação e manipulação do conhecimento utilizando símbolos, letras, números ou palavras.</a:t>
            </a:r>
          </a:p>
          <a:p>
            <a:pPr algn="just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A IA simbólica visa representar explicitamente o conhecimento humano de uma forma declarativa, fatos e regras no formato "SE... ENTÃO...". Todas as regras são claramente codificadas e sua validação é de fácil comprovação. Por exemplo:</a:t>
            </a:r>
          </a:p>
          <a:p>
            <a:pPr algn="ctr">
              <a:lnSpc>
                <a:spcPts val="3999"/>
              </a:lnSpc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 (TemperaturaCorporal &gt; 37) ENTÃO (TemFebre)</a:t>
            </a:r>
          </a:p>
          <a:p>
            <a:pPr algn="just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O sistema efetua deduções com base nos dados de entrada e na interpretação das regras.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532789" y="3740938"/>
            <a:ext cx="5843797" cy="3974649"/>
          </a:xfrm>
          <a:custGeom>
            <a:avLst/>
            <a:gdLst/>
            <a:ahLst/>
            <a:cxnLst/>
            <a:rect r="r" b="b" t="t" l="l"/>
            <a:pathLst>
              <a:path h="3974649" w="5843797">
                <a:moveTo>
                  <a:pt x="0" y="0"/>
                </a:moveTo>
                <a:lnTo>
                  <a:pt x="5843797" y="0"/>
                </a:lnTo>
                <a:lnTo>
                  <a:pt x="5843797" y="3974649"/>
                </a:lnTo>
                <a:lnTo>
                  <a:pt x="0" y="39746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1499997"/>
            <a:chOff x="0" y="0"/>
            <a:chExt cx="21640800" cy="199999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1640800" cy="1999996"/>
              <a:chOff x="0" y="0"/>
              <a:chExt cx="21640800" cy="199999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1640750" cy="1999996"/>
              </a:xfrm>
              <a:custGeom>
                <a:avLst/>
                <a:gdLst/>
                <a:ahLst/>
                <a:cxnLst/>
                <a:rect r="r" b="b" t="t" l="l"/>
                <a:pathLst>
                  <a:path h="1999996" w="21640750">
                    <a:moveTo>
                      <a:pt x="0" y="0"/>
                    </a:moveTo>
                    <a:lnTo>
                      <a:pt x="21640750" y="0"/>
                    </a:lnTo>
                    <a:lnTo>
                      <a:pt x="21640750" y="1999996"/>
                    </a:lnTo>
                    <a:lnTo>
                      <a:pt x="0" y="1999996"/>
                    </a:lnTo>
                    <a:close/>
                  </a:path>
                </a:pathLst>
              </a:custGeom>
              <a:solidFill>
                <a:srgbClr val="04165D"/>
              </a:solidFill>
              <a:ln w="12700">
                <a:solidFill>
                  <a:srgbClr val="000000"/>
                </a:solidFill>
              </a:ln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0" y="228473"/>
              <a:ext cx="21640800" cy="1476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400"/>
                </a:lnSpc>
              </a:pP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ABORDAGEM SIMBÓLICA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2764347"/>
            <a:ext cx="16230600" cy="877050"/>
            <a:chOff x="0" y="0"/>
            <a:chExt cx="4274726" cy="2309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74726" cy="230993"/>
            </a:xfrm>
            <a:custGeom>
              <a:avLst/>
              <a:gdLst/>
              <a:ahLst/>
              <a:cxnLst/>
              <a:rect r="r" b="b" t="t" l="l"/>
              <a:pathLst>
                <a:path h="230993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30993"/>
                  </a:lnTo>
                  <a:lnTo>
                    <a:pt x="0" y="2309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90500"/>
              <a:ext cx="4274726" cy="421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99"/>
                </a:lnSpc>
              </a:pPr>
              <a:r>
                <a:rPr lang="en-US" sz="2999">
                  <a:solidFill>
                    <a:srgbClr val="04165D"/>
                  </a:solidFill>
                  <a:latin typeface="Poppins"/>
                  <a:ea typeface="Poppins"/>
                  <a:cs typeface="Poppins"/>
                  <a:sym typeface="Poppins"/>
                </a:rPr>
                <a:t>SISTEMAS ESPECIALISTAS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3765222"/>
            <a:ext cx="16230600" cy="1501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É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 um tipo de algoritmo projetado para emular a especialização humana de algum domínio específico. Sua base de conhecimento deve ser construída por especialistas e seu papel é of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erecer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 sugestões ou conselhos ao usuário sobre o domínio de seu conhecimento.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127867" y="5505122"/>
            <a:ext cx="12131433" cy="3760744"/>
          </a:xfrm>
          <a:custGeom>
            <a:avLst/>
            <a:gdLst/>
            <a:ahLst/>
            <a:cxnLst/>
            <a:rect r="r" b="b" t="t" l="l"/>
            <a:pathLst>
              <a:path h="3760744" w="12131433">
                <a:moveTo>
                  <a:pt x="0" y="0"/>
                </a:moveTo>
                <a:lnTo>
                  <a:pt x="12131433" y="0"/>
                </a:lnTo>
                <a:lnTo>
                  <a:pt x="12131433" y="3760745"/>
                </a:lnTo>
                <a:lnTo>
                  <a:pt x="0" y="37607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028700" y="5505122"/>
            <a:ext cx="4099167" cy="1289685"/>
            <a:chOff x="0" y="0"/>
            <a:chExt cx="1079616" cy="3396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79616" cy="339670"/>
            </a:xfrm>
            <a:custGeom>
              <a:avLst/>
              <a:gdLst/>
              <a:ahLst/>
              <a:cxnLst/>
              <a:rect r="r" b="b" t="t" l="l"/>
              <a:pathLst>
                <a:path h="339670" w="1079616">
                  <a:moveTo>
                    <a:pt x="0" y="0"/>
                  </a:moveTo>
                  <a:lnTo>
                    <a:pt x="1079616" y="0"/>
                  </a:lnTo>
                  <a:lnTo>
                    <a:pt x="1079616" y="339670"/>
                  </a:lnTo>
                  <a:lnTo>
                    <a:pt x="0" y="3396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61925"/>
              <a:ext cx="1079616" cy="5015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Sistema Especialista</a:t>
              </a:r>
            </a:p>
            <a:p>
              <a:pPr algn="ctr">
                <a:lnSpc>
                  <a:spcPts val="4499"/>
                </a:lnSpc>
              </a:pPr>
              <a:r>
                <a:rPr lang="en-US" sz="2499" u="sng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  <a:hlinkClick r:id="rId4" tooltip="https://colab.research.google.com/drive/1iGf5Z37QZ5BqTZnR7su2l53KgQGREt_b"/>
                </a:rPr>
                <a:t>CÓDIGO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1499997"/>
            <a:chOff x="0" y="0"/>
            <a:chExt cx="21640800" cy="199999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1640800" cy="1999996"/>
              <a:chOff x="0" y="0"/>
              <a:chExt cx="21640800" cy="199999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1640750" cy="1999996"/>
              </a:xfrm>
              <a:custGeom>
                <a:avLst/>
                <a:gdLst/>
                <a:ahLst/>
                <a:cxnLst/>
                <a:rect r="r" b="b" t="t" l="l"/>
                <a:pathLst>
                  <a:path h="1999996" w="21640750">
                    <a:moveTo>
                      <a:pt x="0" y="0"/>
                    </a:moveTo>
                    <a:lnTo>
                      <a:pt x="21640750" y="0"/>
                    </a:lnTo>
                    <a:lnTo>
                      <a:pt x="21640750" y="1999996"/>
                    </a:lnTo>
                    <a:lnTo>
                      <a:pt x="0" y="1999996"/>
                    </a:lnTo>
                    <a:close/>
                  </a:path>
                </a:pathLst>
              </a:custGeom>
              <a:solidFill>
                <a:srgbClr val="04165D"/>
              </a:solidFill>
              <a:ln w="12700">
                <a:solidFill>
                  <a:srgbClr val="000000"/>
                </a:solidFill>
              </a:ln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0" y="228473"/>
              <a:ext cx="21640800" cy="1476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400"/>
                </a:lnSpc>
              </a:pP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ABORDAGEM SIMBÓLICA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3765222"/>
            <a:ext cx="8620954" cy="402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É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 um modelo que estrutura o raciocínio em uma hierarquia visual de regras lógicas, semelhante a um fluxograma. Ele fragmenta problemas complexos em uma sequência de condições simples ('se-então') para classificar dados ou prever resultados. Seu diferencial é a transparência, pois p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ermite rastrear e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 interpretar facilmente o caminho lógico exato que levou à decisão final.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8051612"/>
            <a:ext cx="4099167" cy="1289685"/>
            <a:chOff x="0" y="0"/>
            <a:chExt cx="1079616" cy="33967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79616" cy="339670"/>
            </a:xfrm>
            <a:custGeom>
              <a:avLst/>
              <a:gdLst/>
              <a:ahLst/>
              <a:cxnLst/>
              <a:rect r="r" b="b" t="t" l="l"/>
              <a:pathLst>
                <a:path h="339670" w="1079616">
                  <a:moveTo>
                    <a:pt x="0" y="0"/>
                  </a:moveTo>
                  <a:lnTo>
                    <a:pt x="1079616" y="0"/>
                  </a:lnTo>
                  <a:lnTo>
                    <a:pt x="1079616" y="339670"/>
                  </a:lnTo>
                  <a:lnTo>
                    <a:pt x="0" y="3396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61925"/>
              <a:ext cx="1079616" cy="5015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Arvore de Decisão</a:t>
              </a:r>
            </a:p>
            <a:p>
              <a:pPr algn="ctr">
                <a:lnSpc>
                  <a:spcPts val="4499"/>
                </a:lnSpc>
              </a:pPr>
              <a:r>
                <a:rPr lang="en-US" sz="2499" u="sng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  <a:hlinkClick r:id="rId3" tooltip="https://colab.research.google.com/drive/1HQEFUmt_f7JImWOqeOfB2QMDNageOh3M"/>
                </a:rPr>
                <a:t>CÓDIGO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2764347"/>
            <a:ext cx="16230600" cy="877050"/>
            <a:chOff x="0" y="0"/>
            <a:chExt cx="4274726" cy="23099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274726" cy="230993"/>
            </a:xfrm>
            <a:custGeom>
              <a:avLst/>
              <a:gdLst/>
              <a:ahLst/>
              <a:cxnLst/>
              <a:rect r="r" b="b" t="t" l="l"/>
              <a:pathLst>
                <a:path h="230993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30993"/>
                  </a:lnTo>
                  <a:lnTo>
                    <a:pt x="0" y="2309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0"/>
              <a:ext cx="4274726" cy="421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99"/>
                </a:lnSpc>
              </a:pPr>
              <a:r>
                <a:rPr lang="en-US" sz="2999">
                  <a:solidFill>
                    <a:srgbClr val="04165D"/>
                  </a:solidFill>
                  <a:latin typeface="Poppins"/>
                  <a:ea typeface="Poppins"/>
                  <a:cs typeface="Poppins"/>
                  <a:sym typeface="Poppins"/>
                </a:rPr>
                <a:t>ARVORE DE DECISÃO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601570" y="3879522"/>
            <a:ext cx="5720889" cy="4288145"/>
          </a:xfrm>
          <a:custGeom>
            <a:avLst/>
            <a:gdLst/>
            <a:ahLst/>
            <a:cxnLst/>
            <a:rect r="r" b="b" t="t" l="l"/>
            <a:pathLst>
              <a:path h="4288145" w="5720889">
                <a:moveTo>
                  <a:pt x="0" y="0"/>
                </a:moveTo>
                <a:lnTo>
                  <a:pt x="5720890" y="0"/>
                </a:lnTo>
                <a:lnTo>
                  <a:pt x="5720890" y="4288145"/>
                </a:lnTo>
                <a:lnTo>
                  <a:pt x="0" y="42881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0"/>
            <a:ext cx="9144000" cy="10287000"/>
          </a:xfrm>
          <a:custGeom>
            <a:avLst/>
            <a:gdLst/>
            <a:ahLst/>
            <a:cxnLst/>
            <a:rect r="r" b="b" t="t" l="l"/>
            <a:pathLst>
              <a:path h="10287000" w="9144000">
                <a:moveTo>
                  <a:pt x="0" y="0"/>
                </a:moveTo>
                <a:lnTo>
                  <a:pt x="9144000" y="0"/>
                </a:lnTo>
                <a:lnTo>
                  <a:pt x="9144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6223" r="-5978" b="-16223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9144000" y="1028700"/>
            <a:ext cx="8591076" cy="2791968"/>
            <a:chOff x="0" y="0"/>
            <a:chExt cx="2262720" cy="7353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62720" cy="735330"/>
            </a:xfrm>
            <a:custGeom>
              <a:avLst/>
              <a:gdLst/>
              <a:ahLst/>
              <a:cxnLst/>
              <a:rect r="r" b="b" t="t" l="l"/>
              <a:pathLst>
                <a:path h="735330" w="2262720">
                  <a:moveTo>
                    <a:pt x="2262720" y="18023"/>
                  </a:moveTo>
                  <a:lnTo>
                    <a:pt x="2262720" y="717307"/>
                  </a:lnTo>
                  <a:cubicBezTo>
                    <a:pt x="2262720" y="727261"/>
                    <a:pt x="2254651" y="735330"/>
                    <a:pt x="2244697" y="735330"/>
                  </a:cubicBezTo>
                  <a:lnTo>
                    <a:pt x="18023" y="735330"/>
                  </a:lnTo>
                  <a:cubicBezTo>
                    <a:pt x="8069" y="735330"/>
                    <a:pt x="0" y="727261"/>
                    <a:pt x="0" y="717307"/>
                  </a:cubicBezTo>
                  <a:lnTo>
                    <a:pt x="0" y="18023"/>
                  </a:lnTo>
                  <a:cubicBezTo>
                    <a:pt x="0" y="8069"/>
                    <a:pt x="8069" y="0"/>
                    <a:pt x="18023" y="0"/>
                  </a:cubicBezTo>
                  <a:lnTo>
                    <a:pt x="2244697" y="0"/>
                  </a:lnTo>
                  <a:cubicBezTo>
                    <a:pt x="2254651" y="0"/>
                    <a:pt x="2262720" y="8069"/>
                    <a:pt x="2262720" y="18023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0000">
                    <a:alpha val="25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262720" cy="773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0" y="1028700"/>
            <a:ext cx="8115300" cy="2791968"/>
            <a:chOff x="0" y="0"/>
            <a:chExt cx="10820400" cy="372262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820395" cy="3722619"/>
            </a:xfrm>
            <a:custGeom>
              <a:avLst/>
              <a:gdLst/>
              <a:ahLst/>
              <a:cxnLst/>
              <a:rect r="r" b="b" t="t" l="l"/>
              <a:pathLst>
                <a:path h="3722619" w="10820395">
                  <a:moveTo>
                    <a:pt x="0" y="0"/>
                  </a:moveTo>
                  <a:lnTo>
                    <a:pt x="10820395" y="0"/>
                  </a:lnTo>
                  <a:lnTo>
                    <a:pt x="10820395" y="3722619"/>
                  </a:lnTo>
                  <a:lnTo>
                    <a:pt x="0" y="37226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0820400" cy="3779774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r">
                <a:lnSpc>
                  <a:spcPts val="8399"/>
                </a:lnSpc>
              </a:pPr>
              <a:r>
                <a:rPr lang="en-US" b="true" sz="69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MODELOS</a:t>
              </a:r>
            </a:p>
            <a:p>
              <a:pPr algn="r">
                <a:lnSpc>
                  <a:spcPts val="8400"/>
                </a:lnSpc>
              </a:pPr>
              <a:r>
                <a:rPr lang="en-US" b="true" sz="70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MATEMÁTICOS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2310384"/>
            <a:ext cx="7548022" cy="503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Os </a:t>
            </a: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Modelos </a:t>
            </a: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Matemáticos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, distintos da mímica biológica da IC e do raciocínio simbólico da Clássica, representam o alicerce quantitativo e estatístico. Aqui, o foco não é "imitar a mente" ou "seguir regras lógicas", mas sim utilizar teoremas rigorosos, cálculo de distâncias, probabilidade e álgebra linear para encontrar padrões numéricos e equilíbrios estratégicos. É a "matemática pura" aplicada à tomada de decisão e análise de dados.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1499997"/>
            <a:chOff x="0" y="0"/>
            <a:chExt cx="21640800" cy="199999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1640800" cy="1999996"/>
              <a:chOff x="0" y="0"/>
              <a:chExt cx="21640800" cy="199999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1640750" cy="1999996"/>
              </a:xfrm>
              <a:custGeom>
                <a:avLst/>
                <a:gdLst/>
                <a:ahLst/>
                <a:cxnLst/>
                <a:rect r="r" b="b" t="t" l="l"/>
                <a:pathLst>
                  <a:path h="1999996" w="21640750">
                    <a:moveTo>
                      <a:pt x="0" y="0"/>
                    </a:moveTo>
                    <a:lnTo>
                      <a:pt x="21640750" y="0"/>
                    </a:lnTo>
                    <a:lnTo>
                      <a:pt x="21640750" y="1999996"/>
                    </a:lnTo>
                    <a:lnTo>
                      <a:pt x="0" y="1999996"/>
                    </a:lnTo>
                    <a:close/>
                  </a:path>
                </a:pathLst>
              </a:custGeom>
              <a:solidFill>
                <a:srgbClr val="04165D"/>
              </a:solidFill>
              <a:ln w="12700">
                <a:solidFill>
                  <a:srgbClr val="000000"/>
                </a:solidFill>
              </a:ln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0" y="228473"/>
              <a:ext cx="21640800" cy="1476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400"/>
                </a:lnSpc>
              </a:pP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ABORDAGEM ESTATÍSTICA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79505" y="2762813"/>
            <a:ext cx="6465445" cy="4889493"/>
          </a:xfrm>
          <a:custGeom>
            <a:avLst/>
            <a:gdLst/>
            <a:ahLst/>
            <a:cxnLst/>
            <a:rect r="r" b="b" t="t" l="l"/>
            <a:pathLst>
              <a:path h="4889493" w="6465445">
                <a:moveTo>
                  <a:pt x="0" y="0"/>
                </a:moveTo>
                <a:lnTo>
                  <a:pt x="6465445" y="0"/>
                </a:lnTo>
                <a:lnTo>
                  <a:pt x="6465445" y="4889493"/>
                </a:lnTo>
                <a:lnTo>
                  <a:pt x="0" y="48894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2648513"/>
            <a:ext cx="8737191" cy="453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Na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 abordagem estatística, o sistema utiliza a análise matemática rigorosa de dados para extrair padrões, identificar tendências e gerenciar incertezas. São modelos baseados em evidências quantitativas históricas capazes tanto de estimar a chance de um evento ocorrer (inferência probabilística) quanto de projetar valores futuros com base em correlações passadas (como em regressões), buscando sempre minimizar o erro matemático da previsão.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1499997"/>
            <a:chOff x="0" y="0"/>
            <a:chExt cx="21640800" cy="199999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1640800" cy="1999996"/>
              <a:chOff x="0" y="0"/>
              <a:chExt cx="21640800" cy="199999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1640750" cy="1999996"/>
              </a:xfrm>
              <a:custGeom>
                <a:avLst/>
                <a:gdLst/>
                <a:ahLst/>
                <a:cxnLst/>
                <a:rect r="r" b="b" t="t" l="l"/>
                <a:pathLst>
                  <a:path h="1999996" w="21640750">
                    <a:moveTo>
                      <a:pt x="0" y="0"/>
                    </a:moveTo>
                    <a:lnTo>
                      <a:pt x="21640750" y="0"/>
                    </a:lnTo>
                    <a:lnTo>
                      <a:pt x="21640750" y="1999996"/>
                    </a:lnTo>
                    <a:lnTo>
                      <a:pt x="0" y="1999996"/>
                    </a:lnTo>
                    <a:close/>
                  </a:path>
                </a:pathLst>
              </a:custGeom>
              <a:solidFill>
                <a:srgbClr val="04165D"/>
              </a:solidFill>
              <a:ln w="12700">
                <a:solidFill>
                  <a:srgbClr val="000000"/>
                </a:solidFill>
              </a:ln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0" y="228473"/>
              <a:ext cx="21640800" cy="1476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400"/>
                </a:lnSpc>
              </a:pP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ABORDAGEM ESTATÍSTICA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3765222"/>
            <a:ext cx="8541503" cy="503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O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 Teorema de Bayes descreve a probabilidade de um evento dado que outro evento já ocorreu, o que é chamado de </a:t>
            </a: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probabilidade condicional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. Nesse teorema é preciso ter alguma informação anterior, ou seja, saber que um determinado evento já ocorreu e qual a probabilidade desse evento </a:t>
            </a: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(a priori)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.</a:t>
            </a:r>
          </a:p>
          <a:p>
            <a:pPr algn="just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Com base nas probabilidades da a priori e novos dados obtidos </a:t>
            </a: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(verossimilhança)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, é possível ter as p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robabilidades </a:t>
            </a: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(a posteriori)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, que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 podem ser consideradas as novas ou atuais probabilidades.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367845" y="7946250"/>
            <a:ext cx="4099167" cy="1289685"/>
            <a:chOff x="0" y="0"/>
            <a:chExt cx="1079616" cy="33967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79616" cy="339670"/>
            </a:xfrm>
            <a:custGeom>
              <a:avLst/>
              <a:gdLst/>
              <a:ahLst/>
              <a:cxnLst/>
              <a:rect r="r" b="b" t="t" l="l"/>
              <a:pathLst>
                <a:path h="339670" w="1079616">
                  <a:moveTo>
                    <a:pt x="0" y="0"/>
                  </a:moveTo>
                  <a:lnTo>
                    <a:pt x="1079616" y="0"/>
                  </a:lnTo>
                  <a:lnTo>
                    <a:pt x="1079616" y="339670"/>
                  </a:lnTo>
                  <a:lnTo>
                    <a:pt x="0" y="3396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61925"/>
              <a:ext cx="1079616" cy="5015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Naive Bayes</a:t>
              </a:r>
            </a:p>
            <a:p>
              <a:pPr algn="ctr">
                <a:lnSpc>
                  <a:spcPts val="4499"/>
                </a:lnSpc>
              </a:pPr>
              <a:r>
                <a:rPr lang="en-US" sz="2499" u="sng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  <a:hlinkClick r:id="rId3" tooltip="https://colab.research.google.com/drive/1fDDbbVhAzIL71QBXXzow8mXNvGs-2Xe-"/>
                </a:rPr>
                <a:t>CÓDIGO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2764347"/>
            <a:ext cx="16230600" cy="877050"/>
            <a:chOff x="0" y="0"/>
            <a:chExt cx="4274726" cy="23099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274726" cy="230993"/>
            </a:xfrm>
            <a:custGeom>
              <a:avLst/>
              <a:gdLst/>
              <a:ahLst/>
              <a:cxnLst/>
              <a:rect r="r" b="b" t="t" l="l"/>
              <a:pathLst>
                <a:path h="230993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30993"/>
                  </a:lnTo>
                  <a:lnTo>
                    <a:pt x="0" y="2309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0"/>
              <a:ext cx="4274726" cy="421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99"/>
                </a:lnSpc>
              </a:pPr>
              <a:r>
                <a:rPr lang="en-US" sz="2999">
                  <a:solidFill>
                    <a:srgbClr val="04165D"/>
                  </a:solidFill>
                  <a:latin typeface="Poppins"/>
                  <a:ea typeface="Poppins"/>
                  <a:cs typeface="Poppins"/>
                  <a:sym typeface="Poppins"/>
                </a:rPr>
                <a:t>TEOREMA DE BAYES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507646" y="3879522"/>
            <a:ext cx="5819566" cy="3685711"/>
          </a:xfrm>
          <a:custGeom>
            <a:avLst/>
            <a:gdLst/>
            <a:ahLst/>
            <a:cxnLst/>
            <a:rect r="r" b="b" t="t" l="l"/>
            <a:pathLst>
              <a:path h="3685711" w="5819566">
                <a:moveTo>
                  <a:pt x="0" y="0"/>
                </a:moveTo>
                <a:lnTo>
                  <a:pt x="5819565" y="0"/>
                </a:lnTo>
                <a:lnTo>
                  <a:pt x="5819565" y="3685712"/>
                </a:lnTo>
                <a:lnTo>
                  <a:pt x="0" y="36857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9342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1499997"/>
            <a:chOff x="0" y="0"/>
            <a:chExt cx="21640800" cy="199999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1640800" cy="1999996"/>
              <a:chOff x="0" y="0"/>
              <a:chExt cx="21640800" cy="199999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1640750" cy="1999996"/>
              </a:xfrm>
              <a:custGeom>
                <a:avLst/>
                <a:gdLst/>
                <a:ahLst/>
                <a:cxnLst/>
                <a:rect r="r" b="b" t="t" l="l"/>
                <a:pathLst>
                  <a:path h="1999996" w="21640750">
                    <a:moveTo>
                      <a:pt x="0" y="0"/>
                    </a:moveTo>
                    <a:lnTo>
                      <a:pt x="21640750" y="0"/>
                    </a:lnTo>
                    <a:lnTo>
                      <a:pt x="21640750" y="1999996"/>
                    </a:lnTo>
                    <a:lnTo>
                      <a:pt x="0" y="1999996"/>
                    </a:lnTo>
                    <a:close/>
                  </a:path>
                </a:pathLst>
              </a:custGeom>
              <a:solidFill>
                <a:srgbClr val="04165D"/>
              </a:solidFill>
              <a:ln w="12700">
                <a:solidFill>
                  <a:srgbClr val="000000"/>
                </a:solidFill>
              </a:ln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0" y="228473"/>
              <a:ext cx="21640800" cy="1476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400"/>
                </a:lnSpc>
              </a:pP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ABORDAGEM ESTATÍSTICA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3765222"/>
            <a:ext cx="8440664" cy="503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U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ma Rede Bayesiana é um modelo gráfico probabilístico que utiliza uma estrutura conhecida como Grafo Acíclico Dirigido (DAG) para representar um conjunto de variáveis e suas dependências condicionais. Cada nó do grafo representa uma variável e as setas indicam influências causais diretas. Essa estrutura permite modelar a incerteza de sistemas complexos, definindo quais variáveis influ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enciam as outras, ao contrário da 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suposição de independência total, do Naive Bayes.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312296" y="7968615"/>
            <a:ext cx="4099167" cy="1289685"/>
            <a:chOff x="0" y="0"/>
            <a:chExt cx="1079616" cy="33967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79616" cy="339670"/>
            </a:xfrm>
            <a:custGeom>
              <a:avLst/>
              <a:gdLst/>
              <a:ahLst/>
              <a:cxnLst/>
              <a:rect r="r" b="b" t="t" l="l"/>
              <a:pathLst>
                <a:path h="339670" w="1079616">
                  <a:moveTo>
                    <a:pt x="0" y="0"/>
                  </a:moveTo>
                  <a:lnTo>
                    <a:pt x="1079616" y="0"/>
                  </a:lnTo>
                  <a:lnTo>
                    <a:pt x="1079616" y="339670"/>
                  </a:lnTo>
                  <a:lnTo>
                    <a:pt x="0" y="3396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61925"/>
              <a:ext cx="1079616" cy="5015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Redes Bayesianas</a:t>
              </a:r>
            </a:p>
            <a:p>
              <a:pPr algn="ctr">
                <a:lnSpc>
                  <a:spcPts val="4499"/>
                </a:lnSpc>
              </a:pPr>
              <a:r>
                <a:rPr lang="en-US" sz="2499" u="sng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  <a:hlinkClick r:id="rId3" tooltip="https://colab.research.google.com/drive/1l3cLx-i38WOVRe3FK2iFy9XrEGyQQ88I"/>
                </a:rPr>
                <a:t>CÓDIGO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2764347"/>
            <a:ext cx="16230600" cy="877050"/>
            <a:chOff x="0" y="0"/>
            <a:chExt cx="4274726" cy="23099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274726" cy="230993"/>
            </a:xfrm>
            <a:custGeom>
              <a:avLst/>
              <a:gdLst/>
              <a:ahLst/>
              <a:cxnLst/>
              <a:rect r="r" b="b" t="t" l="l"/>
              <a:pathLst>
                <a:path h="230993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30993"/>
                  </a:lnTo>
                  <a:lnTo>
                    <a:pt x="0" y="2309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0"/>
              <a:ext cx="4274726" cy="421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99"/>
                </a:lnSpc>
              </a:pPr>
              <a:r>
                <a:rPr lang="en-US" sz="2999">
                  <a:solidFill>
                    <a:srgbClr val="04165D"/>
                  </a:solidFill>
                  <a:latin typeface="Poppins"/>
                  <a:ea typeface="Poppins"/>
                  <a:cs typeface="Poppins"/>
                  <a:sym typeface="Poppins"/>
                </a:rPr>
                <a:t>REDES BAYESIANAS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441993" y="3879522"/>
            <a:ext cx="5839773" cy="3795852"/>
          </a:xfrm>
          <a:custGeom>
            <a:avLst/>
            <a:gdLst/>
            <a:ahLst/>
            <a:cxnLst/>
            <a:rect r="r" b="b" t="t" l="l"/>
            <a:pathLst>
              <a:path h="3795852" w="5839773">
                <a:moveTo>
                  <a:pt x="0" y="0"/>
                </a:moveTo>
                <a:lnTo>
                  <a:pt x="5839773" y="0"/>
                </a:lnTo>
                <a:lnTo>
                  <a:pt x="5839773" y="3795853"/>
                </a:lnTo>
                <a:lnTo>
                  <a:pt x="0" y="37958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1499997"/>
            <a:chOff x="0" y="0"/>
            <a:chExt cx="21640800" cy="199999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1640800" cy="1999996"/>
              <a:chOff x="0" y="0"/>
              <a:chExt cx="21640800" cy="199999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1640750" cy="1999996"/>
              </a:xfrm>
              <a:custGeom>
                <a:avLst/>
                <a:gdLst/>
                <a:ahLst/>
                <a:cxnLst/>
                <a:rect r="r" b="b" t="t" l="l"/>
                <a:pathLst>
                  <a:path h="1999996" w="21640750">
                    <a:moveTo>
                      <a:pt x="0" y="0"/>
                    </a:moveTo>
                    <a:lnTo>
                      <a:pt x="21640750" y="0"/>
                    </a:lnTo>
                    <a:lnTo>
                      <a:pt x="21640750" y="1999996"/>
                    </a:lnTo>
                    <a:lnTo>
                      <a:pt x="0" y="1999996"/>
                    </a:lnTo>
                    <a:close/>
                  </a:path>
                </a:pathLst>
              </a:custGeom>
              <a:solidFill>
                <a:srgbClr val="04165D"/>
              </a:solidFill>
              <a:ln w="12700">
                <a:solidFill>
                  <a:srgbClr val="000000"/>
                </a:solidFill>
              </a:ln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0" y="228473"/>
              <a:ext cx="21640800" cy="1476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400"/>
                </a:lnSpc>
              </a:pP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ABORDAGEM ESTATÍSTICA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152067" y="7968615"/>
            <a:ext cx="4099167" cy="1289685"/>
            <a:chOff x="0" y="0"/>
            <a:chExt cx="1079616" cy="3396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79616" cy="339670"/>
            </a:xfrm>
            <a:custGeom>
              <a:avLst/>
              <a:gdLst/>
              <a:ahLst/>
              <a:cxnLst/>
              <a:rect r="r" b="b" t="t" l="l"/>
              <a:pathLst>
                <a:path h="339670" w="1079616">
                  <a:moveTo>
                    <a:pt x="0" y="0"/>
                  </a:moveTo>
                  <a:lnTo>
                    <a:pt x="1079616" y="0"/>
                  </a:lnTo>
                  <a:lnTo>
                    <a:pt x="1079616" y="339670"/>
                  </a:lnTo>
                  <a:lnTo>
                    <a:pt x="0" y="3396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61925"/>
              <a:ext cx="1079616" cy="5015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Regressão Linear</a:t>
              </a:r>
            </a:p>
            <a:p>
              <a:pPr algn="ctr">
                <a:lnSpc>
                  <a:spcPts val="4499"/>
                </a:lnSpc>
              </a:pPr>
              <a:r>
                <a:rPr lang="en-US" sz="2499" u="sng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  <a:hlinkClick r:id="rId3" tooltip="https://colab.research.google.com/drive/12CKK4RXeQRbEaRcjcTAcaIHvxM230A4F"/>
                </a:rPr>
                <a:t>CÓDIGO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2764347"/>
            <a:ext cx="16230600" cy="877050"/>
            <a:chOff x="0" y="0"/>
            <a:chExt cx="4274726" cy="23099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74726" cy="230993"/>
            </a:xfrm>
            <a:custGeom>
              <a:avLst/>
              <a:gdLst/>
              <a:ahLst/>
              <a:cxnLst/>
              <a:rect r="r" b="b" t="t" l="l"/>
              <a:pathLst>
                <a:path h="230993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30993"/>
                  </a:lnTo>
                  <a:lnTo>
                    <a:pt x="0" y="2309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0"/>
              <a:ext cx="4274726" cy="421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99"/>
                </a:lnSpc>
              </a:pPr>
              <a:r>
                <a:rPr lang="en-US" sz="2999">
                  <a:solidFill>
                    <a:srgbClr val="04165D"/>
                  </a:solidFill>
                  <a:latin typeface="Poppins"/>
                  <a:ea typeface="Poppins"/>
                  <a:cs typeface="Poppins"/>
                  <a:sym typeface="Poppins"/>
                </a:rPr>
                <a:t>REGRESSÃO LINEAR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1060626" y="3879522"/>
            <a:ext cx="4282047" cy="3921606"/>
          </a:xfrm>
          <a:custGeom>
            <a:avLst/>
            <a:gdLst/>
            <a:ahLst/>
            <a:cxnLst/>
            <a:rect r="r" b="b" t="t" l="l"/>
            <a:pathLst>
              <a:path h="3921606" w="4282047">
                <a:moveTo>
                  <a:pt x="0" y="0"/>
                </a:moveTo>
                <a:lnTo>
                  <a:pt x="4282048" y="0"/>
                </a:lnTo>
                <a:lnTo>
                  <a:pt x="4282048" y="3921607"/>
                </a:lnTo>
                <a:lnTo>
                  <a:pt x="0" y="39216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632" r="0" b="-8853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3765222"/>
            <a:ext cx="8115300" cy="554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N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esta abordagem o foco é a estatística, o modelo não busca classificar categorias, mas sim descobrir uma equação matemática que descreva a relação entre variáveis. O objetivo é prever um valor numérico contínuo (uma quantidade), e não um rótulo. O modelo ajusta uma linha ou curva que melhor se aproxima dos dados históricos, minimizando o erro matemático. O sistema utiliza fórmulas estatísticas para projetar t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endências futuras com base no comportamento n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umérico passado.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1499997"/>
            <a:chOff x="0" y="0"/>
            <a:chExt cx="21640800" cy="199999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1640800" cy="1999996"/>
              <a:chOff x="0" y="0"/>
              <a:chExt cx="21640800" cy="199999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1640750" cy="1999996"/>
              </a:xfrm>
              <a:custGeom>
                <a:avLst/>
                <a:gdLst/>
                <a:ahLst/>
                <a:cxnLst/>
                <a:rect r="r" b="b" t="t" l="l"/>
                <a:pathLst>
                  <a:path h="1999996" w="21640750">
                    <a:moveTo>
                      <a:pt x="0" y="0"/>
                    </a:moveTo>
                    <a:lnTo>
                      <a:pt x="21640750" y="0"/>
                    </a:lnTo>
                    <a:lnTo>
                      <a:pt x="21640750" y="1999996"/>
                    </a:lnTo>
                    <a:lnTo>
                      <a:pt x="0" y="1999996"/>
                    </a:lnTo>
                    <a:close/>
                  </a:path>
                </a:pathLst>
              </a:custGeom>
              <a:solidFill>
                <a:srgbClr val="04165D"/>
              </a:solidFill>
              <a:ln w="12700">
                <a:solidFill>
                  <a:srgbClr val="000000"/>
                </a:solidFill>
              </a:ln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0" y="228473"/>
              <a:ext cx="21640800" cy="1476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400"/>
                </a:lnSpc>
              </a:pP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ABORDAGEM GEOMÉTRICA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009939" y="3714406"/>
            <a:ext cx="6973136" cy="4532538"/>
          </a:xfrm>
          <a:custGeom>
            <a:avLst/>
            <a:gdLst/>
            <a:ahLst/>
            <a:cxnLst/>
            <a:rect r="r" b="b" t="t" l="l"/>
            <a:pathLst>
              <a:path h="4532538" w="6973136">
                <a:moveTo>
                  <a:pt x="0" y="0"/>
                </a:moveTo>
                <a:lnTo>
                  <a:pt x="6973136" y="0"/>
                </a:lnTo>
                <a:lnTo>
                  <a:pt x="6973136" y="4532538"/>
                </a:lnTo>
                <a:lnTo>
                  <a:pt x="0" y="45325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2648513"/>
            <a:ext cx="8737191" cy="655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Na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 abordagem geométrica, o sistema representa os dados como pontos ou vetores posicionados em um espaço multidimensional (como um plano cartesiano). O conceito central é a similaridade espacial: objetos com características parecidas estarão "fisicamente" próximos uns dos outros neste gráfico.</a:t>
            </a:r>
          </a:p>
          <a:p>
            <a:pPr algn="just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Essa IA toma decisões medindo a distância matemática (como a Euclidiana) entre o novo dado e os dados conhecidos. A lógica baseia-se na vizinhança ou em regiões de fronteira.</a:t>
            </a:r>
          </a:p>
          <a:p>
            <a:pPr algn="just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O sistema classifica ou agrupa os elementos baseando-se puramente em sua posição relativa e na geometria do espaço de dados.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1499997"/>
            <a:chOff x="0" y="0"/>
            <a:chExt cx="21640800" cy="199999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1640800" cy="1999996"/>
              <a:chOff x="0" y="0"/>
              <a:chExt cx="21640800" cy="199999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1640750" cy="1999996"/>
              </a:xfrm>
              <a:custGeom>
                <a:avLst/>
                <a:gdLst/>
                <a:ahLst/>
                <a:cxnLst/>
                <a:rect r="r" b="b" t="t" l="l"/>
                <a:pathLst>
                  <a:path h="1999996" w="21640750">
                    <a:moveTo>
                      <a:pt x="0" y="0"/>
                    </a:moveTo>
                    <a:lnTo>
                      <a:pt x="21640750" y="0"/>
                    </a:lnTo>
                    <a:lnTo>
                      <a:pt x="21640750" y="1999996"/>
                    </a:lnTo>
                    <a:lnTo>
                      <a:pt x="0" y="1999996"/>
                    </a:lnTo>
                    <a:close/>
                  </a:path>
                </a:pathLst>
              </a:custGeom>
              <a:solidFill>
                <a:srgbClr val="04165D"/>
              </a:solidFill>
              <a:ln w="12700">
                <a:solidFill>
                  <a:srgbClr val="000000"/>
                </a:solidFill>
              </a:ln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0" y="228473"/>
              <a:ext cx="21640800" cy="1476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400"/>
                </a:lnSpc>
              </a:pP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ABORDAGEM GEOMÉTRICA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312296" y="7968615"/>
            <a:ext cx="4099167" cy="1289685"/>
            <a:chOff x="0" y="0"/>
            <a:chExt cx="1079616" cy="3396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79616" cy="339670"/>
            </a:xfrm>
            <a:custGeom>
              <a:avLst/>
              <a:gdLst/>
              <a:ahLst/>
              <a:cxnLst/>
              <a:rect r="r" b="b" t="t" l="l"/>
              <a:pathLst>
                <a:path h="339670" w="1079616">
                  <a:moveTo>
                    <a:pt x="0" y="0"/>
                  </a:moveTo>
                  <a:lnTo>
                    <a:pt x="1079616" y="0"/>
                  </a:lnTo>
                  <a:lnTo>
                    <a:pt x="1079616" y="339670"/>
                  </a:lnTo>
                  <a:lnTo>
                    <a:pt x="0" y="3396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61925"/>
              <a:ext cx="1079616" cy="5015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K-means Iris</a:t>
              </a:r>
            </a:p>
            <a:p>
              <a:pPr algn="ctr">
                <a:lnSpc>
                  <a:spcPts val="4499"/>
                </a:lnSpc>
              </a:pPr>
              <a:r>
                <a:rPr lang="en-US" sz="2499" u="sng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  <a:hlinkClick r:id="rId3" tooltip="https://colab.research.google.com/drive/1rvwXSd5ycZe74Sqy_QosBPcPS464SHLE"/>
                </a:rPr>
                <a:t>CÓDIGO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2764347"/>
            <a:ext cx="16230600" cy="877050"/>
            <a:chOff x="0" y="0"/>
            <a:chExt cx="4274726" cy="23099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74726" cy="230993"/>
            </a:xfrm>
            <a:custGeom>
              <a:avLst/>
              <a:gdLst/>
              <a:ahLst/>
              <a:cxnLst/>
              <a:rect r="r" b="b" t="t" l="l"/>
              <a:pathLst>
                <a:path h="230993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30993"/>
                  </a:lnTo>
                  <a:lnTo>
                    <a:pt x="0" y="2309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0"/>
              <a:ext cx="4274726" cy="421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99"/>
                </a:lnSpc>
              </a:pPr>
              <a:r>
                <a:rPr lang="en-US" sz="2999">
                  <a:solidFill>
                    <a:srgbClr val="04165D"/>
                  </a:solidFill>
                  <a:latin typeface="Poppins"/>
                  <a:ea typeface="Poppins"/>
                  <a:cs typeface="Poppins"/>
                  <a:sym typeface="Poppins"/>
                </a:rPr>
                <a:t>K-MEANS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9601271" y="4251974"/>
            <a:ext cx="7521217" cy="3083699"/>
          </a:xfrm>
          <a:custGeom>
            <a:avLst/>
            <a:gdLst/>
            <a:ahLst/>
            <a:cxnLst/>
            <a:rect r="r" b="b" t="t" l="l"/>
            <a:pathLst>
              <a:path h="3083699" w="7521217">
                <a:moveTo>
                  <a:pt x="0" y="0"/>
                </a:moveTo>
                <a:lnTo>
                  <a:pt x="7521217" y="0"/>
                </a:lnTo>
                <a:lnTo>
                  <a:pt x="7521217" y="3083699"/>
                </a:lnTo>
                <a:lnTo>
                  <a:pt x="0" y="30836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3765222"/>
            <a:ext cx="8440664" cy="554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O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 K-Means é um algoritmo de aprendizado não supervisionado focado em agrupamento (clustering). Seu objetivo é particionar um conjunto de dados em 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k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 grupos distintos (clusters), onde cada observação é alocada ao grupo cujo centro (centroide) é o mais próximo. O algoritmo opera de forma iterativa: ele define posições iniciais para os centroides e, repetidamente, atribui os pontos ao centroide mais próximo e r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ecalcula a posição média do grupo, até que os centroides 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se estabilizem e a variância dentro de cada cluster seja minimizada.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1499997"/>
            <a:chOff x="0" y="0"/>
            <a:chExt cx="21640800" cy="199999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1640800" cy="1999996"/>
              <a:chOff x="0" y="0"/>
              <a:chExt cx="21640800" cy="199999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1640750" cy="1999996"/>
              </a:xfrm>
              <a:custGeom>
                <a:avLst/>
                <a:gdLst/>
                <a:ahLst/>
                <a:cxnLst/>
                <a:rect r="r" b="b" t="t" l="l"/>
                <a:pathLst>
                  <a:path h="1999996" w="21640750">
                    <a:moveTo>
                      <a:pt x="0" y="0"/>
                    </a:moveTo>
                    <a:lnTo>
                      <a:pt x="21640750" y="0"/>
                    </a:lnTo>
                    <a:lnTo>
                      <a:pt x="21640750" y="1999996"/>
                    </a:lnTo>
                    <a:lnTo>
                      <a:pt x="0" y="1999996"/>
                    </a:lnTo>
                    <a:close/>
                  </a:path>
                </a:pathLst>
              </a:custGeom>
              <a:solidFill>
                <a:srgbClr val="04165D"/>
              </a:solidFill>
              <a:ln w="12700">
                <a:solidFill>
                  <a:srgbClr val="000000"/>
                </a:solidFill>
              </a:ln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0" y="228473"/>
              <a:ext cx="21640800" cy="1476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400"/>
                </a:lnSpc>
              </a:pP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ABORDAGEM GEOMÉTRICA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312296" y="7946250"/>
            <a:ext cx="4099167" cy="1289685"/>
            <a:chOff x="0" y="0"/>
            <a:chExt cx="1079616" cy="3396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79616" cy="339670"/>
            </a:xfrm>
            <a:custGeom>
              <a:avLst/>
              <a:gdLst/>
              <a:ahLst/>
              <a:cxnLst/>
              <a:rect r="r" b="b" t="t" l="l"/>
              <a:pathLst>
                <a:path h="339670" w="1079616">
                  <a:moveTo>
                    <a:pt x="0" y="0"/>
                  </a:moveTo>
                  <a:lnTo>
                    <a:pt x="1079616" y="0"/>
                  </a:lnTo>
                  <a:lnTo>
                    <a:pt x="1079616" y="339670"/>
                  </a:lnTo>
                  <a:lnTo>
                    <a:pt x="0" y="3396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61925"/>
              <a:ext cx="1079616" cy="5015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KNN Iris</a:t>
              </a:r>
            </a:p>
            <a:p>
              <a:pPr algn="ctr">
                <a:lnSpc>
                  <a:spcPts val="4499"/>
                </a:lnSpc>
              </a:pPr>
              <a:r>
                <a:rPr lang="en-US" sz="2499" u="sng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  <a:hlinkClick r:id="rId3" tooltip="https://colab.research.google.com/drive/1sng2MwGqAzXw1f6WC0zYPCGXfbNfJs4p"/>
                </a:rPr>
                <a:t>CÓDIGO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2764347"/>
            <a:ext cx="16230600" cy="877050"/>
            <a:chOff x="0" y="0"/>
            <a:chExt cx="4274726" cy="23099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74726" cy="230993"/>
            </a:xfrm>
            <a:custGeom>
              <a:avLst/>
              <a:gdLst/>
              <a:ahLst/>
              <a:cxnLst/>
              <a:rect r="r" b="b" t="t" l="l"/>
              <a:pathLst>
                <a:path h="230993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30993"/>
                  </a:lnTo>
                  <a:lnTo>
                    <a:pt x="0" y="2309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0"/>
              <a:ext cx="4274726" cy="421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99"/>
                </a:lnSpc>
              </a:pPr>
              <a:r>
                <a:rPr lang="en-US" sz="2999">
                  <a:solidFill>
                    <a:srgbClr val="04165D"/>
                  </a:solidFill>
                  <a:latin typeface="Poppins"/>
                  <a:ea typeface="Poppins"/>
                  <a:cs typeface="Poppins"/>
                  <a:sym typeface="Poppins"/>
                </a:rPr>
                <a:t>KNN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854466" y="3919532"/>
            <a:ext cx="5014827" cy="3748584"/>
          </a:xfrm>
          <a:custGeom>
            <a:avLst/>
            <a:gdLst/>
            <a:ahLst/>
            <a:cxnLst/>
            <a:rect r="r" b="b" t="t" l="l"/>
            <a:pathLst>
              <a:path h="3748584" w="5014827">
                <a:moveTo>
                  <a:pt x="0" y="0"/>
                </a:moveTo>
                <a:lnTo>
                  <a:pt x="5014827" y="0"/>
                </a:lnTo>
                <a:lnTo>
                  <a:pt x="5014827" y="3748583"/>
                </a:lnTo>
                <a:lnTo>
                  <a:pt x="0" y="37485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3765222"/>
            <a:ext cx="8440664" cy="554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O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 K-Nearest Neighbors (KNN) é frequentemente resumido pelo princípio de proximidade: dados semelhantes tendem a estar próximos uns dos outros. Em vez de construir um modelo complexo durante o treinamento, o algoritmo classifica um novo dado calculando a distância (como a Euclidiana) entre ele e os seus 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k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 vizinhos mais próximos no conjunto de dados. A classificação final é det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erminada por uma "votação majoritária" entre es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ses vizinhos, ou seja, a classe mais frequente define o rótulo do novo dado.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1499997"/>
            <a:chOff x="0" y="0"/>
            <a:chExt cx="21640800" cy="199999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1640800" cy="1999996"/>
              <a:chOff x="0" y="0"/>
              <a:chExt cx="21640800" cy="199999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1640750" cy="1999996"/>
              </a:xfrm>
              <a:custGeom>
                <a:avLst/>
                <a:gdLst/>
                <a:ahLst/>
                <a:cxnLst/>
                <a:rect r="r" b="b" t="t" l="l"/>
                <a:pathLst>
                  <a:path h="1999996" w="21640750">
                    <a:moveTo>
                      <a:pt x="0" y="0"/>
                    </a:moveTo>
                    <a:lnTo>
                      <a:pt x="21640750" y="0"/>
                    </a:lnTo>
                    <a:lnTo>
                      <a:pt x="21640750" y="1999996"/>
                    </a:lnTo>
                    <a:lnTo>
                      <a:pt x="0" y="1999996"/>
                    </a:lnTo>
                    <a:close/>
                  </a:path>
                </a:pathLst>
              </a:custGeom>
              <a:solidFill>
                <a:srgbClr val="04165D"/>
              </a:solidFill>
              <a:ln w="12700">
                <a:solidFill>
                  <a:srgbClr val="000000"/>
                </a:solidFill>
              </a:ln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0" y="228473"/>
              <a:ext cx="21640800" cy="1476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400"/>
                </a:lnSpc>
              </a:pP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TE</a:t>
              </a: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ORIA DOS JOGOS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566911" y="4727108"/>
            <a:ext cx="9692389" cy="4531192"/>
          </a:xfrm>
          <a:custGeom>
            <a:avLst/>
            <a:gdLst/>
            <a:ahLst/>
            <a:cxnLst/>
            <a:rect r="r" b="b" t="t" l="l"/>
            <a:pathLst>
              <a:path h="4531192" w="9692389">
                <a:moveTo>
                  <a:pt x="0" y="0"/>
                </a:moveTo>
                <a:lnTo>
                  <a:pt x="9692389" y="0"/>
                </a:lnTo>
                <a:lnTo>
                  <a:pt x="9692389" y="4531192"/>
                </a:lnTo>
                <a:lnTo>
                  <a:pt x="0" y="45311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2648513"/>
            <a:ext cx="8620954" cy="301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Em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 ambientes multi-agentes, cada agente deve considerar as ações de outros agentes e o modo como essas ações podem afetar o meio. Em um ambiente competitivo , os objetivos do agente estão em conflito, dando origem a problemas de busca competitiva.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1499997"/>
            <a:chOff x="0" y="0"/>
            <a:chExt cx="21640800" cy="199999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1640800" cy="1999996"/>
              <a:chOff x="0" y="0"/>
              <a:chExt cx="21640800" cy="199999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1640750" cy="1999996"/>
              </a:xfrm>
              <a:custGeom>
                <a:avLst/>
                <a:gdLst/>
                <a:ahLst/>
                <a:cxnLst/>
                <a:rect r="r" b="b" t="t" l="l"/>
                <a:pathLst>
                  <a:path h="1999996" w="21640750">
                    <a:moveTo>
                      <a:pt x="0" y="0"/>
                    </a:moveTo>
                    <a:lnTo>
                      <a:pt x="21640750" y="0"/>
                    </a:lnTo>
                    <a:lnTo>
                      <a:pt x="21640750" y="1999996"/>
                    </a:lnTo>
                    <a:lnTo>
                      <a:pt x="0" y="1999996"/>
                    </a:lnTo>
                    <a:close/>
                  </a:path>
                </a:pathLst>
              </a:custGeom>
              <a:solidFill>
                <a:srgbClr val="04165D"/>
              </a:solidFill>
              <a:ln w="12700">
                <a:solidFill>
                  <a:srgbClr val="000000"/>
                </a:solidFill>
              </a:ln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0" y="228473"/>
              <a:ext cx="21640800" cy="1476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400"/>
                </a:lnSpc>
              </a:pP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TE</a:t>
              </a: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ORIA DOS JOGOS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3765222"/>
            <a:ext cx="16230600" cy="402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o Mini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max trata-se de um método recursivo que explora a árvore de jogo para determinar a jogada ótima. O algoritmo opera sob a premissa de que o oponente é racional e jogará sempre de maneira a minimizar o ganho do agente.</a:t>
            </a:r>
          </a:p>
          <a:p>
            <a:pPr algn="just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O processo ocorre em profundidade (Depth-First Search), descendo até os estados finais (nós folha) onde uma função de utilidade atribui um valor numérico ao resultado (ex: +1 para vitória, -1 para derrota). Esses valores são então propagados de volta para a raiz (backtracking): nos níveis do agente, escolhe-se o valor máximo; nos níveis do opon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ente, assume-se que será escolhido o valor mínimo. A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ssim, o Minimax garante a melhor estratégia possível contra um oponente perfeito.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094417" y="7968615"/>
            <a:ext cx="4099167" cy="1289685"/>
            <a:chOff x="0" y="0"/>
            <a:chExt cx="1079616" cy="33967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79616" cy="339670"/>
            </a:xfrm>
            <a:custGeom>
              <a:avLst/>
              <a:gdLst/>
              <a:ahLst/>
              <a:cxnLst/>
              <a:rect r="r" b="b" t="t" l="l"/>
              <a:pathLst>
                <a:path h="339670" w="1079616">
                  <a:moveTo>
                    <a:pt x="0" y="0"/>
                  </a:moveTo>
                  <a:lnTo>
                    <a:pt x="1079616" y="0"/>
                  </a:lnTo>
                  <a:lnTo>
                    <a:pt x="1079616" y="339670"/>
                  </a:lnTo>
                  <a:lnTo>
                    <a:pt x="0" y="3396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61925"/>
              <a:ext cx="1079616" cy="5015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MiniMax</a:t>
              </a:r>
            </a:p>
            <a:p>
              <a:pPr algn="ctr">
                <a:lnSpc>
                  <a:spcPts val="4499"/>
                </a:lnSpc>
              </a:pPr>
              <a:r>
                <a:rPr lang="en-US" sz="2499" u="sng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  <a:hlinkClick r:id="rId3" tooltip="https://colab.research.google.com/drive/1S5rAm47BajFoYC_cc14QyRO_JJU0EjtN"/>
                </a:rPr>
                <a:t>CÓDIGO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2764347"/>
            <a:ext cx="16230600" cy="877050"/>
            <a:chOff x="0" y="0"/>
            <a:chExt cx="4274726" cy="23099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274726" cy="230993"/>
            </a:xfrm>
            <a:custGeom>
              <a:avLst/>
              <a:gdLst/>
              <a:ahLst/>
              <a:cxnLst/>
              <a:rect r="r" b="b" t="t" l="l"/>
              <a:pathLst>
                <a:path h="230993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30993"/>
                  </a:lnTo>
                  <a:lnTo>
                    <a:pt x="0" y="2309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0"/>
              <a:ext cx="4274726" cy="421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99"/>
                </a:lnSpc>
              </a:pPr>
              <a:r>
                <a:rPr lang="en-US" sz="2999">
                  <a:solidFill>
                    <a:srgbClr val="04165D"/>
                  </a:solidFill>
                  <a:latin typeface="Poppins"/>
                  <a:ea typeface="Poppins"/>
                  <a:cs typeface="Poppins"/>
                  <a:sym typeface="Poppins"/>
                </a:rPr>
                <a:t>MINIMAX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0"/>
            <a:ext cx="9144000" cy="10287000"/>
          </a:xfrm>
          <a:custGeom>
            <a:avLst/>
            <a:gdLst/>
            <a:ahLst/>
            <a:cxnLst/>
            <a:rect r="r" b="b" t="t" l="l"/>
            <a:pathLst>
              <a:path h="10287000" w="9144000">
                <a:moveTo>
                  <a:pt x="0" y="0"/>
                </a:moveTo>
                <a:lnTo>
                  <a:pt x="9144000" y="0"/>
                </a:lnTo>
                <a:lnTo>
                  <a:pt x="9144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6223" r="-5978" b="-16223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9144000" y="1028700"/>
            <a:ext cx="8591076" cy="2791968"/>
            <a:chOff x="0" y="0"/>
            <a:chExt cx="2262720" cy="7353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62720" cy="735330"/>
            </a:xfrm>
            <a:custGeom>
              <a:avLst/>
              <a:gdLst/>
              <a:ahLst/>
              <a:cxnLst/>
              <a:rect r="r" b="b" t="t" l="l"/>
              <a:pathLst>
                <a:path h="735330" w="2262720">
                  <a:moveTo>
                    <a:pt x="2262720" y="18023"/>
                  </a:moveTo>
                  <a:lnTo>
                    <a:pt x="2262720" y="717307"/>
                  </a:lnTo>
                  <a:cubicBezTo>
                    <a:pt x="2262720" y="727261"/>
                    <a:pt x="2254651" y="735330"/>
                    <a:pt x="2244697" y="735330"/>
                  </a:cubicBezTo>
                  <a:lnTo>
                    <a:pt x="18023" y="735330"/>
                  </a:lnTo>
                  <a:cubicBezTo>
                    <a:pt x="8069" y="735330"/>
                    <a:pt x="0" y="727261"/>
                    <a:pt x="0" y="717307"/>
                  </a:cubicBezTo>
                  <a:lnTo>
                    <a:pt x="0" y="18023"/>
                  </a:lnTo>
                  <a:cubicBezTo>
                    <a:pt x="0" y="8069"/>
                    <a:pt x="8069" y="0"/>
                    <a:pt x="18023" y="0"/>
                  </a:cubicBezTo>
                  <a:lnTo>
                    <a:pt x="2244697" y="0"/>
                  </a:lnTo>
                  <a:cubicBezTo>
                    <a:pt x="2254651" y="0"/>
                    <a:pt x="2262720" y="8069"/>
                    <a:pt x="2262720" y="18023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0000">
                    <a:alpha val="25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262720" cy="773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0" y="1028700"/>
            <a:ext cx="8115300" cy="2791968"/>
            <a:chOff x="0" y="0"/>
            <a:chExt cx="10820400" cy="372262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820395" cy="3722619"/>
            </a:xfrm>
            <a:custGeom>
              <a:avLst/>
              <a:gdLst/>
              <a:ahLst/>
              <a:cxnLst/>
              <a:rect r="r" b="b" t="t" l="l"/>
              <a:pathLst>
                <a:path h="3722619" w="10820395">
                  <a:moveTo>
                    <a:pt x="0" y="0"/>
                  </a:moveTo>
                  <a:lnTo>
                    <a:pt x="10820395" y="0"/>
                  </a:lnTo>
                  <a:lnTo>
                    <a:pt x="10820395" y="3722619"/>
                  </a:lnTo>
                  <a:lnTo>
                    <a:pt x="0" y="37226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10820400" cy="3789299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r">
                <a:lnSpc>
                  <a:spcPts val="8400"/>
                </a:lnSpc>
              </a:pPr>
              <a:r>
                <a:rPr lang="en-US" b="true" sz="70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INTELIGÊNCIA COMPUTACIONAL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2262759"/>
            <a:ext cx="7548022" cy="615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99"/>
              </a:lnSpc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A </a:t>
            </a: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Inteligência Computacional (IC)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 engloba abordagens inspiradas na biologia e na natureza, projetadas para aprender e se adaptar em ambientes imprecisos. Diferente da rigidez lógica da IA Clássica, a IC utiliza modelos "bottom-up" (de baixo para cima), como Redes Neurais e Algoritmos Genéticos, que não exigem uma compreensão prévia exata do problema, mas sim a capacidade de evoluir ou ajustar-se através de dados e interações, tolerando incertezas.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1499997"/>
            <a:chOff x="0" y="0"/>
            <a:chExt cx="21640800" cy="199999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1640800" cy="1999996"/>
              <a:chOff x="0" y="0"/>
              <a:chExt cx="21640800" cy="199999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1640750" cy="1999996"/>
              </a:xfrm>
              <a:custGeom>
                <a:avLst/>
                <a:gdLst/>
                <a:ahLst/>
                <a:cxnLst/>
                <a:rect r="r" b="b" t="t" l="l"/>
                <a:pathLst>
                  <a:path h="1999996" w="21640750">
                    <a:moveTo>
                      <a:pt x="0" y="0"/>
                    </a:moveTo>
                    <a:lnTo>
                      <a:pt x="21640750" y="0"/>
                    </a:lnTo>
                    <a:lnTo>
                      <a:pt x="21640750" y="1999996"/>
                    </a:lnTo>
                    <a:lnTo>
                      <a:pt x="0" y="1999996"/>
                    </a:lnTo>
                    <a:close/>
                  </a:path>
                </a:pathLst>
              </a:custGeom>
              <a:solidFill>
                <a:srgbClr val="04165D"/>
              </a:solidFill>
              <a:ln w="12700">
                <a:solidFill>
                  <a:srgbClr val="000000"/>
                </a:solidFill>
              </a:ln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0" y="228473"/>
              <a:ext cx="21640800" cy="1476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400"/>
                </a:lnSpc>
              </a:pP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LÓG</a:t>
              </a: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ICA DIFUSA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144000" y="5291947"/>
            <a:ext cx="8115300" cy="3966353"/>
          </a:xfrm>
          <a:custGeom>
            <a:avLst/>
            <a:gdLst/>
            <a:ahLst/>
            <a:cxnLst/>
            <a:rect r="r" b="b" t="t" l="l"/>
            <a:pathLst>
              <a:path h="3966353" w="8115300">
                <a:moveTo>
                  <a:pt x="0" y="0"/>
                </a:moveTo>
                <a:lnTo>
                  <a:pt x="8115300" y="0"/>
                </a:lnTo>
                <a:lnTo>
                  <a:pt x="8115300" y="3966353"/>
                </a:lnTo>
                <a:lnTo>
                  <a:pt x="0" y="39663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2648513"/>
            <a:ext cx="16230600" cy="2006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A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 lógica difusa quantifica e lida com a incerteza, utilizando graus de inferência (0 a 1), diferente do verdadeiro/falso booleano do sistema simbólico. Enquanto o simbólico usa entradas binárias, o Fuzzy opera com valores contínuos e termos como "muito" ou "pouco" para descrever situações imprecisas. Isso permite decisões mais flexíveis em sistemas com informações não exatas.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796565" y="5155073"/>
            <a:ext cx="4099167" cy="1289685"/>
            <a:chOff x="0" y="0"/>
            <a:chExt cx="1079616" cy="3396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9616" cy="339670"/>
            </a:xfrm>
            <a:custGeom>
              <a:avLst/>
              <a:gdLst/>
              <a:ahLst/>
              <a:cxnLst/>
              <a:rect r="r" b="b" t="t" l="l"/>
              <a:pathLst>
                <a:path h="339670" w="1079616">
                  <a:moveTo>
                    <a:pt x="0" y="0"/>
                  </a:moveTo>
                  <a:lnTo>
                    <a:pt x="1079616" y="0"/>
                  </a:lnTo>
                  <a:lnTo>
                    <a:pt x="1079616" y="339670"/>
                  </a:lnTo>
                  <a:lnTo>
                    <a:pt x="0" y="3396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161925"/>
              <a:ext cx="1079616" cy="5015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Gorjeta</a:t>
              </a:r>
            </a:p>
            <a:p>
              <a:pPr algn="ctr">
                <a:lnSpc>
                  <a:spcPts val="4499"/>
                </a:lnSpc>
              </a:pPr>
              <a:r>
                <a:rPr lang="en-US" sz="2499" u="sng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  <a:hlinkClick r:id="rId4" tooltip="https://colab.research.google.com/drive/1Kio4oejaNvffUMAtfsa6Pi4L7KegV0NO"/>
                </a:rPr>
                <a:t>CÓDIGO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796565" y="6562373"/>
            <a:ext cx="4099167" cy="1289685"/>
            <a:chOff x="0" y="0"/>
            <a:chExt cx="1079616" cy="3396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79616" cy="339670"/>
            </a:xfrm>
            <a:custGeom>
              <a:avLst/>
              <a:gdLst/>
              <a:ahLst/>
              <a:cxnLst/>
              <a:rect r="r" b="b" t="t" l="l"/>
              <a:pathLst>
                <a:path h="339670" w="1079616">
                  <a:moveTo>
                    <a:pt x="0" y="0"/>
                  </a:moveTo>
                  <a:lnTo>
                    <a:pt x="1079616" y="0"/>
                  </a:lnTo>
                  <a:lnTo>
                    <a:pt x="1079616" y="339670"/>
                  </a:lnTo>
                  <a:lnTo>
                    <a:pt x="0" y="3396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61925"/>
              <a:ext cx="1079616" cy="5015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Loja de Alimentos</a:t>
              </a:r>
            </a:p>
            <a:p>
              <a:pPr algn="ctr">
                <a:lnSpc>
                  <a:spcPts val="4499"/>
                </a:lnSpc>
              </a:pPr>
              <a:r>
                <a:rPr lang="en-US" sz="2499" u="sng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  <a:hlinkClick r:id="rId5" tooltip="https://colab.research.google.com/drive/1zDhZvtEY7HA8b-iiu2h_jUD7Lfeurjq_"/>
                </a:rPr>
                <a:t>CÓDIGO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796565" y="7968615"/>
            <a:ext cx="4099167" cy="1289685"/>
            <a:chOff x="0" y="0"/>
            <a:chExt cx="1079616" cy="33967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9616" cy="339670"/>
            </a:xfrm>
            <a:custGeom>
              <a:avLst/>
              <a:gdLst/>
              <a:ahLst/>
              <a:cxnLst/>
              <a:rect r="r" b="b" t="t" l="l"/>
              <a:pathLst>
                <a:path h="339670" w="1079616">
                  <a:moveTo>
                    <a:pt x="0" y="0"/>
                  </a:moveTo>
                  <a:lnTo>
                    <a:pt x="1079616" y="0"/>
                  </a:lnTo>
                  <a:lnTo>
                    <a:pt x="1079616" y="339670"/>
                  </a:lnTo>
                  <a:lnTo>
                    <a:pt x="0" y="3396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161925"/>
              <a:ext cx="1079616" cy="5015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IMC</a:t>
              </a:r>
            </a:p>
            <a:p>
              <a:pPr algn="ctr">
                <a:lnSpc>
                  <a:spcPts val="4499"/>
                </a:lnSpc>
              </a:pPr>
              <a:r>
                <a:rPr lang="en-US" sz="2499" u="sng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  <a:hlinkClick r:id="rId6" tooltip="https://colab.research.google.com/drive/15oNWp3By82l7DgSCZYhH7KKyyeRHWhdc"/>
                </a:rPr>
                <a:t>CÓDIGO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1499997"/>
            <a:chOff x="0" y="0"/>
            <a:chExt cx="21640800" cy="199999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1640800" cy="1999996"/>
              <a:chOff x="0" y="0"/>
              <a:chExt cx="21640800" cy="199999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1640750" cy="1999996"/>
              </a:xfrm>
              <a:custGeom>
                <a:avLst/>
                <a:gdLst/>
                <a:ahLst/>
                <a:cxnLst/>
                <a:rect r="r" b="b" t="t" l="l"/>
                <a:pathLst>
                  <a:path h="1999996" w="21640750">
                    <a:moveTo>
                      <a:pt x="0" y="0"/>
                    </a:moveTo>
                    <a:lnTo>
                      <a:pt x="21640750" y="0"/>
                    </a:lnTo>
                    <a:lnTo>
                      <a:pt x="21640750" y="1999996"/>
                    </a:lnTo>
                    <a:lnTo>
                      <a:pt x="0" y="1999996"/>
                    </a:lnTo>
                    <a:close/>
                  </a:path>
                </a:pathLst>
              </a:custGeom>
              <a:solidFill>
                <a:srgbClr val="04165D"/>
              </a:solidFill>
              <a:ln w="12700">
                <a:solidFill>
                  <a:srgbClr val="000000"/>
                </a:solidFill>
              </a:ln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0" y="228473"/>
              <a:ext cx="21640800" cy="1476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400"/>
                </a:lnSpc>
              </a:pP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ABORD</a:t>
              </a: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AGEM EVOLUCIONÁRIA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2648513"/>
            <a:ext cx="16230600" cy="1501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A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 abordagem evolucionária utiliza conceitos da teoria da evolução para otimizar algoritmos e estruturas. Algoritmos genéticos e programação genética são exemplos de técnicas usadas nessa abordagem. 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5028604" y="4388413"/>
            <a:ext cx="8230793" cy="4869887"/>
          </a:xfrm>
          <a:custGeom>
            <a:avLst/>
            <a:gdLst/>
            <a:ahLst/>
            <a:cxnLst/>
            <a:rect r="r" b="b" t="t" l="l"/>
            <a:pathLst>
              <a:path h="4869887" w="8230793">
                <a:moveTo>
                  <a:pt x="0" y="0"/>
                </a:moveTo>
                <a:lnTo>
                  <a:pt x="8230792" y="0"/>
                </a:lnTo>
                <a:lnTo>
                  <a:pt x="8230792" y="4869887"/>
                </a:lnTo>
                <a:lnTo>
                  <a:pt x="0" y="48698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1499997"/>
            <a:chOff x="0" y="0"/>
            <a:chExt cx="21640800" cy="199999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1640800" cy="1999996"/>
              <a:chOff x="0" y="0"/>
              <a:chExt cx="21640800" cy="199999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1640750" cy="1999996"/>
              </a:xfrm>
              <a:custGeom>
                <a:avLst/>
                <a:gdLst/>
                <a:ahLst/>
                <a:cxnLst/>
                <a:rect r="r" b="b" t="t" l="l"/>
                <a:pathLst>
                  <a:path h="1999996" w="21640750">
                    <a:moveTo>
                      <a:pt x="0" y="0"/>
                    </a:moveTo>
                    <a:lnTo>
                      <a:pt x="21640750" y="0"/>
                    </a:lnTo>
                    <a:lnTo>
                      <a:pt x="21640750" y="1999996"/>
                    </a:lnTo>
                    <a:lnTo>
                      <a:pt x="0" y="1999996"/>
                    </a:lnTo>
                    <a:close/>
                  </a:path>
                </a:pathLst>
              </a:custGeom>
              <a:solidFill>
                <a:srgbClr val="04165D"/>
              </a:solidFill>
              <a:ln w="12700">
                <a:solidFill>
                  <a:srgbClr val="000000"/>
                </a:solidFill>
              </a:ln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0" y="228473"/>
              <a:ext cx="21640800" cy="1476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400"/>
                </a:lnSpc>
              </a:pP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ABORD</a:t>
              </a: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AGEM EVOLUCIONÁRIA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2648513"/>
            <a:ext cx="16230600" cy="1501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A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 ideia básica é manter uma população de estruturas de conhecimento, que vai evoluindo no decorrer do tempo, através de um processo de competição e variação controlada. Cada estrutura na população representa uma solução candidata para o problema.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8193545"/>
            <a:ext cx="16230600" cy="996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Apesar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 de serem diferentes, todas essas técnicas têm uma estrutura básica em comum: realizam reprodução, impõe variações aleatórias, promovem competição e executam seleção de indivíduos.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4311969"/>
            <a:ext cx="16230600" cy="2261985"/>
            <a:chOff x="0" y="0"/>
            <a:chExt cx="21640800" cy="301598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21640800" cy="1169400"/>
              <a:chOff x="0" y="0"/>
              <a:chExt cx="4274726" cy="23099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274726" cy="230993"/>
              </a:xfrm>
              <a:custGeom>
                <a:avLst/>
                <a:gdLst/>
                <a:ahLst/>
                <a:cxnLst/>
                <a:rect r="r" b="b" t="t" l="l"/>
                <a:pathLst>
                  <a:path h="230993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30993"/>
                    </a:lnTo>
                    <a:lnTo>
                      <a:pt x="0" y="23099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61925"/>
                <a:ext cx="4274726" cy="39291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499"/>
                  </a:lnSpc>
                </a:pPr>
                <a:r>
                  <a:rPr lang="en-US" b="true" sz="2499">
                    <a:solidFill>
                      <a:srgbClr val="04165D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TÉCNICAS</a:t>
                </a: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0903118" y="1296400"/>
              <a:ext cx="5286123" cy="1719580"/>
              <a:chOff x="0" y="0"/>
              <a:chExt cx="1044172" cy="33967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044172" cy="339670"/>
              </a:xfrm>
              <a:custGeom>
                <a:avLst/>
                <a:gdLst/>
                <a:ahLst/>
                <a:cxnLst/>
                <a:rect r="r" b="b" t="t" l="l"/>
                <a:pathLst>
                  <a:path h="339670" w="1044172">
                    <a:moveTo>
                      <a:pt x="0" y="0"/>
                    </a:moveTo>
                    <a:lnTo>
                      <a:pt x="1044172" y="0"/>
                    </a:lnTo>
                    <a:lnTo>
                      <a:pt x="1044172" y="339670"/>
                    </a:lnTo>
                    <a:lnTo>
                      <a:pt x="0" y="33967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161925"/>
                <a:ext cx="1044172" cy="5015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499"/>
                  </a:lnSpc>
                </a:pPr>
                <a:r>
                  <a:rPr lang="en-US" sz="2499">
                    <a:solidFill>
                      <a:srgbClr val="04165D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ALGORITMO GENÉTICO</a:t>
                </a: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6354677" y="1296400"/>
              <a:ext cx="5286123" cy="1719580"/>
              <a:chOff x="0" y="0"/>
              <a:chExt cx="1044172" cy="33967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044172" cy="339670"/>
              </a:xfrm>
              <a:custGeom>
                <a:avLst/>
                <a:gdLst/>
                <a:ahLst/>
                <a:cxnLst/>
                <a:rect r="r" b="b" t="t" l="l"/>
                <a:pathLst>
                  <a:path h="339670" w="1044172">
                    <a:moveTo>
                      <a:pt x="0" y="0"/>
                    </a:moveTo>
                    <a:lnTo>
                      <a:pt x="1044172" y="0"/>
                    </a:lnTo>
                    <a:lnTo>
                      <a:pt x="1044172" y="339670"/>
                    </a:lnTo>
                    <a:lnTo>
                      <a:pt x="0" y="33967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161925"/>
                <a:ext cx="1044172" cy="5015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499"/>
                  </a:lnSpc>
                </a:pPr>
                <a:r>
                  <a:rPr lang="en-US" sz="2499">
                    <a:solidFill>
                      <a:srgbClr val="04165D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PROGRAMAÇÃO GENÉTICA</a:t>
                </a: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1296400"/>
              <a:ext cx="5286123" cy="1719580"/>
              <a:chOff x="0" y="0"/>
              <a:chExt cx="1044172" cy="33967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044172" cy="339670"/>
              </a:xfrm>
              <a:custGeom>
                <a:avLst/>
                <a:gdLst/>
                <a:ahLst/>
                <a:cxnLst/>
                <a:rect r="r" b="b" t="t" l="l"/>
                <a:pathLst>
                  <a:path h="339670" w="1044172">
                    <a:moveTo>
                      <a:pt x="0" y="0"/>
                    </a:moveTo>
                    <a:lnTo>
                      <a:pt x="1044172" y="0"/>
                    </a:lnTo>
                    <a:lnTo>
                      <a:pt x="1044172" y="339670"/>
                    </a:lnTo>
                    <a:lnTo>
                      <a:pt x="0" y="33967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161925"/>
                <a:ext cx="1044172" cy="5015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499"/>
                  </a:lnSpc>
                </a:pPr>
                <a:r>
                  <a:rPr lang="en-US" sz="2499">
                    <a:solidFill>
                      <a:srgbClr val="04165D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ESTRATÉGIA EVOLUTIVA</a:t>
                </a: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5451559" y="1296400"/>
              <a:ext cx="5286123" cy="1719580"/>
              <a:chOff x="0" y="0"/>
              <a:chExt cx="1044172" cy="33967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044172" cy="339670"/>
              </a:xfrm>
              <a:custGeom>
                <a:avLst/>
                <a:gdLst/>
                <a:ahLst/>
                <a:cxnLst/>
                <a:rect r="r" b="b" t="t" l="l"/>
                <a:pathLst>
                  <a:path h="339670" w="1044172">
                    <a:moveTo>
                      <a:pt x="0" y="0"/>
                    </a:moveTo>
                    <a:lnTo>
                      <a:pt x="1044172" y="0"/>
                    </a:lnTo>
                    <a:lnTo>
                      <a:pt x="1044172" y="339670"/>
                    </a:lnTo>
                    <a:lnTo>
                      <a:pt x="0" y="33967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161925"/>
                <a:ext cx="1044172" cy="5015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499"/>
                  </a:lnSpc>
                </a:pPr>
                <a:r>
                  <a:rPr lang="en-US" sz="2499">
                    <a:solidFill>
                      <a:srgbClr val="04165D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PROGRAMAÇÃO EVOLUTIVA</a:t>
                </a:r>
              </a:p>
            </p:txBody>
          </p:sp>
        </p:grpSp>
      </p:grpSp>
      <p:grpSp>
        <p:nvGrpSpPr>
          <p:cNvPr name="Group 24" id="24"/>
          <p:cNvGrpSpPr/>
          <p:nvPr/>
        </p:nvGrpSpPr>
        <p:grpSpPr>
          <a:xfrm rot="0">
            <a:off x="6518893" y="5442961"/>
            <a:ext cx="5250214" cy="3957433"/>
            <a:chOff x="0" y="0"/>
            <a:chExt cx="7000285" cy="5276578"/>
          </a:xfrm>
        </p:grpSpPr>
        <p:sp>
          <p:nvSpPr>
            <p:cNvPr name="Freeform 25" id="25"/>
            <p:cNvSpPr/>
            <p:nvPr/>
          </p:nvSpPr>
          <p:spPr>
            <a:xfrm flipH="false" flipV="false" rot="2700000">
              <a:off x="772737" y="772737"/>
              <a:ext cx="3731104" cy="3731104"/>
            </a:xfrm>
            <a:custGeom>
              <a:avLst/>
              <a:gdLst/>
              <a:ahLst/>
              <a:cxnLst/>
              <a:rect r="r" b="b" t="t" l="l"/>
              <a:pathLst>
                <a:path h="3731104" w="3731104">
                  <a:moveTo>
                    <a:pt x="0" y="0"/>
                  </a:moveTo>
                  <a:lnTo>
                    <a:pt x="3731104" y="0"/>
                  </a:lnTo>
                  <a:lnTo>
                    <a:pt x="3731104" y="3731104"/>
                  </a:lnTo>
                  <a:lnTo>
                    <a:pt x="0" y="37311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true" flipV="true" rot="2700000">
              <a:off x="2496444" y="772737"/>
              <a:ext cx="3731104" cy="3731104"/>
            </a:xfrm>
            <a:custGeom>
              <a:avLst/>
              <a:gdLst/>
              <a:ahLst/>
              <a:cxnLst/>
              <a:rect r="r" b="b" t="t" l="l"/>
              <a:pathLst>
                <a:path h="3731104" w="3731104">
                  <a:moveTo>
                    <a:pt x="3731104" y="3731104"/>
                  </a:moveTo>
                  <a:lnTo>
                    <a:pt x="0" y="3731104"/>
                  </a:lnTo>
                  <a:lnTo>
                    <a:pt x="0" y="0"/>
                  </a:lnTo>
                  <a:lnTo>
                    <a:pt x="3731104" y="0"/>
                  </a:lnTo>
                  <a:lnTo>
                    <a:pt x="3731104" y="3731104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1499997"/>
            <a:chOff x="0" y="0"/>
            <a:chExt cx="21640800" cy="199999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1640800" cy="1999996"/>
              <a:chOff x="0" y="0"/>
              <a:chExt cx="21640800" cy="199999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1640750" cy="1999996"/>
              </a:xfrm>
              <a:custGeom>
                <a:avLst/>
                <a:gdLst/>
                <a:ahLst/>
                <a:cxnLst/>
                <a:rect r="r" b="b" t="t" l="l"/>
                <a:pathLst>
                  <a:path h="1999996" w="21640750">
                    <a:moveTo>
                      <a:pt x="0" y="0"/>
                    </a:moveTo>
                    <a:lnTo>
                      <a:pt x="21640750" y="0"/>
                    </a:lnTo>
                    <a:lnTo>
                      <a:pt x="21640750" y="1999996"/>
                    </a:lnTo>
                    <a:lnTo>
                      <a:pt x="0" y="1999996"/>
                    </a:lnTo>
                    <a:close/>
                  </a:path>
                </a:pathLst>
              </a:custGeom>
              <a:solidFill>
                <a:srgbClr val="04165D"/>
              </a:solidFill>
              <a:ln w="12700">
                <a:solidFill>
                  <a:srgbClr val="000000"/>
                </a:solidFill>
              </a:ln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0" y="228473"/>
              <a:ext cx="21640800" cy="1476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400"/>
                </a:lnSpc>
              </a:pP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AB</a:t>
              </a: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ORDAGEM EVOLUCIONÁRIA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3765222"/>
            <a:ext cx="8250910" cy="503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O Algoritmo Genético é uma técnica de busca e oti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mização. Ele opera mantendo uma população de "indivíduos", possível solução. Onde essa população é evoluída ao longo de gerações aplicando operadores como seleção (escolher os mais aptos), cruzamento (combinar características de pais para gerar filhos) e mutação (alterações aleatórias para manter a diversidade). Até que seja e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ncontrado a solução que melhor satisfaz uma "função de ap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tidão" (fitness).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213159" y="7946250"/>
            <a:ext cx="4099167" cy="1289685"/>
            <a:chOff x="0" y="0"/>
            <a:chExt cx="1079616" cy="33967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79616" cy="339670"/>
            </a:xfrm>
            <a:custGeom>
              <a:avLst/>
              <a:gdLst/>
              <a:ahLst/>
              <a:cxnLst/>
              <a:rect r="r" b="b" t="t" l="l"/>
              <a:pathLst>
                <a:path h="339670" w="1079616">
                  <a:moveTo>
                    <a:pt x="0" y="0"/>
                  </a:moveTo>
                  <a:lnTo>
                    <a:pt x="1079616" y="0"/>
                  </a:lnTo>
                  <a:lnTo>
                    <a:pt x="1079616" y="339670"/>
                  </a:lnTo>
                  <a:lnTo>
                    <a:pt x="0" y="3396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61925"/>
              <a:ext cx="1079616" cy="5015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Algoritmo Genético</a:t>
              </a:r>
            </a:p>
            <a:p>
              <a:pPr algn="ctr">
                <a:lnSpc>
                  <a:spcPts val="4499"/>
                </a:lnSpc>
              </a:pPr>
              <a:r>
                <a:rPr lang="en-US" sz="2499" u="sng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  <a:hlinkClick r:id="rId3" tooltip="https://colab.research.google.com/drive/1rki3taZCzhBoiEP8SdRthFIuxiJuAkmR"/>
                </a:rPr>
                <a:t>CÓDIGO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2764347"/>
            <a:ext cx="16230600" cy="877050"/>
            <a:chOff x="0" y="0"/>
            <a:chExt cx="4274726" cy="23099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274726" cy="230993"/>
            </a:xfrm>
            <a:custGeom>
              <a:avLst/>
              <a:gdLst/>
              <a:ahLst/>
              <a:cxnLst/>
              <a:rect r="r" b="b" t="t" l="l"/>
              <a:pathLst>
                <a:path h="230993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30993"/>
                  </a:lnTo>
                  <a:lnTo>
                    <a:pt x="0" y="2309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0"/>
              <a:ext cx="4274726" cy="421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99"/>
                </a:lnSpc>
              </a:pPr>
              <a:r>
                <a:rPr lang="en-US" sz="2999">
                  <a:solidFill>
                    <a:srgbClr val="04165D"/>
                  </a:solidFill>
                  <a:latin typeface="Poppins"/>
                  <a:ea typeface="Poppins"/>
                  <a:cs typeface="Poppins"/>
                  <a:sym typeface="Poppins"/>
                </a:rPr>
                <a:t>ALGORITMO GENÉTICO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181286" y="3879522"/>
            <a:ext cx="6162912" cy="3921852"/>
          </a:xfrm>
          <a:custGeom>
            <a:avLst/>
            <a:gdLst/>
            <a:ahLst/>
            <a:cxnLst/>
            <a:rect r="r" b="b" t="t" l="l"/>
            <a:pathLst>
              <a:path h="3921852" w="6162912">
                <a:moveTo>
                  <a:pt x="0" y="0"/>
                </a:moveTo>
                <a:lnTo>
                  <a:pt x="6162912" y="0"/>
                </a:lnTo>
                <a:lnTo>
                  <a:pt x="6162912" y="3921852"/>
                </a:lnTo>
                <a:lnTo>
                  <a:pt x="0" y="39218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1499997"/>
            <a:chOff x="0" y="0"/>
            <a:chExt cx="21640800" cy="199999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1640800" cy="1999996"/>
              <a:chOff x="0" y="0"/>
              <a:chExt cx="21640800" cy="199999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1640750" cy="1999996"/>
              </a:xfrm>
              <a:custGeom>
                <a:avLst/>
                <a:gdLst/>
                <a:ahLst/>
                <a:cxnLst/>
                <a:rect r="r" b="b" t="t" l="l"/>
                <a:pathLst>
                  <a:path h="1999996" w="21640750">
                    <a:moveTo>
                      <a:pt x="0" y="0"/>
                    </a:moveTo>
                    <a:lnTo>
                      <a:pt x="21640750" y="0"/>
                    </a:lnTo>
                    <a:lnTo>
                      <a:pt x="21640750" y="1999996"/>
                    </a:lnTo>
                    <a:lnTo>
                      <a:pt x="0" y="1999996"/>
                    </a:lnTo>
                    <a:close/>
                  </a:path>
                </a:pathLst>
              </a:custGeom>
              <a:solidFill>
                <a:srgbClr val="04165D"/>
              </a:solidFill>
              <a:ln w="12700">
                <a:solidFill>
                  <a:srgbClr val="000000"/>
                </a:solidFill>
              </a:ln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0" y="228473"/>
              <a:ext cx="21640800" cy="1476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400"/>
                </a:lnSpc>
              </a:pP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ABORD</a:t>
              </a: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AGEM COMPORTAMENTAL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2651125"/>
            <a:ext cx="7997125" cy="604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A 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abordagem computacional é inspirada no comportamento coletivo de organismos sociais refere-se à aplicação de princípios observados em grupos de organismos sociais, como insetos sociais, cardumes de peixes ou bandos de pássaros, para o design e desenvolvimento de algoritmos computacionais.</a:t>
            </a:r>
          </a:p>
          <a:p>
            <a:pPr algn="just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Algoritmos baseados em comportamento coletivo muitas vezes buscam replicar a inteligência emergente observada em grupos de seres vivos, onde o comportamento global do grupo vem da interação entre os membros individuais.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286490" y="2765425"/>
            <a:ext cx="5715671" cy="3010995"/>
          </a:xfrm>
          <a:custGeom>
            <a:avLst/>
            <a:gdLst/>
            <a:ahLst/>
            <a:cxnLst/>
            <a:rect r="r" b="b" t="t" l="l"/>
            <a:pathLst>
              <a:path h="3010995" w="5715671">
                <a:moveTo>
                  <a:pt x="0" y="0"/>
                </a:moveTo>
                <a:lnTo>
                  <a:pt x="5715671" y="0"/>
                </a:lnTo>
                <a:lnTo>
                  <a:pt x="5715671" y="3010995"/>
                </a:lnTo>
                <a:lnTo>
                  <a:pt x="0" y="30109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0179" r="0" b="-16371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6490" y="6014545"/>
            <a:ext cx="5715671" cy="3010995"/>
          </a:xfrm>
          <a:custGeom>
            <a:avLst/>
            <a:gdLst/>
            <a:ahLst/>
            <a:cxnLst/>
            <a:rect r="r" b="b" t="t" l="l"/>
            <a:pathLst>
              <a:path h="3010995" w="5715671">
                <a:moveTo>
                  <a:pt x="0" y="0"/>
                </a:moveTo>
                <a:lnTo>
                  <a:pt x="5715671" y="0"/>
                </a:lnTo>
                <a:lnTo>
                  <a:pt x="5715671" y="3010994"/>
                </a:lnTo>
                <a:lnTo>
                  <a:pt x="0" y="30109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3186" r="0" b="-13186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1499997"/>
            <a:chOff x="0" y="0"/>
            <a:chExt cx="21640800" cy="199999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1640800" cy="1999996"/>
              <a:chOff x="0" y="0"/>
              <a:chExt cx="21640800" cy="199999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1640750" cy="1999996"/>
              </a:xfrm>
              <a:custGeom>
                <a:avLst/>
                <a:gdLst/>
                <a:ahLst/>
                <a:cxnLst/>
                <a:rect r="r" b="b" t="t" l="l"/>
                <a:pathLst>
                  <a:path h="1999996" w="21640750">
                    <a:moveTo>
                      <a:pt x="0" y="0"/>
                    </a:moveTo>
                    <a:lnTo>
                      <a:pt x="21640750" y="0"/>
                    </a:lnTo>
                    <a:lnTo>
                      <a:pt x="21640750" y="1999996"/>
                    </a:lnTo>
                    <a:lnTo>
                      <a:pt x="0" y="1999996"/>
                    </a:lnTo>
                    <a:close/>
                  </a:path>
                </a:pathLst>
              </a:custGeom>
              <a:solidFill>
                <a:srgbClr val="04165D"/>
              </a:solidFill>
              <a:ln w="12700">
                <a:solidFill>
                  <a:srgbClr val="000000"/>
                </a:solidFill>
              </a:ln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0" y="228473"/>
              <a:ext cx="21640800" cy="1476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400"/>
                </a:lnSpc>
              </a:pP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AB</a:t>
              </a: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ORDAGEM COMPORTAMENTAL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2764347"/>
            <a:ext cx="16230600" cy="877050"/>
            <a:chOff x="0" y="0"/>
            <a:chExt cx="4274726" cy="2309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74726" cy="230993"/>
            </a:xfrm>
            <a:custGeom>
              <a:avLst/>
              <a:gdLst/>
              <a:ahLst/>
              <a:cxnLst/>
              <a:rect r="r" b="b" t="t" l="l"/>
              <a:pathLst>
                <a:path h="230993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30993"/>
                  </a:lnTo>
                  <a:lnTo>
                    <a:pt x="0" y="2309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90500"/>
              <a:ext cx="4274726" cy="421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99"/>
                </a:lnSpc>
              </a:pPr>
              <a:r>
                <a:rPr lang="en-US" sz="2999">
                  <a:solidFill>
                    <a:srgbClr val="04165D"/>
                  </a:solidFill>
                  <a:latin typeface="Poppins"/>
                  <a:ea typeface="Poppins"/>
                  <a:cs typeface="Poppins"/>
                  <a:sym typeface="Poppins"/>
                </a:rPr>
                <a:t>INTELIGÊNCIA DE ENXAME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112176" y="3879522"/>
            <a:ext cx="6327974" cy="5378778"/>
          </a:xfrm>
          <a:custGeom>
            <a:avLst/>
            <a:gdLst/>
            <a:ahLst/>
            <a:cxnLst/>
            <a:rect r="r" b="b" t="t" l="l"/>
            <a:pathLst>
              <a:path h="5378778" w="6327974">
                <a:moveTo>
                  <a:pt x="0" y="0"/>
                </a:moveTo>
                <a:lnTo>
                  <a:pt x="6327974" y="0"/>
                </a:lnTo>
                <a:lnTo>
                  <a:pt x="6327974" y="5378778"/>
                </a:lnTo>
                <a:lnTo>
                  <a:pt x="0" y="53787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3765222"/>
            <a:ext cx="8250910" cy="453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A ideia principal por trás da inteligência de enxame é 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modelar o comportamento coletivo para resolver problemas complexos. Os sistemas são compostos por agentes individuais simples, chamados de "partículas" ou "indivíduos", que interagem entre si e com o ambiente de maneira local. Esses agentes seguem regras simples, mas através de interações locais, o sistema 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como um todo exibe comportamento global complexo e adap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tativo.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1499997"/>
            <a:chOff x="0" y="0"/>
            <a:chExt cx="21640800" cy="199999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1640800" cy="1999996"/>
              <a:chOff x="0" y="0"/>
              <a:chExt cx="21640800" cy="199999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1640750" cy="1999996"/>
              </a:xfrm>
              <a:custGeom>
                <a:avLst/>
                <a:gdLst/>
                <a:ahLst/>
                <a:cxnLst/>
                <a:rect r="r" b="b" t="t" l="l"/>
                <a:pathLst>
                  <a:path h="1999996" w="21640750">
                    <a:moveTo>
                      <a:pt x="0" y="0"/>
                    </a:moveTo>
                    <a:lnTo>
                      <a:pt x="21640750" y="0"/>
                    </a:lnTo>
                    <a:lnTo>
                      <a:pt x="21640750" y="1999996"/>
                    </a:lnTo>
                    <a:lnTo>
                      <a:pt x="0" y="1999996"/>
                    </a:lnTo>
                    <a:close/>
                  </a:path>
                </a:pathLst>
              </a:custGeom>
              <a:solidFill>
                <a:srgbClr val="04165D"/>
              </a:solidFill>
              <a:ln w="12700">
                <a:solidFill>
                  <a:srgbClr val="000000"/>
                </a:solidFill>
              </a:ln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0" y="228473"/>
              <a:ext cx="21640800" cy="1476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400"/>
                </a:lnSpc>
              </a:pP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AB</a:t>
              </a: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ORDAGEM COMPORTAMENTAL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2764347"/>
            <a:ext cx="8115300" cy="877050"/>
            <a:chOff x="0" y="0"/>
            <a:chExt cx="2137363" cy="2309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37363" cy="230993"/>
            </a:xfrm>
            <a:custGeom>
              <a:avLst/>
              <a:gdLst/>
              <a:ahLst/>
              <a:cxnLst/>
              <a:rect r="r" b="b" t="t" l="l"/>
              <a:pathLst>
                <a:path h="230993" w="2137363">
                  <a:moveTo>
                    <a:pt x="0" y="0"/>
                  </a:moveTo>
                  <a:lnTo>
                    <a:pt x="2137363" y="0"/>
                  </a:lnTo>
                  <a:lnTo>
                    <a:pt x="2137363" y="230993"/>
                  </a:lnTo>
                  <a:lnTo>
                    <a:pt x="0" y="2309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61925"/>
              <a:ext cx="2137363" cy="3929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99"/>
                </a:lnSpc>
              </a:pPr>
              <a:r>
                <a:rPr lang="en-US" b="true" sz="2499">
                  <a:solidFill>
                    <a:srgbClr val="04165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OTIMIZAÇÃO POR ENXAME DE PARTICULAS (PSO)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0" y="2765585"/>
            <a:ext cx="8115300" cy="877050"/>
            <a:chOff x="0" y="0"/>
            <a:chExt cx="2137363" cy="23099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37363" cy="230993"/>
            </a:xfrm>
            <a:custGeom>
              <a:avLst/>
              <a:gdLst/>
              <a:ahLst/>
              <a:cxnLst/>
              <a:rect r="r" b="b" t="t" l="l"/>
              <a:pathLst>
                <a:path h="230993" w="2137363">
                  <a:moveTo>
                    <a:pt x="0" y="0"/>
                  </a:moveTo>
                  <a:lnTo>
                    <a:pt x="2137363" y="0"/>
                  </a:lnTo>
                  <a:lnTo>
                    <a:pt x="2137363" y="230993"/>
                  </a:lnTo>
                  <a:lnTo>
                    <a:pt x="0" y="2309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161925"/>
              <a:ext cx="2137363" cy="3929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99"/>
                </a:lnSpc>
              </a:pPr>
              <a:r>
                <a:rPr lang="en-US" b="true" sz="2499">
                  <a:solidFill>
                    <a:srgbClr val="04165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ALGORITMO DE COLÔNIA DE FORMIGAS (ACO)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28700" y="6691144"/>
            <a:ext cx="4917923" cy="2567156"/>
          </a:xfrm>
          <a:custGeom>
            <a:avLst/>
            <a:gdLst/>
            <a:ahLst/>
            <a:cxnLst/>
            <a:rect r="r" b="b" t="t" l="l"/>
            <a:pathLst>
              <a:path h="2567156" w="4917923">
                <a:moveTo>
                  <a:pt x="0" y="0"/>
                </a:moveTo>
                <a:lnTo>
                  <a:pt x="4917923" y="0"/>
                </a:lnTo>
                <a:lnTo>
                  <a:pt x="4917923" y="2567156"/>
                </a:lnTo>
                <a:lnTo>
                  <a:pt x="0" y="25671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443553" y="6695255"/>
            <a:ext cx="4815747" cy="2563045"/>
          </a:xfrm>
          <a:custGeom>
            <a:avLst/>
            <a:gdLst/>
            <a:ahLst/>
            <a:cxnLst/>
            <a:rect r="r" b="b" t="t" l="l"/>
            <a:pathLst>
              <a:path h="2563045" w="4815747">
                <a:moveTo>
                  <a:pt x="0" y="0"/>
                </a:moveTo>
                <a:lnTo>
                  <a:pt x="4815747" y="0"/>
                </a:lnTo>
                <a:lnTo>
                  <a:pt x="4815747" y="2563045"/>
                </a:lnTo>
                <a:lnTo>
                  <a:pt x="0" y="25630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387" t="-9085" r="-8533" b="-21913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3765222"/>
            <a:ext cx="7921571" cy="2511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Neste método, cada partícula representa u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ma solução candidata para um problema de otimização, e as partículas movem-se no espaço de busca com base em seu desempenho e no melhor desempenho en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contrado até o momen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to.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337729" y="3765222"/>
            <a:ext cx="7921571" cy="2511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Inspirado no comportamento de formigas r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eais, é utilizado para resolver problemas de otimização combinatória. As formigas depositam feromônios nas trilhas, e as escolhas são influenciadas pela q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uantidade de feromôn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ios.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094417" y="6514772"/>
            <a:ext cx="4099167" cy="1289685"/>
            <a:chOff x="0" y="0"/>
            <a:chExt cx="1079616" cy="33967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79616" cy="339670"/>
            </a:xfrm>
            <a:custGeom>
              <a:avLst/>
              <a:gdLst/>
              <a:ahLst/>
              <a:cxnLst/>
              <a:rect r="r" b="b" t="t" l="l"/>
              <a:pathLst>
                <a:path h="339670" w="1079616">
                  <a:moveTo>
                    <a:pt x="0" y="0"/>
                  </a:moveTo>
                  <a:lnTo>
                    <a:pt x="1079616" y="0"/>
                  </a:lnTo>
                  <a:lnTo>
                    <a:pt x="1079616" y="339670"/>
                  </a:lnTo>
                  <a:lnTo>
                    <a:pt x="0" y="3396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161925"/>
              <a:ext cx="1079616" cy="5015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(PSO)</a:t>
              </a:r>
            </a:p>
            <a:p>
              <a:pPr algn="ctr">
                <a:lnSpc>
                  <a:spcPts val="4499"/>
                </a:lnSpc>
              </a:pPr>
              <a:r>
                <a:rPr lang="en-US" sz="2499" u="sng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  <a:hlinkClick r:id="rId5" tooltip="https://colab.research.google.com/drive/1KQCa2sssDth0R4j7685y_Oqip9YGnItU"/>
                </a:rPr>
                <a:t>CÓDIGO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094417" y="7968615"/>
            <a:ext cx="4099167" cy="1289685"/>
            <a:chOff x="0" y="0"/>
            <a:chExt cx="1079616" cy="3396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79616" cy="339670"/>
            </a:xfrm>
            <a:custGeom>
              <a:avLst/>
              <a:gdLst/>
              <a:ahLst/>
              <a:cxnLst/>
              <a:rect r="r" b="b" t="t" l="l"/>
              <a:pathLst>
                <a:path h="339670" w="1079616">
                  <a:moveTo>
                    <a:pt x="0" y="0"/>
                  </a:moveTo>
                  <a:lnTo>
                    <a:pt x="1079616" y="0"/>
                  </a:lnTo>
                  <a:lnTo>
                    <a:pt x="1079616" y="339670"/>
                  </a:lnTo>
                  <a:lnTo>
                    <a:pt x="0" y="3396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161925"/>
              <a:ext cx="1079616" cy="5015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(ACO)</a:t>
              </a:r>
            </a:p>
            <a:p>
              <a:pPr algn="ctr">
                <a:lnSpc>
                  <a:spcPts val="4499"/>
                </a:lnSpc>
              </a:pPr>
              <a:r>
                <a:rPr lang="en-US" sz="2499" u="sng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  <a:hlinkClick r:id="rId6" tooltip="https://colab.research.google.com/drive/1tb3XOTExx-46S1rRPB9s5IxRT9DB-RNK"/>
                </a:rPr>
                <a:t>CÓDIGO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1499997"/>
            <a:chOff x="0" y="0"/>
            <a:chExt cx="21640800" cy="199999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1640800" cy="1999996"/>
              <a:chOff x="0" y="0"/>
              <a:chExt cx="21640800" cy="199999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1640750" cy="1999996"/>
              </a:xfrm>
              <a:custGeom>
                <a:avLst/>
                <a:gdLst/>
                <a:ahLst/>
                <a:cxnLst/>
                <a:rect r="r" b="b" t="t" l="l"/>
                <a:pathLst>
                  <a:path h="1999996" w="21640750">
                    <a:moveTo>
                      <a:pt x="0" y="0"/>
                    </a:moveTo>
                    <a:lnTo>
                      <a:pt x="21640750" y="0"/>
                    </a:lnTo>
                    <a:lnTo>
                      <a:pt x="21640750" y="1999996"/>
                    </a:lnTo>
                    <a:lnTo>
                      <a:pt x="0" y="1999996"/>
                    </a:lnTo>
                    <a:close/>
                  </a:path>
                </a:pathLst>
              </a:custGeom>
              <a:solidFill>
                <a:srgbClr val="04165D"/>
              </a:solidFill>
              <a:ln w="12700">
                <a:solidFill>
                  <a:srgbClr val="000000"/>
                </a:solidFill>
              </a:ln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0" y="228473"/>
              <a:ext cx="21640800" cy="1476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400"/>
                </a:lnSpc>
              </a:pP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AB</a:t>
              </a: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ORDAGEM CONEXIONISTA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2764347"/>
            <a:ext cx="16230600" cy="877050"/>
            <a:chOff x="0" y="0"/>
            <a:chExt cx="4274726" cy="2309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74726" cy="230993"/>
            </a:xfrm>
            <a:custGeom>
              <a:avLst/>
              <a:gdLst/>
              <a:ahLst/>
              <a:cxnLst/>
              <a:rect r="r" b="b" t="t" l="l"/>
              <a:pathLst>
                <a:path h="230993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30993"/>
                  </a:lnTo>
                  <a:lnTo>
                    <a:pt x="0" y="2309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90500"/>
              <a:ext cx="4274726" cy="421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99"/>
                </a:lnSpc>
              </a:pPr>
              <a:r>
                <a:rPr lang="en-US" sz="2999">
                  <a:solidFill>
                    <a:srgbClr val="04165D"/>
                  </a:solidFill>
                  <a:latin typeface="Poppins"/>
                  <a:ea typeface="Poppins"/>
                  <a:cs typeface="Poppins"/>
                  <a:sym typeface="Poppins"/>
                </a:rPr>
                <a:t>REDE NEURAL ARTIFICIAIS (RNA)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6144688" y="6009947"/>
            <a:ext cx="5998624" cy="3248353"/>
          </a:xfrm>
          <a:custGeom>
            <a:avLst/>
            <a:gdLst/>
            <a:ahLst/>
            <a:cxnLst/>
            <a:rect r="r" b="b" t="t" l="l"/>
            <a:pathLst>
              <a:path h="3248353" w="5998624">
                <a:moveTo>
                  <a:pt x="0" y="0"/>
                </a:moveTo>
                <a:lnTo>
                  <a:pt x="5998624" y="0"/>
                </a:lnTo>
                <a:lnTo>
                  <a:pt x="5998624" y="3248353"/>
                </a:lnTo>
                <a:lnTo>
                  <a:pt x="0" y="32483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3765222"/>
            <a:ext cx="16230600" cy="2006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São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 inspiradas na estrutura e funcionamento do sistema nervoso biológico. Elas são compostas por unidades de processamento interconectadas, chamadas de neurônios artificiais, organizadas geralmente em camadas: uma de entrada (que recebe os dados), uma ou mais camadas ocultas (que extraem características) e uma de saída (que entrega o resultado).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0"/>
            <a:ext cx="9144000" cy="10287000"/>
          </a:xfrm>
          <a:custGeom>
            <a:avLst/>
            <a:gdLst/>
            <a:ahLst/>
            <a:cxnLst/>
            <a:rect r="r" b="b" t="t" l="l"/>
            <a:pathLst>
              <a:path h="10287000" w="9144000">
                <a:moveTo>
                  <a:pt x="0" y="0"/>
                </a:moveTo>
                <a:lnTo>
                  <a:pt x="9144000" y="0"/>
                </a:lnTo>
                <a:lnTo>
                  <a:pt x="9144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6223" r="-5978" b="-1622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53643"/>
            <a:ext cx="8115300" cy="557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b="true" sz="3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MACHINE LEARNING</a:t>
            </a:r>
          </a:p>
          <a:p>
            <a:pPr algn="l" marL="647702" indent="-323851" lvl="1">
              <a:lnSpc>
                <a:spcPts val="48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DD</a:t>
            </a:r>
          </a:p>
          <a:p>
            <a:pPr algn="l" marL="647702" indent="-323851" lvl="1">
              <a:lnSpc>
                <a:spcPts val="48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APREN</a:t>
            </a: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IZADO</a:t>
            </a:r>
          </a:p>
          <a:p>
            <a:pPr algn="l" marL="1079509" indent="-359836" lvl="2">
              <a:lnSpc>
                <a:spcPts val="4000"/>
              </a:lnSpc>
              <a:buFont typeface="Arial"/>
              <a:buChar char="⚬"/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SUPERVISIONADO</a:t>
            </a:r>
          </a:p>
          <a:p>
            <a:pPr algn="l" marL="1079509" indent="-359836" lvl="2">
              <a:lnSpc>
                <a:spcPts val="4000"/>
              </a:lnSpc>
              <a:buFont typeface="Arial"/>
              <a:buChar char="⚬"/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NÃO SUPERVISIONADO</a:t>
            </a:r>
          </a:p>
          <a:p>
            <a:pPr algn="l" marL="1079509" indent="-359836" lvl="2">
              <a:lnSpc>
                <a:spcPts val="4000"/>
              </a:lnSpc>
              <a:buFont typeface="Arial"/>
              <a:buChar char="⚬"/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POR REFORÇO</a:t>
            </a:r>
          </a:p>
          <a:p>
            <a:pPr algn="l" marL="647702" indent="-323851" lvl="1">
              <a:lnSpc>
                <a:spcPts val="48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AVALIAÇÃO</a:t>
            </a:r>
          </a:p>
          <a:p>
            <a:pPr algn="l" marL="1079509" indent="-359836" lvl="2">
              <a:lnSpc>
                <a:spcPts val="4000"/>
              </a:lnSpc>
              <a:buFont typeface="Arial"/>
              <a:buChar char="⚬"/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CLASSIFICAÇÃO</a:t>
            </a:r>
          </a:p>
          <a:p>
            <a:pPr algn="l" marL="1079509" indent="-359836" lvl="2">
              <a:lnSpc>
                <a:spcPts val="4000"/>
              </a:lnSpc>
              <a:buFont typeface="Arial"/>
              <a:buChar char="⚬"/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REGRESSÃO</a:t>
            </a:r>
          </a:p>
          <a:p>
            <a:pPr algn="l" marL="1079509" indent="-359836" lvl="2">
              <a:lnSpc>
                <a:spcPts val="4000"/>
              </a:lnSpc>
              <a:buFont typeface="Arial"/>
              <a:buChar char="⚬"/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CLUSTERIZAÇÃO</a:t>
            </a:r>
          </a:p>
        </p:txBody>
      </p:sp>
      <p:grpSp>
        <p:nvGrpSpPr>
          <p:cNvPr name="Group 4" id="4"/>
          <p:cNvGrpSpPr/>
          <p:nvPr/>
        </p:nvGrpSpPr>
        <p:grpSpPr>
          <a:xfrm rot="-10800000">
            <a:off x="9144000" y="1028700"/>
            <a:ext cx="8591076" cy="2791968"/>
            <a:chOff x="0" y="0"/>
            <a:chExt cx="2262720" cy="7353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2720" cy="735330"/>
            </a:xfrm>
            <a:custGeom>
              <a:avLst/>
              <a:gdLst/>
              <a:ahLst/>
              <a:cxnLst/>
              <a:rect r="r" b="b" t="t" l="l"/>
              <a:pathLst>
                <a:path h="735330" w="2262720">
                  <a:moveTo>
                    <a:pt x="2262720" y="18023"/>
                  </a:moveTo>
                  <a:lnTo>
                    <a:pt x="2262720" y="717307"/>
                  </a:lnTo>
                  <a:cubicBezTo>
                    <a:pt x="2262720" y="727261"/>
                    <a:pt x="2254651" y="735330"/>
                    <a:pt x="2244697" y="735330"/>
                  </a:cubicBezTo>
                  <a:lnTo>
                    <a:pt x="18023" y="735330"/>
                  </a:lnTo>
                  <a:cubicBezTo>
                    <a:pt x="8069" y="735330"/>
                    <a:pt x="0" y="727261"/>
                    <a:pt x="0" y="717307"/>
                  </a:cubicBezTo>
                  <a:lnTo>
                    <a:pt x="0" y="18023"/>
                  </a:lnTo>
                  <a:cubicBezTo>
                    <a:pt x="0" y="8069"/>
                    <a:pt x="8069" y="0"/>
                    <a:pt x="18023" y="0"/>
                  </a:cubicBezTo>
                  <a:lnTo>
                    <a:pt x="2244697" y="0"/>
                  </a:lnTo>
                  <a:cubicBezTo>
                    <a:pt x="2254651" y="0"/>
                    <a:pt x="2262720" y="8069"/>
                    <a:pt x="2262720" y="18023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0000">
                    <a:alpha val="25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62720" cy="773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0" y="1028700"/>
            <a:ext cx="8473691" cy="2791968"/>
            <a:chOff x="0" y="0"/>
            <a:chExt cx="11298255" cy="372262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298249" cy="3722619"/>
            </a:xfrm>
            <a:custGeom>
              <a:avLst/>
              <a:gdLst/>
              <a:ahLst/>
              <a:cxnLst/>
              <a:rect r="r" b="b" t="t" l="l"/>
              <a:pathLst>
                <a:path h="3722619" w="11298249">
                  <a:moveTo>
                    <a:pt x="0" y="0"/>
                  </a:moveTo>
                  <a:lnTo>
                    <a:pt x="11298249" y="0"/>
                  </a:lnTo>
                  <a:lnTo>
                    <a:pt x="11298249" y="3722619"/>
                  </a:lnTo>
                  <a:lnTo>
                    <a:pt x="0" y="37226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1298255" cy="3779774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r">
                <a:lnSpc>
                  <a:spcPts val="8399"/>
                </a:lnSpc>
              </a:pPr>
              <a:r>
                <a:rPr lang="en-US" b="true" sz="69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MACHINE LEARNING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1499997"/>
            <a:chOff x="0" y="0"/>
            <a:chExt cx="21640800" cy="199999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1640800" cy="1999996"/>
              <a:chOff x="0" y="0"/>
              <a:chExt cx="21640800" cy="199999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1640750" cy="1999996"/>
              </a:xfrm>
              <a:custGeom>
                <a:avLst/>
                <a:gdLst/>
                <a:ahLst/>
                <a:cxnLst/>
                <a:rect r="r" b="b" t="t" l="l"/>
                <a:pathLst>
                  <a:path h="1999996" w="21640750">
                    <a:moveTo>
                      <a:pt x="0" y="0"/>
                    </a:moveTo>
                    <a:lnTo>
                      <a:pt x="21640750" y="0"/>
                    </a:lnTo>
                    <a:lnTo>
                      <a:pt x="21640750" y="1999996"/>
                    </a:lnTo>
                    <a:lnTo>
                      <a:pt x="0" y="1999996"/>
                    </a:lnTo>
                    <a:close/>
                  </a:path>
                </a:pathLst>
              </a:custGeom>
              <a:solidFill>
                <a:srgbClr val="04165D"/>
              </a:solidFill>
              <a:ln w="12700">
                <a:solidFill>
                  <a:srgbClr val="000000"/>
                </a:solidFill>
              </a:ln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0" y="228473"/>
              <a:ext cx="21640800" cy="1476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400"/>
                </a:lnSpc>
              </a:pP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KDD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092694" y="4896814"/>
            <a:ext cx="12102611" cy="3264389"/>
          </a:xfrm>
          <a:custGeom>
            <a:avLst/>
            <a:gdLst/>
            <a:ahLst/>
            <a:cxnLst/>
            <a:rect r="r" b="b" t="t" l="l"/>
            <a:pathLst>
              <a:path h="3264389" w="12102611">
                <a:moveTo>
                  <a:pt x="0" y="0"/>
                </a:moveTo>
                <a:lnTo>
                  <a:pt x="12102612" y="0"/>
                </a:lnTo>
                <a:lnTo>
                  <a:pt x="12102612" y="3264389"/>
                </a:lnTo>
                <a:lnTo>
                  <a:pt x="0" y="32643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1473" r="0" b="-51046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2652089"/>
            <a:ext cx="16230600" cy="2006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Knowledge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 Discovery from Databases – Descoberta de Conhecimento de Bases de Dados, segundo Fayyad, Piatetsky-Shapiro e Smyth, é um processo de várias etapas, não trivial, interativo e iterativo, para identificação de padrões compreensíveis, válidos, novos e potencialmente úteis a partir de um conjunto de dados.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094417" y="8474859"/>
            <a:ext cx="4099167" cy="1289685"/>
            <a:chOff x="0" y="0"/>
            <a:chExt cx="1079616" cy="3396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9616" cy="339670"/>
            </a:xfrm>
            <a:custGeom>
              <a:avLst/>
              <a:gdLst/>
              <a:ahLst/>
              <a:cxnLst/>
              <a:rect r="r" b="b" t="t" l="l"/>
              <a:pathLst>
                <a:path h="339670" w="1079616">
                  <a:moveTo>
                    <a:pt x="0" y="0"/>
                  </a:moveTo>
                  <a:lnTo>
                    <a:pt x="1079616" y="0"/>
                  </a:lnTo>
                  <a:lnTo>
                    <a:pt x="1079616" y="339670"/>
                  </a:lnTo>
                  <a:lnTo>
                    <a:pt x="0" y="3396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161925"/>
              <a:ext cx="1079616" cy="5015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KDD Agricultura</a:t>
              </a:r>
            </a:p>
            <a:p>
              <a:pPr algn="ctr">
                <a:lnSpc>
                  <a:spcPts val="4499"/>
                </a:lnSpc>
              </a:pPr>
              <a:r>
                <a:rPr lang="en-US" sz="2499" u="sng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  <a:hlinkClick r:id="rId4" tooltip="https://colab.research.google.com/drive/19H0GgsUDjSEI9tcpiq7zmrC8SmlYJYiV"/>
                </a:rPr>
                <a:t>CÓDIGO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1499997"/>
            <a:chOff x="0" y="0"/>
            <a:chExt cx="21640800" cy="199999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1640800" cy="1999996"/>
              <a:chOff x="0" y="0"/>
              <a:chExt cx="21640800" cy="199999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1640750" cy="1999996"/>
              </a:xfrm>
              <a:custGeom>
                <a:avLst/>
                <a:gdLst/>
                <a:ahLst/>
                <a:cxnLst/>
                <a:rect r="r" b="b" t="t" l="l"/>
                <a:pathLst>
                  <a:path h="1999996" w="21640750">
                    <a:moveTo>
                      <a:pt x="0" y="0"/>
                    </a:moveTo>
                    <a:lnTo>
                      <a:pt x="21640750" y="0"/>
                    </a:lnTo>
                    <a:lnTo>
                      <a:pt x="21640750" y="1999996"/>
                    </a:lnTo>
                    <a:lnTo>
                      <a:pt x="0" y="1999996"/>
                    </a:lnTo>
                    <a:close/>
                  </a:path>
                </a:pathLst>
              </a:custGeom>
              <a:solidFill>
                <a:srgbClr val="04165D"/>
              </a:solidFill>
              <a:ln w="12700">
                <a:solidFill>
                  <a:srgbClr val="000000"/>
                </a:solidFill>
              </a:ln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0" y="228473"/>
              <a:ext cx="21640800" cy="1476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400"/>
                </a:lnSpc>
              </a:pP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KDD - ETAPAS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30632" y="2933510"/>
            <a:ext cx="1522881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DADOS</a:t>
            </a:r>
          </a:p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BRUTOS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463194" y="2933510"/>
            <a:ext cx="1361613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DADOS</a:t>
            </a:r>
          </a:p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ALVO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894710" y="4381500"/>
            <a:ext cx="3364525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DADOS</a:t>
            </a:r>
          </a:p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PRÉ PROCESSADOS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382560" y="8310562"/>
            <a:ext cx="1522881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PADRÃO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224955" y="8310562"/>
            <a:ext cx="270403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ONHECIMENTO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199785"/>
            <a:ext cx="2902793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DADOS TRANSFORMADOS</a:t>
            </a:r>
          </a:p>
        </p:txBody>
      </p:sp>
      <p:sp>
        <p:nvSpPr>
          <p:cNvPr name="AutoShape 12" id="12"/>
          <p:cNvSpPr/>
          <p:nvPr/>
        </p:nvSpPr>
        <p:spPr>
          <a:xfrm>
            <a:off x="2553513" y="3324034"/>
            <a:ext cx="5909681" cy="0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AutoShape 13" id="13"/>
          <p:cNvSpPr/>
          <p:nvPr/>
        </p:nvSpPr>
        <p:spPr>
          <a:xfrm>
            <a:off x="9824806" y="3324034"/>
            <a:ext cx="5752166" cy="1076515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AutoShape 14" id="14"/>
          <p:cNvSpPr/>
          <p:nvPr/>
        </p:nvSpPr>
        <p:spPr>
          <a:xfrm flipV="true">
            <a:off x="2480097" y="5143500"/>
            <a:ext cx="13096876" cy="1075335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arrow" len="sm" w="med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2480097" y="6961785"/>
            <a:ext cx="5937020" cy="1495969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AutoShape 16" id="16"/>
          <p:cNvSpPr/>
          <p:nvPr/>
        </p:nvSpPr>
        <p:spPr>
          <a:xfrm>
            <a:off x="9905440" y="8515350"/>
            <a:ext cx="4319514" cy="0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1499997"/>
            <a:chOff x="0" y="0"/>
            <a:chExt cx="21640800" cy="199999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1640800" cy="1999996"/>
              <a:chOff x="0" y="0"/>
              <a:chExt cx="21640800" cy="199999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1640750" cy="1999996"/>
              </a:xfrm>
              <a:custGeom>
                <a:avLst/>
                <a:gdLst/>
                <a:ahLst/>
                <a:cxnLst/>
                <a:rect r="r" b="b" t="t" l="l"/>
                <a:pathLst>
                  <a:path h="1999996" w="21640750">
                    <a:moveTo>
                      <a:pt x="0" y="0"/>
                    </a:moveTo>
                    <a:lnTo>
                      <a:pt x="21640750" y="0"/>
                    </a:lnTo>
                    <a:lnTo>
                      <a:pt x="21640750" y="1999996"/>
                    </a:lnTo>
                    <a:lnTo>
                      <a:pt x="0" y="1999996"/>
                    </a:lnTo>
                    <a:close/>
                  </a:path>
                </a:pathLst>
              </a:custGeom>
              <a:solidFill>
                <a:srgbClr val="04165D"/>
              </a:solidFill>
              <a:ln w="12700">
                <a:solidFill>
                  <a:srgbClr val="000000"/>
                </a:solidFill>
              </a:ln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0" y="228473"/>
              <a:ext cx="21640800" cy="1476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400"/>
                </a:lnSpc>
              </a:pP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APRENDIZAGEM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2650339"/>
            <a:ext cx="16230600" cy="996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A aprendizagem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 em Inteligência Artificial (IA) refere-se à capacidade de um sistema ou algoritmo adquirir conhecimento e melhorar o desempenho em tarefas específicas com base em dados..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4497817"/>
            <a:ext cx="16230600" cy="4048126"/>
            <a:chOff x="0" y="0"/>
            <a:chExt cx="21640800" cy="5397501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133350"/>
              <a:ext cx="5565305" cy="55308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9"/>
                </a:lnSpc>
              </a:pPr>
              <a:r>
                <a:rPr lang="en-US" b="true" sz="29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SUPE</a:t>
              </a:r>
              <a:r>
                <a:rPr lang="en-US" b="true" sz="29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RVISIONADO</a:t>
              </a:r>
            </a:p>
            <a:p>
              <a:pPr algn="ctr">
                <a:lnSpc>
                  <a:spcPts val="4799"/>
                </a:lnSpc>
              </a:pPr>
            </a:p>
            <a:p>
              <a:pPr algn="ctr">
                <a:lnSpc>
                  <a:spcPts val="4799"/>
                </a:lnSpc>
              </a:pPr>
              <a:r>
                <a:rPr lang="en-US" b="true" sz="29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APRENDE COM DADOS ROTULADOS</a:t>
              </a:r>
            </a:p>
            <a:p>
              <a:pPr algn="ctr">
                <a:lnSpc>
                  <a:spcPts val="4799"/>
                </a:lnSpc>
              </a:pPr>
            </a:p>
            <a:p>
              <a:pPr algn="ctr">
                <a:lnSpc>
                  <a:spcPts val="4799"/>
                </a:lnSpc>
              </a:pPr>
              <a:r>
                <a:rPr lang="en-US" b="true" sz="29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CLASSIFICAÇÃO E REGRESSÃO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7740697" y="-133350"/>
              <a:ext cx="6159407" cy="55308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9"/>
                </a:lnSpc>
              </a:pPr>
              <a:r>
                <a:rPr lang="en-US" b="true" sz="29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NÃO SUPE</a:t>
              </a:r>
              <a:r>
                <a:rPr lang="en-US" b="true" sz="29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RVISIONADO</a:t>
              </a:r>
            </a:p>
            <a:p>
              <a:pPr algn="ctr">
                <a:lnSpc>
                  <a:spcPts val="4799"/>
                </a:lnSpc>
              </a:pPr>
            </a:p>
            <a:p>
              <a:pPr algn="ctr">
                <a:lnSpc>
                  <a:spcPts val="4799"/>
                </a:lnSpc>
              </a:pPr>
              <a:r>
                <a:rPr lang="en-US" b="true" sz="29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APRENDE COM DADOS NÃO ROTULADOS</a:t>
              </a:r>
            </a:p>
            <a:p>
              <a:pPr algn="ctr">
                <a:lnSpc>
                  <a:spcPts val="4799"/>
                </a:lnSpc>
              </a:pPr>
            </a:p>
            <a:p>
              <a:pPr algn="ctr">
                <a:lnSpc>
                  <a:spcPts val="4799"/>
                </a:lnSpc>
              </a:pPr>
              <a:r>
                <a:rPr lang="en-US" b="true" sz="29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CLUSTERIZAÇÃO E ASSOCIAÇÃO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6075495" y="-133350"/>
              <a:ext cx="5565305" cy="55308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9"/>
                </a:lnSpc>
              </a:pPr>
              <a:r>
                <a:rPr lang="en-US" b="true" sz="29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POR REFORÇO</a:t>
              </a:r>
            </a:p>
            <a:p>
              <a:pPr algn="ctr">
                <a:lnSpc>
                  <a:spcPts val="4799"/>
                </a:lnSpc>
              </a:pPr>
            </a:p>
            <a:p>
              <a:pPr algn="ctr">
                <a:lnSpc>
                  <a:spcPts val="4799"/>
                </a:lnSpc>
              </a:pPr>
              <a:r>
                <a:rPr lang="en-US" b="true" sz="29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APRENDA ATRAVÉS DA RECOMPENSA</a:t>
              </a:r>
            </a:p>
            <a:p>
              <a:pPr algn="ctr">
                <a:lnSpc>
                  <a:spcPts val="4799"/>
                </a:lnSpc>
              </a:pPr>
            </a:p>
            <a:p>
              <a:pPr algn="ctr">
                <a:lnSpc>
                  <a:spcPts val="4799"/>
                </a:lnSpc>
              </a:pPr>
              <a:r>
                <a:rPr lang="en-US" b="true" sz="29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DECISÃO EM TEMPO REAL E JOGOS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1499997"/>
            <a:chOff x="0" y="0"/>
            <a:chExt cx="21640800" cy="199999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1640800" cy="1999996"/>
              <a:chOff x="0" y="0"/>
              <a:chExt cx="21640800" cy="199999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1640750" cy="1999996"/>
              </a:xfrm>
              <a:custGeom>
                <a:avLst/>
                <a:gdLst/>
                <a:ahLst/>
                <a:cxnLst/>
                <a:rect r="r" b="b" t="t" l="l"/>
                <a:pathLst>
                  <a:path h="1999996" w="21640750">
                    <a:moveTo>
                      <a:pt x="0" y="0"/>
                    </a:moveTo>
                    <a:lnTo>
                      <a:pt x="21640750" y="0"/>
                    </a:lnTo>
                    <a:lnTo>
                      <a:pt x="21640750" y="1999996"/>
                    </a:lnTo>
                    <a:lnTo>
                      <a:pt x="0" y="1999996"/>
                    </a:lnTo>
                    <a:close/>
                  </a:path>
                </a:pathLst>
              </a:custGeom>
              <a:solidFill>
                <a:srgbClr val="04165D"/>
              </a:solidFill>
              <a:ln w="12700">
                <a:solidFill>
                  <a:srgbClr val="000000"/>
                </a:solidFill>
              </a:ln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0" y="228473"/>
              <a:ext cx="21640800" cy="1476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400"/>
                </a:lnSpc>
              </a:pP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APRENDIZAGEM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874425" y="3220963"/>
            <a:ext cx="6539151" cy="5589879"/>
          </a:xfrm>
          <a:custGeom>
            <a:avLst/>
            <a:gdLst/>
            <a:ahLst/>
            <a:cxnLst/>
            <a:rect r="r" b="b" t="t" l="l"/>
            <a:pathLst>
              <a:path h="5589879" w="6539151">
                <a:moveTo>
                  <a:pt x="0" y="0"/>
                </a:moveTo>
                <a:lnTo>
                  <a:pt x="6539150" y="0"/>
                </a:lnTo>
                <a:lnTo>
                  <a:pt x="6539150" y="5589879"/>
                </a:lnTo>
                <a:lnTo>
                  <a:pt x="0" y="55898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16981"/>
            </a:stretch>
          </a:blipFill>
        </p:spPr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1499997"/>
            <a:chOff x="0" y="0"/>
            <a:chExt cx="21640800" cy="199999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1640800" cy="1999996"/>
              <a:chOff x="0" y="0"/>
              <a:chExt cx="21640800" cy="199999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1640750" cy="1999996"/>
              </a:xfrm>
              <a:custGeom>
                <a:avLst/>
                <a:gdLst/>
                <a:ahLst/>
                <a:cxnLst/>
                <a:rect r="r" b="b" t="t" l="l"/>
                <a:pathLst>
                  <a:path h="1999996" w="21640750">
                    <a:moveTo>
                      <a:pt x="0" y="0"/>
                    </a:moveTo>
                    <a:lnTo>
                      <a:pt x="21640750" y="0"/>
                    </a:lnTo>
                    <a:lnTo>
                      <a:pt x="21640750" y="1999996"/>
                    </a:lnTo>
                    <a:lnTo>
                      <a:pt x="0" y="1999996"/>
                    </a:lnTo>
                    <a:close/>
                  </a:path>
                </a:pathLst>
              </a:custGeom>
              <a:solidFill>
                <a:srgbClr val="04165D"/>
              </a:solidFill>
              <a:ln w="12700">
                <a:solidFill>
                  <a:srgbClr val="000000"/>
                </a:solidFill>
              </a:ln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0" y="228473"/>
              <a:ext cx="21640800" cy="1476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400"/>
                </a:lnSpc>
              </a:pP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MÉTRICAS DE AVALIAÇÃO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2650339"/>
            <a:ext cx="16230600" cy="301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As Métricas de Avaliação são indicadores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 quantitativos fundamentais para mensurar a qualidade e a eficácia de um modelo de aprendizado de máquina. Elas traduzem o desempenho do algoritmo em valores numéricos, permitindo validar se o modelo está generalizando bem o conhecimento para novos dados, além de servir como critério para comparar diferentes abordagens. A escolha da métrica correta é crítica e depende diretamente da natureza do problema, exigindo indicadores específicos para tarefas de Classificação, Regressão e Clusterização.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1499997"/>
            <a:chOff x="0" y="0"/>
            <a:chExt cx="21640800" cy="199999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1640800" cy="1999996"/>
              <a:chOff x="0" y="0"/>
              <a:chExt cx="21640800" cy="199999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1640750" cy="1999996"/>
              </a:xfrm>
              <a:custGeom>
                <a:avLst/>
                <a:gdLst/>
                <a:ahLst/>
                <a:cxnLst/>
                <a:rect r="r" b="b" t="t" l="l"/>
                <a:pathLst>
                  <a:path h="1999996" w="21640750">
                    <a:moveTo>
                      <a:pt x="0" y="0"/>
                    </a:moveTo>
                    <a:lnTo>
                      <a:pt x="21640750" y="0"/>
                    </a:lnTo>
                    <a:lnTo>
                      <a:pt x="21640750" y="1999996"/>
                    </a:lnTo>
                    <a:lnTo>
                      <a:pt x="0" y="1999996"/>
                    </a:lnTo>
                    <a:close/>
                  </a:path>
                </a:pathLst>
              </a:custGeom>
              <a:solidFill>
                <a:srgbClr val="04165D"/>
              </a:solidFill>
              <a:ln w="12700">
                <a:solidFill>
                  <a:srgbClr val="000000"/>
                </a:solidFill>
              </a:ln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0" y="228473"/>
              <a:ext cx="21640800" cy="1476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400"/>
                </a:lnSpc>
              </a:pP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MÉT</a:t>
              </a: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RICAS DE AVALIAÇÃO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2764347"/>
            <a:ext cx="16230600" cy="877050"/>
            <a:chOff x="0" y="0"/>
            <a:chExt cx="4274726" cy="2309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74726" cy="230993"/>
            </a:xfrm>
            <a:custGeom>
              <a:avLst/>
              <a:gdLst/>
              <a:ahLst/>
              <a:cxnLst/>
              <a:rect r="r" b="b" t="t" l="l"/>
              <a:pathLst>
                <a:path h="230993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30993"/>
                  </a:lnTo>
                  <a:lnTo>
                    <a:pt x="0" y="2309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90500"/>
              <a:ext cx="4274726" cy="421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99"/>
                </a:lnSpc>
              </a:pPr>
              <a:r>
                <a:rPr lang="en-US" sz="2999">
                  <a:solidFill>
                    <a:srgbClr val="04165D"/>
                  </a:solidFill>
                  <a:latin typeface="Poppins"/>
                  <a:ea typeface="Poppins"/>
                  <a:cs typeface="Poppins"/>
                  <a:sym typeface="Poppins"/>
                </a:rPr>
                <a:t>MÉTRICAS DE CATEGORIZAÇÃO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3765222"/>
            <a:ext cx="16230600" cy="503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A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s Métricas de Classificação avaliam o desempenho de modelos que preveem categorias discretas. Elas focam em comparar as previsões do modelo com os rótulos reais, analisando acertos e erros. As principais métricas incluem a Acurácia (taxa global de acertos), a Precisão (qualidade dos acertos positivos), a Revocação (capacidade de encontrar todos os positivos) e o F1-Score (média harmônica entre precisão e revocação), sendo a Matriz de Confusão a ferramenta base para visualizar esses resultados. Para entender as fórmulas, considere:</a:t>
            </a:r>
          </a:p>
          <a:p>
            <a:pPr algn="just" marL="539749" indent="-269875" lvl="1">
              <a:lnSpc>
                <a:spcPts val="3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TP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: Verdadeiros Positivos (Acertos da classe de interesse)</a:t>
            </a:r>
          </a:p>
          <a:p>
            <a:pPr algn="just" marL="539749" indent="-269875" lvl="1">
              <a:lnSpc>
                <a:spcPts val="3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TN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: Verdadeiros Negativos (Acertos da classe oposta)</a:t>
            </a:r>
          </a:p>
          <a:p>
            <a:pPr algn="just" marL="539749" indent="-269875" lvl="1">
              <a:lnSpc>
                <a:spcPts val="3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FP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: Falsos Positivos (Erros de "alarme falso")</a:t>
            </a:r>
          </a:p>
          <a:p>
            <a:pPr algn="just" marL="539749" indent="-269875" lvl="1">
              <a:lnSpc>
                <a:spcPts val="3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FN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: Falsos Negativos (Erros de omissão)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1499997"/>
            <a:chOff x="0" y="0"/>
            <a:chExt cx="21640800" cy="199999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1640800" cy="1999996"/>
              <a:chOff x="0" y="0"/>
              <a:chExt cx="21640800" cy="199999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1640750" cy="1999996"/>
              </a:xfrm>
              <a:custGeom>
                <a:avLst/>
                <a:gdLst/>
                <a:ahLst/>
                <a:cxnLst/>
                <a:rect r="r" b="b" t="t" l="l"/>
                <a:pathLst>
                  <a:path h="1999996" w="21640750">
                    <a:moveTo>
                      <a:pt x="0" y="0"/>
                    </a:moveTo>
                    <a:lnTo>
                      <a:pt x="21640750" y="0"/>
                    </a:lnTo>
                    <a:lnTo>
                      <a:pt x="21640750" y="1999996"/>
                    </a:lnTo>
                    <a:lnTo>
                      <a:pt x="0" y="1999996"/>
                    </a:lnTo>
                    <a:close/>
                  </a:path>
                </a:pathLst>
              </a:custGeom>
              <a:solidFill>
                <a:srgbClr val="04165D"/>
              </a:solidFill>
              <a:ln w="12700">
                <a:solidFill>
                  <a:srgbClr val="000000"/>
                </a:solidFill>
              </a:ln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0" y="228473"/>
              <a:ext cx="21640800" cy="1476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400"/>
                </a:lnSpc>
              </a:pP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MÉT</a:t>
              </a: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RICAS DE AVALIAÇÃO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2764347"/>
            <a:ext cx="16230600" cy="877050"/>
            <a:chOff x="0" y="0"/>
            <a:chExt cx="4274726" cy="2309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74726" cy="230993"/>
            </a:xfrm>
            <a:custGeom>
              <a:avLst/>
              <a:gdLst/>
              <a:ahLst/>
              <a:cxnLst/>
              <a:rect r="r" b="b" t="t" l="l"/>
              <a:pathLst>
                <a:path h="230993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30993"/>
                  </a:lnTo>
                  <a:lnTo>
                    <a:pt x="0" y="2309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90500"/>
              <a:ext cx="4274726" cy="421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99"/>
                </a:lnSpc>
              </a:pPr>
              <a:r>
                <a:rPr lang="en-US" sz="2999">
                  <a:solidFill>
                    <a:srgbClr val="04165D"/>
                  </a:solidFill>
                  <a:latin typeface="Poppins"/>
                  <a:ea typeface="Poppins"/>
                  <a:cs typeface="Poppins"/>
                  <a:sym typeface="Poppins"/>
                </a:rPr>
                <a:t>MÉTRICAS DE CATEGORIZAÇÃO - ACURÁCIA (ACCURACY)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5469404" y="6009947"/>
            <a:ext cx="7349191" cy="1271974"/>
          </a:xfrm>
          <a:custGeom>
            <a:avLst/>
            <a:gdLst/>
            <a:ahLst/>
            <a:cxnLst/>
            <a:rect r="r" b="b" t="t" l="l"/>
            <a:pathLst>
              <a:path h="1271974" w="7349191">
                <a:moveTo>
                  <a:pt x="0" y="0"/>
                </a:moveTo>
                <a:lnTo>
                  <a:pt x="7349192" y="0"/>
                </a:lnTo>
                <a:lnTo>
                  <a:pt x="7349192" y="1271974"/>
                </a:lnTo>
                <a:lnTo>
                  <a:pt x="0" y="12719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1632" t="0" r="-22142" b="-385333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3765222"/>
            <a:ext cx="16230600" cy="2006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A Acu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rácia representa a taxa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 global de acertos do modelo, indicando a proporção de previsões corretas em relação ao total de dados. É uma métrica intuitiva e muito utilizada, mas deve ser analisada com cautela em conjuntos de dados desbalanceados, pois um modelo pode ter alta acurácia apenas "chutando" a classe majoritária, mascarando erros nas classes mais raras.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1499997"/>
            <a:chOff x="0" y="0"/>
            <a:chExt cx="21640800" cy="199999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1640800" cy="1999996"/>
              <a:chOff x="0" y="0"/>
              <a:chExt cx="21640800" cy="199999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1640750" cy="1999996"/>
              </a:xfrm>
              <a:custGeom>
                <a:avLst/>
                <a:gdLst/>
                <a:ahLst/>
                <a:cxnLst/>
                <a:rect r="r" b="b" t="t" l="l"/>
                <a:pathLst>
                  <a:path h="1999996" w="21640750">
                    <a:moveTo>
                      <a:pt x="0" y="0"/>
                    </a:moveTo>
                    <a:lnTo>
                      <a:pt x="21640750" y="0"/>
                    </a:lnTo>
                    <a:lnTo>
                      <a:pt x="21640750" y="1999996"/>
                    </a:lnTo>
                    <a:lnTo>
                      <a:pt x="0" y="1999996"/>
                    </a:lnTo>
                    <a:close/>
                  </a:path>
                </a:pathLst>
              </a:custGeom>
              <a:solidFill>
                <a:srgbClr val="04165D"/>
              </a:solidFill>
              <a:ln w="12700">
                <a:solidFill>
                  <a:srgbClr val="000000"/>
                </a:solidFill>
              </a:ln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0" y="228473"/>
              <a:ext cx="21640800" cy="1476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400"/>
                </a:lnSpc>
              </a:pP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MÉT</a:t>
              </a: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RICAS DE AVALIAÇÃO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2764347"/>
            <a:ext cx="16230600" cy="877050"/>
            <a:chOff x="0" y="0"/>
            <a:chExt cx="4274726" cy="2309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74726" cy="230993"/>
            </a:xfrm>
            <a:custGeom>
              <a:avLst/>
              <a:gdLst/>
              <a:ahLst/>
              <a:cxnLst/>
              <a:rect r="r" b="b" t="t" l="l"/>
              <a:pathLst>
                <a:path h="230993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30993"/>
                  </a:lnTo>
                  <a:lnTo>
                    <a:pt x="0" y="2309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90500"/>
              <a:ext cx="4274726" cy="421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99"/>
                </a:lnSpc>
              </a:pPr>
              <a:r>
                <a:rPr lang="en-US" sz="2999">
                  <a:solidFill>
                    <a:srgbClr val="04165D"/>
                  </a:solidFill>
                  <a:latin typeface="Poppins"/>
                  <a:ea typeface="Poppins"/>
                  <a:cs typeface="Poppins"/>
                  <a:sym typeface="Poppins"/>
                </a:rPr>
                <a:t>MÉTRICAS DE CATEGORIZAÇÃO - PRECISÃO (PRECISION)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6525226" y="6514772"/>
            <a:ext cx="5237547" cy="1271974"/>
          </a:xfrm>
          <a:custGeom>
            <a:avLst/>
            <a:gdLst/>
            <a:ahLst/>
            <a:cxnLst/>
            <a:rect r="r" b="b" t="t" l="l"/>
            <a:pathLst>
              <a:path h="1271974" w="5237547">
                <a:moveTo>
                  <a:pt x="0" y="0"/>
                </a:moveTo>
                <a:lnTo>
                  <a:pt x="5237548" y="0"/>
                </a:lnTo>
                <a:lnTo>
                  <a:pt x="5237548" y="1271974"/>
                </a:lnTo>
                <a:lnTo>
                  <a:pt x="0" y="12719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8441" t="-187335" r="-57332" b="-197997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3765222"/>
            <a:ext cx="16230600" cy="2511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A P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recisão avalia a qualidade das predições positivas.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 Ela responde à pergunta: "De todos os casos que o modelo classificou como positivos, quantos eram realmente positivos?". É uma métrica crucial quando o custo de um Falso Positivo é alto, como em sistemas de detecção de spam (não queremos bloquear um email importante) ou em diagnósticos onde um tratamento agressivo seria perigoso para um paciente saudável.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1499997"/>
            <a:chOff x="0" y="0"/>
            <a:chExt cx="21640800" cy="199999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1640800" cy="1999996"/>
              <a:chOff x="0" y="0"/>
              <a:chExt cx="21640800" cy="199999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1640750" cy="1999996"/>
              </a:xfrm>
              <a:custGeom>
                <a:avLst/>
                <a:gdLst/>
                <a:ahLst/>
                <a:cxnLst/>
                <a:rect r="r" b="b" t="t" l="l"/>
                <a:pathLst>
                  <a:path h="1999996" w="21640750">
                    <a:moveTo>
                      <a:pt x="0" y="0"/>
                    </a:moveTo>
                    <a:lnTo>
                      <a:pt x="21640750" y="0"/>
                    </a:lnTo>
                    <a:lnTo>
                      <a:pt x="21640750" y="1999996"/>
                    </a:lnTo>
                    <a:lnTo>
                      <a:pt x="0" y="1999996"/>
                    </a:lnTo>
                    <a:close/>
                  </a:path>
                </a:pathLst>
              </a:custGeom>
              <a:solidFill>
                <a:srgbClr val="04165D"/>
              </a:solidFill>
              <a:ln w="12700">
                <a:solidFill>
                  <a:srgbClr val="000000"/>
                </a:solidFill>
              </a:ln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0" y="228473"/>
              <a:ext cx="21640800" cy="1476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400"/>
                </a:lnSpc>
              </a:pP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MÉT</a:t>
              </a: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RICAS DE AVALIAÇÃO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2764347"/>
            <a:ext cx="16230600" cy="877050"/>
            <a:chOff x="0" y="0"/>
            <a:chExt cx="4274726" cy="2309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74726" cy="230993"/>
            </a:xfrm>
            <a:custGeom>
              <a:avLst/>
              <a:gdLst/>
              <a:ahLst/>
              <a:cxnLst/>
              <a:rect r="r" b="b" t="t" l="l"/>
              <a:pathLst>
                <a:path h="230993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30993"/>
                  </a:lnTo>
                  <a:lnTo>
                    <a:pt x="0" y="2309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90500"/>
              <a:ext cx="4274726" cy="421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99"/>
                </a:lnSpc>
              </a:pPr>
              <a:r>
                <a:rPr lang="en-US" sz="2999">
                  <a:solidFill>
                    <a:srgbClr val="04165D"/>
                  </a:solidFill>
                  <a:latin typeface="Poppins"/>
                  <a:ea typeface="Poppins"/>
                  <a:cs typeface="Poppins"/>
                  <a:sym typeface="Poppins"/>
                </a:rPr>
                <a:t>MÉTRICAS DE CATEGORIZAÇÃO - REVOCAÇÃO (RECALL)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6825506" y="6009947"/>
            <a:ext cx="4636988" cy="1213855"/>
          </a:xfrm>
          <a:custGeom>
            <a:avLst/>
            <a:gdLst/>
            <a:ahLst/>
            <a:cxnLst/>
            <a:rect r="r" b="b" t="t" l="l"/>
            <a:pathLst>
              <a:path h="1213855" w="4636988">
                <a:moveTo>
                  <a:pt x="0" y="0"/>
                </a:moveTo>
                <a:lnTo>
                  <a:pt x="4636988" y="0"/>
                </a:lnTo>
                <a:lnTo>
                  <a:pt x="4636988" y="1213856"/>
                </a:lnTo>
                <a:lnTo>
                  <a:pt x="0" y="12138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3113" t="-300044" r="-70606" b="-108526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3765222"/>
            <a:ext cx="16230600" cy="2006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A Revocação, ou Sensibil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idade, mede a capacid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ade do modelo de encontrar todos os casos positivos existentes. Ela responde à pergunta: "De todos os casos que eram realmente positivos, quantos o modelo conseguiu detectar?". É fundamental em cenários onde não detectar um caso positivo é perigoso, como em diagnósticos de doenças graves ou falhas em equipamentos industriais.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1499997"/>
            <a:chOff x="0" y="0"/>
            <a:chExt cx="21640800" cy="199999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1640800" cy="1999996"/>
              <a:chOff x="0" y="0"/>
              <a:chExt cx="21640800" cy="199999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1640750" cy="1999996"/>
              </a:xfrm>
              <a:custGeom>
                <a:avLst/>
                <a:gdLst/>
                <a:ahLst/>
                <a:cxnLst/>
                <a:rect r="r" b="b" t="t" l="l"/>
                <a:pathLst>
                  <a:path h="1999996" w="21640750">
                    <a:moveTo>
                      <a:pt x="0" y="0"/>
                    </a:moveTo>
                    <a:lnTo>
                      <a:pt x="21640750" y="0"/>
                    </a:lnTo>
                    <a:lnTo>
                      <a:pt x="21640750" y="1999996"/>
                    </a:lnTo>
                    <a:lnTo>
                      <a:pt x="0" y="1999996"/>
                    </a:lnTo>
                    <a:close/>
                  </a:path>
                </a:pathLst>
              </a:custGeom>
              <a:solidFill>
                <a:srgbClr val="04165D"/>
              </a:solidFill>
              <a:ln w="12700">
                <a:solidFill>
                  <a:srgbClr val="000000"/>
                </a:solidFill>
              </a:ln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0" y="228473"/>
              <a:ext cx="21640800" cy="1476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400"/>
                </a:lnSpc>
              </a:pP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MÉT</a:t>
              </a: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RICAS DE AVALIAÇÃO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2764347"/>
            <a:ext cx="16230600" cy="877050"/>
            <a:chOff x="0" y="0"/>
            <a:chExt cx="4274726" cy="2309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74726" cy="230993"/>
            </a:xfrm>
            <a:custGeom>
              <a:avLst/>
              <a:gdLst/>
              <a:ahLst/>
              <a:cxnLst/>
              <a:rect r="r" b="b" t="t" l="l"/>
              <a:pathLst>
                <a:path h="230993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30993"/>
                  </a:lnTo>
                  <a:lnTo>
                    <a:pt x="0" y="2309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90500"/>
              <a:ext cx="4274726" cy="421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99"/>
                </a:lnSpc>
              </a:pPr>
              <a:r>
                <a:rPr lang="en-US" sz="2999">
                  <a:solidFill>
                    <a:srgbClr val="04165D"/>
                  </a:solidFill>
                  <a:latin typeface="Poppins"/>
                  <a:ea typeface="Poppins"/>
                  <a:cs typeface="Poppins"/>
                  <a:sym typeface="Poppins"/>
                </a:rPr>
                <a:t>MÉTRICAS DE CATEGORIZAÇÃO - ESPECIFICIDADE (SPECIFICITY)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3765222"/>
            <a:ext cx="16230600" cy="2511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A Especific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idade avalia a capacid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ade do modelo de identificar corretamente os casos negativos. Enquanto a Revocação se preocupa em encontrar todos os positivos (como detectar uma doença), a Especificidade foca em garantir que os negativos sejam classificados corretamente (confirmar quem está saudável), minimizando os "alarmes falsos". Ela é calculada pela razão entre os verdadeiros negativos e o total de casos que são realmente negativos.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963413" y="6514772"/>
            <a:ext cx="6361174" cy="1436688"/>
          </a:xfrm>
          <a:custGeom>
            <a:avLst/>
            <a:gdLst/>
            <a:ahLst/>
            <a:cxnLst/>
            <a:rect r="r" b="b" t="t" l="l"/>
            <a:pathLst>
              <a:path h="1436688" w="6361174">
                <a:moveTo>
                  <a:pt x="0" y="0"/>
                </a:moveTo>
                <a:lnTo>
                  <a:pt x="6361174" y="0"/>
                </a:lnTo>
                <a:lnTo>
                  <a:pt x="6361174" y="1436688"/>
                </a:lnTo>
                <a:lnTo>
                  <a:pt x="0" y="1436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7459" t="-77449" r="-40200" b="-252241"/>
            </a:stretch>
          </a:blipFill>
        </p:spPr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1499997"/>
            <a:chOff x="0" y="0"/>
            <a:chExt cx="21640800" cy="199999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1640800" cy="1999996"/>
              <a:chOff x="0" y="0"/>
              <a:chExt cx="21640800" cy="199999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1640750" cy="1999996"/>
              </a:xfrm>
              <a:custGeom>
                <a:avLst/>
                <a:gdLst/>
                <a:ahLst/>
                <a:cxnLst/>
                <a:rect r="r" b="b" t="t" l="l"/>
                <a:pathLst>
                  <a:path h="1999996" w="21640750">
                    <a:moveTo>
                      <a:pt x="0" y="0"/>
                    </a:moveTo>
                    <a:lnTo>
                      <a:pt x="21640750" y="0"/>
                    </a:lnTo>
                    <a:lnTo>
                      <a:pt x="21640750" y="1999996"/>
                    </a:lnTo>
                    <a:lnTo>
                      <a:pt x="0" y="1999996"/>
                    </a:lnTo>
                    <a:close/>
                  </a:path>
                </a:pathLst>
              </a:custGeom>
              <a:solidFill>
                <a:srgbClr val="04165D"/>
              </a:solidFill>
              <a:ln w="12700">
                <a:solidFill>
                  <a:srgbClr val="000000"/>
                </a:solidFill>
              </a:ln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0" y="228473"/>
              <a:ext cx="21640800" cy="1476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400"/>
                </a:lnSpc>
              </a:pP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MÉT</a:t>
              </a: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RICAS DE AVALIAÇÃO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2764347"/>
            <a:ext cx="16230600" cy="877050"/>
            <a:chOff x="0" y="0"/>
            <a:chExt cx="4274726" cy="2309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74726" cy="230993"/>
            </a:xfrm>
            <a:custGeom>
              <a:avLst/>
              <a:gdLst/>
              <a:ahLst/>
              <a:cxnLst/>
              <a:rect r="r" b="b" t="t" l="l"/>
              <a:pathLst>
                <a:path h="230993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30993"/>
                  </a:lnTo>
                  <a:lnTo>
                    <a:pt x="0" y="2309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90500"/>
              <a:ext cx="4274726" cy="421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99"/>
                </a:lnSpc>
              </a:pPr>
              <a:r>
                <a:rPr lang="en-US" sz="2999">
                  <a:solidFill>
                    <a:srgbClr val="04165D"/>
                  </a:solidFill>
                  <a:latin typeface="Poppins"/>
                  <a:ea typeface="Poppins"/>
                  <a:cs typeface="Poppins"/>
                  <a:sym typeface="Poppins"/>
                </a:rPr>
                <a:t>MÉTRICAS DE CATEGORIZAÇÃO - F1-SCORE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5847176" y="6514772"/>
            <a:ext cx="6593649" cy="1330092"/>
          </a:xfrm>
          <a:custGeom>
            <a:avLst/>
            <a:gdLst/>
            <a:ahLst/>
            <a:cxnLst/>
            <a:rect r="r" b="b" t="t" l="l"/>
            <a:pathLst>
              <a:path h="1330092" w="6593649">
                <a:moveTo>
                  <a:pt x="0" y="0"/>
                </a:moveTo>
                <a:lnTo>
                  <a:pt x="6593648" y="0"/>
                </a:lnTo>
                <a:lnTo>
                  <a:pt x="6593648" y="1330093"/>
                </a:lnTo>
                <a:lnTo>
                  <a:pt x="0" y="13300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6432" t="-364126" r="-34963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3765222"/>
            <a:ext cx="16230600" cy="2511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O F1-Score é a média ha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rmônica entre a Precisão e a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 Revocação. Ele fornece uma visão única e equilibrada do desempenho do modelo, sendo especialmente útil quando há uma distribuição de classes desigual. Enquanto a média aritmética simples poderia ser influenciada por um valor extremo, a média harmônica pune valores baixos em qualquer uma das duas métricas, exigindo que o modelo seja bom tanto em precisão quanto em revocação.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1499997"/>
            <a:chOff x="0" y="0"/>
            <a:chExt cx="21640800" cy="199999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1640800" cy="1999996"/>
              <a:chOff x="0" y="0"/>
              <a:chExt cx="21640800" cy="199999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1640750" cy="1999996"/>
              </a:xfrm>
              <a:custGeom>
                <a:avLst/>
                <a:gdLst/>
                <a:ahLst/>
                <a:cxnLst/>
                <a:rect r="r" b="b" t="t" l="l"/>
                <a:pathLst>
                  <a:path h="1999996" w="21640750">
                    <a:moveTo>
                      <a:pt x="0" y="0"/>
                    </a:moveTo>
                    <a:lnTo>
                      <a:pt x="21640750" y="0"/>
                    </a:lnTo>
                    <a:lnTo>
                      <a:pt x="21640750" y="1999996"/>
                    </a:lnTo>
                    <a:lnTo>
                      <a:pt x="0" y="1999996"/>
                    </a:lnTo>
                    <a:close/>
                  </a:path>
                </a:pathLst>
              </a:custGeom>
              <a:solidFill>
                <a:srgbClr val="04165D"/>
              </a:solidFill>
              <a:ln w="12700">
                <a:solidFill>
                  <a:srgbClr val="000000"/>
                </a:solidFill>
              </a:ln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0" y="228473"/>
              <a:ext cx="21640800" cy="1476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400"/>
                </a:lnSpc>
              </a:pP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MÉT</a:t>
              </a: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RICAS DE AVALIAÇÃO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2764347"/>
            <a:ext cx="16230600" cy="877050"/>
            <a:chOff x="0" y="0"/>
            <a:chExt cx="4274726" cy="2309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74726" cy="230993"/>
            </a:xfrm>
            <a:custGeom>
              <a:avLst/>
              <a:gdLst/>
              <a:ahLst/>
              <a:cxnLst/>
              <a:rect r="r" b="b" t="t" l="l"/>
              <a:pathLst>
                <a:path h="230993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30993"/>
                  </a:lnTo>
                  <a:lnTo>
                    <a:pt x="0" y="2309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90500"/>
              <a:ext cx="4274726" cy="421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99"/>
                </a:lnSpc>
              </a:pPr>
              <a:r>
                <a:rPr lang="en-US" sz="2999">
                  <a:solidFill>
                    <a:srgbClr val="04165D"/>
                  </a:solidFill>
                  <a:latin typeface="Poppins"/>
                  <a:ea typeface="Poppins"/>
                  <a:cs typeface="Poppins"/>
                  <a:sym typeface="Poppins"/>
                </a:rPr>
                <a:t>MÉTRICAS DE CATEGORIZAÇÃO - MATRIZ DE CONFUSÃO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5278476" y="6514772"/>
            <a:ext cx="7731047" cy="2676875"/>
          </a:xfrm>
          <a:custGeom>
            <a:avLst/>
            <a:gdLst/>
            <a:ahLst/>
            <a:cxnLst/>
            <a:rect r="r" b="b" t="t" l="l"/>
            <a:pathLst>
              <a:path h="2676875" w="7731047">
                <a:moveTo>
                  <a:pt x="0" y="0"/>
                </a:moveTo>
                <a:lnTo>
                  <a:pt x="7731048" y="0"/>
                </a:lnTo>
                <a:lnTo>
                  <a:pt x="7731048" y="2676875"/>
                </a:lnTo>
                <a:lnTo>
                  <a:pt x="0" y="2676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3765222"/>
            <a:ext cx="16230600" cy="2511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A Matriz de Confusão é uma ferramenta tabula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r fundamental para visualizar o desempenho de um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 modelo de classificação. Diferente de uma métrica única (como a acurácia), ela fornece um panorama detalhado dos erros e acertos, cruzando as classes preditas pelo modelo com as classes reais dos dados. Essa estrutura permite identificar não apenas quanto o modelo está errando, mas como ele está errando, distinguindo claramente entre "alarmes falsos" e "omissões".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1499997"/>
            <a:chOff x="0" y="0"/>
            <a:chExt cx="21640800" cy="199999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1640800" cy="1999996"/>
              <a:chOff x="0" y="0"/>
              <a:chExt cx="21640800" cy="199999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1640750" cy="1999996"/>
              </a:xfrm>
              <a:custGeom>
                <a:avLst/>
                <a:gdLst/>
                <a:ahLst/>
                <a:cxnLst/>
                <a:rect r="r" b="b" t="t" l="l"/>
                <a:pathLst>
                  <a:path h="1999996" w="21640750">
                    <a:moveTo>
                      <a:pt x="0" y="0"/>
                    </a:moveTo>
                    <a:lnTo>
                      <a:pt x="21640750" y="0"/>
                    </a:lnTo>
                    <a:lnTo>
                      <a:pt x="21640750" y="1999996"/>
                    </a:lnTo>
                    <a:lnTo>
                      <a:pt x="0" y="1999996"/>
                    </a:lnTo>
                    <a:close/>
                  </a:path>
                </a:pathLst>
              </a:custGeom>
              <a:solidFill>
                <a:srgbClr val="04165D"/>
              </a:solidFill>
              <a:ln w="12700">
                <a:solidFill>
                  <a:srgbClr val="000000"/>
                </a:solidFill>
              </a:ln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0" y="228473"/>
              <a:ext cx="21640800" cy="1476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400"/>
                </a:lnSpc>
              </a:pP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MÉT</a:t>
              </a: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RICAS DE AVALIAÇÃO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2764347"/>
            <a:ext cx="16230600" cy="877050"/>
            <a:chOff x="0" y="0"/>
            <a:chExt cx="4274726" cy="2309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74726" cy="230993"/>
            </a:xfrm>
            <a:custGeom>
              <a:avLst/>
              <a:gdLst/>
              <a:ahLst/>
              <a:cxnLst/>
              <a:rect r="r" b="b" t="t" l="l"/>
              <a:pathLst>
                <a:path h="230993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30993"/>
                  </a:lnTo>
                  <a:lnTo>
                    <a:pt x="0" y="2309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90500"/>
              <a:ext cx="4274726" cy="421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99"/>
                </a:lnSpc>
              </a:pPr>
              <a:r>
                <a:rPr lang="en-US" sz="2999">
                  <a:solidFill>
                    <a:srgbClr val="04165D"/>
                  </a:solidFill>
                  <a:latin typeface="Poppins"/>
                  <a:ea typeface="Poppins"/>
                  <a:cs typeface="Poppins"/>
                  <a:sym typeface="Poppins"/>
                </a:rPr>
                <a:t>MÉTRICAS DE REGRESSÃO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3765222"/>
            <a:ext cx="16230600" cy="503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As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 Métricas de Regressão são utilizadas quando o objetivo do modelo é prever um valor numérico contínuo. Ao contrário da classificação, o foco aqui é quantificar a magnitude do erro, ou seja, a distância entre o valor previsto e o valor real. Indicadores comuns incluem o Erro Médio Quadrático (MSE) e a Raiz do Erro Médio Quadrático (RMSE), que penalizam erros grandes, o Erro Absoluto Médio (MAE), que mede a média direta das diferenças, e o R² (Coeficiente de Determinação), que indica o quanto a variância dos dados é explicada pelo modelo. Para entender as fórmulas, considere:</a:t>
            </a:r>
          </a:p>
          <a:p>
            <a:pPr algn="just" marL="539749" indent="-269875" lvl="1">
              <a:lnSpc>
                <a:spcPts val="3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y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i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​: Valor real</a:t>
            </a:r>
          </a:p>
          <a:p>
            <a:pPr algn="just" marL="539749" indent="-269875" lvl="1">
              <a:lnSpc>
                <a:spcPts val="3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ŷ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​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i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​: Valor previsto pelo modelo</a:t>
            </a:r>
          </a:p>
          <a:p>
            <a:pPr algn="just" marL="539749" indent="-269875" lvl="1">
              <a:lnSpc>
                <a:spcPts val="3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ȳ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​: Média dos valores reais</a:t>
            </a:r>
          </a:p>
          <a:p>
            <a:pPr algn="just" marL="539749" indent="-269875" lvl="1">
              <a:lnSpc>
                <a:spcPts val="3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n: Número total de observações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1499997"/>
            <a:chOff x="0" y="0"/>
            <a:chExt cx="21640800" cy="199999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1640800" cy="1999996"/>
              <a:chOff x="0" y="0"/>
              <a:chExt cx="21640800" cy="199999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1640750" cy="1999996"/>
              </a:xfrm>
              <a:custGeom>
                <a:avLst/>
                <a:gdLst/>
                <a:ahLst/>
                <a:cxnLst/>
                <a:rect r="r" b="b" t="t" l="l"/>
                <a:pathLst>
                  <a:path h="1999996" w="21640750">
                    <a:moveTo>
                      <a:pt x="0" y="0"/>
                    </a:moveTo>
                    <a:lnTo>
                      <a:pt x="21640750" y="0"/>
                    </a:lnTo>
                    <a:lnTo>
                      <a:pt x="21640750" y="1999996"/>
                    </a:lnTo>
                    <a:lnTo>
                      <a:pt x="0" y="1999996"/>
                    </a:lnTo>
                    <a:close/>
                  </a:path>
                </a:pathLst>
              </a:custGeom>
              <a:solidFill>
                <a:srgbClr val="04165D"/>
              </a:solidFill>
              <a:ln w="12700">
                <a:solidFill>
                  <a:srgbClr val="000000"/>
                </a:solidFill>
              </a:ln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0" y="228473"/>
              <a:ext cx="21640800" cy="1476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400"/>
                </a:lnSpc>
              </a:pP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MÉT</a:t>
              </a: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RICAS DE AVALIAÇÃO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2764347"/>
            <a:ext cx="16230600" cy="877050"/>
            <a:chOff x="0" y="0"/>
            <a:chExt cx="4274726" cy="2309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74726" cy="230993"/>
            </a:xfrm>
            <a:custGeom>
              <a:avLst/>
              <a:gdLst/>
              <a:ahLst/>
              <a:cxnLst/>
              <a:rect r="r" b="b" t="t" l="l"/>
              <a:pathLst>
                <a:path h="230993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30993"/>
                  </a:lnTo>
                  <a:lnTo>
                    <a:pt x="0" y="2309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90500"/>
              <a:ext cx="4274726" cy="421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99"/>
                </a:lnSpc>
              </a:pPr>
              <a:r>
                <a:rPr lang="en-US" sz="2999">
                  <a:solidFill>
                    <a:srgbClr val="04165D"/>
                  </a:solidFill>
                  <a:latin typeface="Poppins"/>
                  <a:ea typeface="Poppins"/>
                  <a:cs typeface="Poppins"/>
                  <a:sym typeface="Poppins"/>
                </a:rPr>
                <a:t>MÉTRICAS DE REGRESSÃO - COEFICIENTE DE DETERMINAÇÃO (R²)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6061878" y="6009947"/>
            <a:ext cx="6164244" cy="1940413"/>
          </a:xfrm>
          <a:custGeom>
            <a:avLst/>
            <a:gdLst/>
            <a:ahLst/>
            <a:cxnLst/>
            <a:rect r="r" b="b" t="t" l="l"/>
            <a:pathLst>
              <a:path h="1940413" w="6164244">
                <a:moveTo>
                  <a:pt x="0" y="0"/>
                </a:moveTo>
                <a:lnTo>
                  <a:pt x="6164244" y="0"/>
                </a:lnTo>
                <a:lnTo>
                  <a:pt x="6164244" y="1940413"/>
                </a:lnTo>
                <a:lnTo>
                  <a:pt x="0" y="19404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2001" t="-218144" r="-41334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3765222"/>
            <a:ext cx="16230600" cy="2006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O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 R² indica o quão bem o modelo se ajusta aos dados, variando geralmente de 0 a 1. Ele representa a porcentagem da variância da variável alvo que é explicada pelas variáveis de entrada do modelo. Um R² de 1 indica que o modelo explica toda a variabilidade dos dados, enquanto 0 indica que o modelo não é melhor do que simplesmente prever a média dos valores para todos os casos.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1499997"/>
            <a:chOff x="0" y="0"/>
            <a:chExt cx="21640800" cy="199999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1640800" cy="1999996"/>
              <a:chOff x="0" y="0"/>
              <a:chExt cx="21640800" cy="199999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1640750" cy="1999996"/>
              </a:xfrm>
              <a:custGeom>
                <a:avLst/>
                <a:gdLst/>
                <a:ahLst/>
                <a:cxnLst/>
                <a:rect r="r" b="b" t="t" l="l"/>
                <a:pathLst>
                  <a:path h="1999996" w="21640750">
                    <a:moveTo>
                      <a:pt x="0" y="0"/>
                    </a:moveTo>
                    <a:lnTo>
                      <a:pt x="21640750" y="0"/>
                    </a:lnTo>
                    <a:lnTo>
                      <a:pt x="21640750" y="1999996"/>
                    </a:lnTo>
                    <a:lnTo>
                      <a:pt x="0" y="1999996"/>
                    </a:lnTo>
                    <a:close/>
                  </a:path>
                </a:pathLst>
              </a:custGeom>
              <a:solidFill>
                <a:srgbClr val="04165D"/>
              </a:solidFill>
              <a:ln w="12700">
                <a:solidFill>
                  <a:srgbClr val="000000"/>
                </a:solidFill>
              </a:ln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0" y="228473"/>
              <a:ext cx="21640800" cy="1476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400"/>
                </a:lnSpc>
              </a:pP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MÉT</a:t>
              </a: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RICAS DE AVALIAÇÃO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2764347"/>
            <a:ext cx="16230600" cy="877050"/>
            <a:chOff x="0" y="0"/>
            <a:chExt cx="4274726" cy="2309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74726" cy="230993"/>
            </a:xfrm>
            <a:custGeom>
              <a:avLst/>
              <a:gdLst/>
              <a:ahLst/>
              <a:cxnLst/>
              <a:rect r="r" b="b" t="t" l="l"/>
              <a:pathLst>
                <a:path h="230993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30993"/>
                  </a:lnTo>
                  <a:lnTo>
                    <a:pt x="0" y="2309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90500"/>
              <a:ext cx="4274726" cy="421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99"/>
                </a:lnSpc>
              </a:pPr>
              <a:r>
                <a:rPr lang="en-US" sz="2999">
                  <a:solidFill>
                    <a:srgbClr val="04165D"/>
                  </a:solidFill>
                  <a:latin typeface="Poppins"/>
                  <a:ea typeface="Poppins"/>
                  <a:cs typeface="Poppins"/>
                  <a:sym typeface="Poppins"/>
                </a:rPr>
                <a:t>MÉTRICAS DE REGRESSÃO - ERRO QUADRÁTICO MÉDIO (MSE)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28700" y="6924389"/>
            <a:ext cx="7493019" cy="1322604"/>
          </a:xfrm>
          <a:custGeom>
            <a:avLst/>
            <a:gdLst/>
            <a:ahLst/>
            <a:cxnLst/>
            <a:rect r="r" b="b" t="t" l="l"/>
            <a:pathLst>
              <a:path h="1322604" w="7493019">
                <a:moveTo>
                  <a:pt x="0" y="0"/>
                </a:moveTo>
                <a:lnTo>
                  <a:pt x="7493019" y="0"/>
                </a:lnTo>
                <a:lnTo>
                  <a:pt x="7493019" y="1322604"/>
                </a:lnTo>
                <a:lnTo>
                  <a:pt x="0" y="13226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5411" t="-98395" r="-25411" b="-268359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3765222"/>
            <a:ext cx="16230600" cy="2511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O MSE calcula a média dos quadrados dos erros. Ao elevar a diferença ao quadrado, essa métrica penaliza de forma muito mais severa os erros grandes (outliers) do que os erros pequenos. É útil quando grandes desvios são particularmente indesejáveis no problema, mas sua unidade de medida fica ao quadrado, dificultando a leitura direta. Também temos o RMSE que resolve o o problema da unidade de medida ser quadrada.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9766281" y="6760688"/>
            <a:ext cx="7493019" cy="1650006"/>
          </a:xfrm>
          <a:custGeom>
            <a:avLst/>
            <a:gdLst/>
            <a:ahLst/>
            <a:cxnLst/>
            <a:rect r="r" b="b" t="t" l="l"/>
            <a:pathLst>
              <a:path h="1650006" w="7493019">
                <a:moveTo>
                  <a:pt x="0" y="0"/>
                </a:moveTo>
                <a:lnTo>
                  <a:pt x="7493019" y="0"/>
                </a:lnTo>
                <a:lnTo>
                  <a:pt x="7493019" y="1650006"/>
                </a:lnTo>
                <a:lnTo>
                  <a:pt x="0" y="16500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5411" t="-160398" r="-25411" b="-113740"/>
            </a:stretch>
          </a:blipFill>
        </p:spPr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1499997"/>
            <a:chOff x="0" y="0"/>
            <a:chExt cx="21640800" cy="199999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1640800" cy="1999996"/>
              <a:chOff x="0" y="0"/>
              <a:chExt cx="21640800" cy="199999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1640750" cy="1999996"/>
              </a:xfrm>
              <a:custGeom>
                <a:avLst/>
                <a:gdLst/>
                <a:ahLst/>
                <a:cxnLst/>
                <a:rect r="r" b="b" t="t" l="l"/>
                <a:pathLst>
                  <a:path h="1999996" w="21640750">
                    <a:moveTo>
                      <a:pt x="0" y="0"/>
                    </a:moveTo>
                    <a:lnTo>
                      <a:pt x="21640750" y="0"/>
                    </a:lnTo>
                    <a:lnTo>
                      <a:pt x="21640750" y="1999996"/>
                    </a:lnTo>
                    <a:lnTo>
                      <a:pt x="0" y="1999996"/>
                    </a:lnTo>
                    <a:close/>
                  </a:path>
                </a:pathLst>
              </a:custGeom>
              <a:solidFill>
                <a:srgbClr val="04165D"/>
              </a:solidFill>
              <a:ln w="12700">
                <a:solidFill>
                  <a:srgbClr val="000000"/>
                </a:solidFill>
              </a:ln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0" y="228473"/>
              <a:ext cx="21640800" cy="1476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400"/>
                </a:lnSpc>
              </a:pP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MÉT</a:t>
              </a: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RICAS DE AVALIAÇÃO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2764347"/>
            <a:ext cx="16230600" cy="877050"/>
            <a:chOff x="0" y="0"/>
            <a:chExt cx="4274726" cy="2309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74726" cy="230993"/>
            </a:xfrm>
            <a:custGeom>
              <a:avLst/>
              <a:gdLst/>
              <a:ahLst/>
              <a:cxnLst/>
              <a:rect r="r" b="b" t="t" l="l"/>
              <a:pathLst>
                <a:path h="230993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30993"/>
                  </a:lnTo>
                  <a:lnTo>
                    <a:pt x="0" y="2309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90500"/>
              <a:ext cx="4274726" cy="421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99"/>
                </a:lnSpc>
              </a:pPr>
              <a:r>
                <a:rPr lang="en-US" sz="2999">
                  <a:solidFill>
                    <a:srgbClr val="04165D"/>
                  </a:solidFill>
                  <a:latin typeface="Poppins"/>
                  <a:ea typeface="Poppins"/>
                  <a:cs typeface="Poppins"/>
                  <a:sym typeface="Poppins"/>
                </a:rPr>
                <a:t>MÉTRICAS DE REGRESSÃO - ERRO ABSOLUTO MÉDIO (MAE)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5815301" y="6009947"/>
            <a:ext cx="6657398" cy="1365067"/>
          </a:xfrm>
          <a:custGeom>
            <a:avLst/>
            <a:gdLst/>
            <a:ahLst/>
            <a:cxnLst/>
            <a:rect r="r" b="b" t="t" l="l"/>
            <a:pathLst>
              <a:path h="1365067" w="6657398">
                <a:moveTo>
                  <a:pt x="0" y="0"/>
                </a:moveTo>
                <a:lnTo>
                  <a:pt x="6657398" y="0"/>
                </a:lnTo>
                <a:lnTo>
                  <a:pt x="6657398" y="1365067"/>
                </a:lnTo>
                <a:lnTo>
                  <a:pt x="0" y="13650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3334" t="0" r="-36420" b="-352235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3765222"/>
            <a:ext cx="16230600" cy="2006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O MAE calcula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 a média das diferenças absolutas entre os valores previstos e os valores reais. Por utilizar o valor absoluto, ele trata erros positivos e negativos da mesma forma. Sua grande vantagem é a interpretabilidade, pois o resultado está na mesma unidade da variável alvo (ex: se prevemos preço em reais, o MAE é o erro médio em reais).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1499997"/>
            <a:chOff x="0" y="0"/>
            <a:chExt cx="21640800" cy="199999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1640800" cy="1999996"/>
              <a:chOff x="0" y="0"/>
              <a:chExt cx="21640800" cy="199999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1640750" cy="1999996"/>
              </a:xfrm>
              <a:custGeom>
                <a:avLst/>
                <a:gdLst/>
                <a:ahLst/>
                <a:cxnLst/>
                <a:rect r="r" b="b" t="t" l="l"/>
                <a:pathLst>
                  <a:path h="1999996" w="21640750">
                    <a:moveTo>
                      <a:pt x="0" y="0"/>
                    </a:moveTo>
                    <a:lnTo>
                      <a:pt x="21640750" y="0"/>
                    </a:lnTo>
                    <a:lnTo>
                      <a:pt x="21640750" y="1999996"/>
                    </a:lnTo>
                    <a:lnTo>
                      <a:pt x="0" y="1999996"/>
                    </a:lnTo>
                    <a:close/>
                  </a:path>
                </a:pathLst>
              </a:custGeom>
              <a:solidFill>
                <a:srgbClr val="04165D"/>
              </a:solidFill>
              <a:ln w="12700">
                <a:solidFill>
                  <a:srgbClr val="000000"/>
                </a:solidFill>
              </a:ln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0" y="228473"/>
              <a:ext cx="21640800" cy="1476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400"/>
                </a:lnSpc>
              </a:pP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MÉT</a:t>
              </a: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RICAS DE AVALIAÇÃO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2764347"/>
            <a:ext cx="16230600" cy="877050"/>
            <a:chOff x="0" y="0"/>
            <a:chExt cx="4274726" cy="2309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74726" cy="230993"/>
            </a:xfrm>
            <a:custGeom>
              <a:avLst/>
              <a:gdLst/>
              <a:ahLst/>
              <a:cxnLst/>
              <a:rect r="r" b="b" t="t" l="l"/>
              <a:pathLst>
                <a:path h="230993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30993"/>
                  </a:lnTo>
                  <a:lnTo>
                    <a:pt x="0" y="2309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90500"/>
              <a:ext cx="4274726" cy="421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99"/>
                </a:lnSpc>
              </a:pPr>
              <a:r>
                <a:rPr lang="en-US" sz="2999">
                  <a:solidFill>
                    <a:srgbClr val="04165D"/>
                  </a:solidFill>
                  <a:latin typeface="Poppins"/>
                  <a:ea typeface="Poppins"/>
                  <a:cs typeface="Poppins"/>
                  <a:sym typeface="Poppins"/>
                </a:rPr>
                <a:t>MÉTRICAS DE CLUTERIZAÇÃO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3765222"/>
            <a:ext cx="16230600" cy="554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As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 Métricas de Clusterização enfrentam o desafio de avaliar modelos não supervisionados, onde muitas vezes não existem rótulos "corretos" para comparação. Elas focam na estrutura dos dados agrupados, medindo a coesão (o quão próximos estão os pontos dentro do mesmo grupo) e a separação (o quão distantes estão os grupos uns dos outros). Métricas como o Silhouette Score e o Índice Davies-Bouldin são fundamentais para validar se o número de clusters escolhido é ideal e se a separação entre eles é estatisticamente relevante. Para entender as fórmulas, considere:</a:t>
            </a:r>
          </a:p>
          <a:p>
            <a:pPr algn="just" marL="539749" indent="-269875" lvl="1">
              <a:lnSpc>
                <a:spcPts val="3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a(i): Distância média intra-cluster (coesão)</a:t>
            </a:r>
          </a:p>
          <a:p>
            <a:pPr algn="just" marL="539749" indent="-269875" lvl="1">
              <a:lnSpc>
                <a:spcPts val="3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b(i): Distância média até o cluster vizinho mais próximo (separação)</a:t>
            </a:r>
          </a:p>
          <a:p>
            <a:pPr algn="just" marL="539749" indent="-269875" lvl="1">
              <a:lnSpc>
                <a:spcPts val="3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k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: Número de clusters</a:t>
            </a:r>
          </a:p>
          <a:p>
            <a:pPr algn="just" marL="539749" indent="-269875" lvl="1">
              <a:lnSpc>
                <a:spcPts val="3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σ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i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​: Dispersão média dentro do cluster</a:t>
            </a:r>
          </a:p>
          <a:p>
            <a:pPr algn="just" marL="539749" indent="-269875" lvl="1">
              <a:lnSpc>
                <a:spcPts val="3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d(c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i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​,c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j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​): Distância entre os centros dos clusters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1499997"/>
            <a:chOff x="0" y="0"/>
            <a:chExt cx="21640800" cy="199999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1640800" cy="1999996"/>
              <a:chOff x="0" y="0"/>
              <a:chExt cx="21640800" cy="199999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1640750" cy="1999996"/>
              </a:xfrm>
              <a:custGeom>
                <a:avLst/>
                <a:gdLst/>
                <a:ahLst/>
                <a:cxnLst/>
                <a:rect r="r" b="b" t="t" l="l"/>
                <a:pathLst>
                  <a:path h="1999996" w="21640750">
                    <a:moveTo>
                      <a:pt x="0" y="0"/>
                    </a:moveTo>
                    <a:lnTo>
                      <a:pt x="21640750" y="0"/>
                    </a:lnTo>
                    <a:lnTo>
                      <a:pt x="21640750" y="1999996"/>
                    </a:lnTo>
                    <a:lnTo>
                      <a:pt x="0" y="1999996"/>
                    </a:lnTo>
                    <a:close/>
                  </a:path>
                </a:pathLst>
              </a:custGeom>
              <a:solidFill>
                <a:srgbClr val="04165D"/>
              </a:solidFill>
              <a:ln w="12700">
                <a:solidFill>
                  <a:srgbClr val="000000"/>
                </a:solidFill>
              </a:ln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0" y="228473"/>
              <a:ext cx="21640800" cy="1476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400"/>
                </a:lnSpc>
              </a:pP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MÉT</a:t>
              </a: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RICAS DE AVALIAÇÃO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2764347"/>
            <a:ext cx="16230600" cy="877050"/>
            <a:chOff x="0" y="0"/>
            <a:chExt cx="4274726" cy="2309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74726" cy="230993"/>
            </a:xfrm>
            <a:custGeom>
              <a:avLst/>
              <a:gdLst/>
              <a:ahLst/>
              <a:cxnLst/>
              <a:rect r="r" b="b" t="t" l="l"/>
              <a:pathLst>
                <a:path h="230993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30993"/>
                  </a:lnTo>
                  <a:lnTo>
                    <a:pt x="0" y="2309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90500"/>
              <a:ext cx="4274726" cy="421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99"/>
                </a:lnSpc>
              </a:pPr>
              <a:r>
                <a:rPr lang="en-US" sz="2999">
                  <a:solidFill>
                    <a:srgbClr val="04165D"/>
                  </a:solidFill>
                  <a:latin typeface="Poppins"/>
                  <a:ea typeface="Poppins"/>
                  <a:cs typeface="Poppins"/>
                  <a:sym typeface="Poppins"/>
                </a:rPr>
                <a:t>MÉTRICAS DE CLUTERIZAÇÃO - SILHOUETTE SCORE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3765222"/>
            <a:ext cx="16230600" cy="2006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O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 Silhouette Score mede a qualidade do agrupamento analisando a coesão (o quão perto um ponto está dos outros pontos do seu próprio grupo) e a separação (o quão longe ele está dos pontos do grupo vizinho mais próximo). O valor varia de -1 a 1, onde valores altos indicam que o objeto está bem ajustado ao seu cluster e mal ajustado aos clusters vizinhos.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603017" y="6009947"/>
            <a:ext cx="7081966" cy="1718397"/>
          </a:xfrm>
          <a:custGeom>
            <a:avLst/>
            <a:gdLst/>
            <a:ahLst/>
            <a:cxnLst/>
            <a:rect r="r" b="b" t="t" l="l"/>
            <a:pathLst>
              <a:path h="1718397" w="7081966">
                <a:moveTo>
                  <a:pt x="0" y="0"/>
                </a:moveTo>
                <a:lnTo>
                  <a:pt x="7081966" y="0"/>
                </a:lnTo>
                <a:lnTo>
                  <a:pt x="7081966" y="1718397"/>
                </a:lnTo>
                <a:lnTo>
                  <a:pt x="0" y="17183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125124"/>
            </a:stretch>
          </a:blipFill>
        </p:spPr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1499997"/>
            <a:chOff x="0" y="0"/>
            <a:chExt cx="21640800" cy="199999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1640800" cy="1999996"/>
              <a:chOff x="0" y="0"/>
              <a:chExt cx="21640800" cy="199999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1640750" cy="1999996"/>
              </a:xfrm>
              <a:custGeom>
                <a:avLst/>
                <a:gdLst/>
                <a:ahLst/>
                <a:cxnLst/>
                <a:rect r="r" b="b" t="t" l="l"/>
                <a:pathLst>
                  <a:path h="1999996" w="21640750">
                    <a:moveTo>
                      <a:pt x="0" y="0"/>
                    </a:moveTo>
                    <a:lnTo>
                      <a:pt x="21640750" y="0"/>
                    </a:lnTo>
                    <a:lnTo>
                      <a:pt x="21640750" y="1999996"/>
                    </a:lnTo>
                    <a:lnTo>
                      <a:pt x="0" y="1999996"/>
                    </a:lnTo>
                    <a:close/>
                  </a:path>
                </a:pathLst>
              </a:custGeom>
              <a:solidFill>
                <a:srgbClr val="04165D"/>
              </a:solidFill>
              <a:ln w="12700">
                <a:solidFill>
                  <a:srgbClr val="000000"/>
                </a:solidFill>
              </a:ln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0" y="228473"/>
              <a:ext cx="21640800" cy="1476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400"/>
                </a:lnSpc>
              </a:pP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MÉT</a:t>
              </a:r>
              <a:r>
                <a:rPr lang="en-US" sz="7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RICAS DE AVALIAÇÃO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2764347"/>
            <a:ext cx="16230600" cy="877050"/>
            <a:chOff x="0" y="0"/>
            <a:chExt cx="4274726" cy="2309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74726" cy="230993"/>
            </a:xfrm>
            <a:custGeom>
              <a:avLst/>
              <a:gdLst/>
              <a:ahLst/>
              <a:cxnLst/>
              <a:rect r="r" b="b" t="t" l="l"/>
              <a:pathLst>
                <a:path h="230993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30993"/>
                  </a:lnTo>
                  <a:lnTo>
                    <a:pt x="0" y="2309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90500"/>
              <a:ext cx="4274726" cy="421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99"/>
                </a:lnSpc>
              </a:pPr>
              <a:r>
                <a:rPr lang="en-US" sz="2999">
                  <a:solidFill>
                    <a:srgbClr val="04165D"/>
                  </a:solidFill>
                  <a:latin typeface="Poppins"/>
                  <a:ea typeface="Poppins"/>
                  <a:cs typeface="Poppins"/>
                  <a:sym typeface="Poppins"/>
                </a:rPr>
                <a:t>MÉTRICAS DE CLUTERIZAÇÃO - ÍNDICE DAVIES-BOULDIN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3765222"/>
            <a:ext cx="16230600" cy="2006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O</a:t>
            </a: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 Índice Davies-Bouldin avalia a "bondade" dos clusters baseando-se na razão entre a dispersão dentro dos clusters e a distância entre eles. Basicamente, buscamos clusters compactos (baixa dispersão) que estejam longe uns dos outros (alta distância). Quanto menor o valor, melhor é a clusterização.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603017" y="6009947"/>
            <a:ext cx="7081966" cy="2074398"/>
          </a:xfrm>
          <a:custGeom>
            <a:avLst/>
            <a:gdLst/>
            <a:ahLst/>
            <a:cxnLst/>
            <a:rect r="r" b="b" t="t" l="l"/>
            <a:pathLst>
              <a:path h="2074398" w="7081966">
                <a:moveTo>
                  <a:pt x="0" y="0"/>
                </a:moveTo>
                <a:lnTo>
                  <a:pt x="7081966" y="0"/>
                </a:lnTo>
                <a:lnTo>
                  <a:pt x="7081966" y="2074399"/>
                </a:lnTo>
                <a:lnTo>
                  <a:pt x="0" y="20743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6488" r="0" b="0"/>
            </a:stretch>
          </a:blipFill>
        </p:spPr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3810000" cy="872109"/>
            <a:chOff x="0" y="0"/>
            <a:chExt cx="5080000" cy="11628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0000" cy="1162807"/>
            </a:xfrm>
            <a:custGeom>
              <a:avLst/>
              <a:gdLst/>
              <a:ahLst/>
              <a:cxnLst/>
              <a:rect r="r" b="b" t="t" l="l"/>
              <a:pathLst>
                <a:path h="1162807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162807"/>
                  </a:lnTo>
                  <a:lnTo>
                    <a:pt x="0" y="11628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80000" cy="1200912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200"/>
                </a:lnSpc>
              </a:pPr>
              <a:r>
                <a:rPr lang="en-US" sz="3500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Referências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978254"/>
            <a:ext cx="16230600" cy="671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FACELI, Katti; LORENA, Ana C.; GAMA, João; AL, et. Inteligência Artificial - Uma Abordagem de Aprendizado de Máquina. Grupo GEN, 2021. E-book. ISBN 9788521637509. Disponível em: https://integrada.minhabiblioteca.com.br/#/books/9788521637509/. Acesso em: 24 jan. 2024.</a:t>
            </a:r>
          </a:p>
          <a:p>
            <a:pPr algn="l">
              <a:lnSpc>
                <a:spcPts val="4499"/>
              </a:lnSpc>
            </a:pPr>
          </a:p>
          <a:p>
            <a:pPr algn="l">
              <a:lnSpc>
                <a:spcPts val="4499"/>
              </a:lnSpc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LIMA, Isaías. Inteligência Artificial. Grupo GEN, 2014. E-book. ISBN 9788595152724. Disponível em: https://integrada.minhabiblioteca.com.br/#/books/9788595152724/. Acesso em: 24 jan. 2024.</a:t>
            </a:r>
          </a:p>
          <a:p>
            <a:pPr algn="l">
              <a:lnSpc>
                <a:spcPts val="4499"/>
              </a:lnSpc>
            </a:pPr>
          </a:p>
          <a:p>
            <a:pPr algn="l">
              <a:lnSpc>
                <a:spcPts val="4499"/>
              </a:lnSpc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NORVIG, Peter. Inteligência Artificial: Grupo GEN, 2013. E-book. ISBN 9788595156104. Disponível em: https://integrada.minhabiblioteca.com.br/#/books/9788595156104/. Acesso em: 23 jan. 2024.</a:t>
            </a:r>
          </a:p>
          <a:p>
            <a:pPr algn="l">
              <a:lnSpc>
                <a:spcPts val="4499"/>
              </a:lnSpc>
            </a:pPr>
          </a:p>
          <a:p>
            <a:pPr algn="l">
              <a:lnSpc>
                <a:spcPts val="4499"/>
              </a:lnSpc>
            </a:pPr>
            <a:r>
              <a:rPr lang="en-US" sz="24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SILVA, Iago RR et al. Utilização de redes convolucionais para classificação e diagnóstico da doença de Alzheimer. II Simpósio de Inovação em Engenharia Biomédica, p. 73-76, 2018.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DAG9aooDWSo</dc:identifier>
  <dcterms:modified xsi:type="dcterms:W3CDTF">2011-08-01T06:04:30Z</dcterms:modified>
  <cp:revision>1</cp:revision>
  <dc:title>Aula 1 - Inteligencia Computacional.pptx</dc:title>
</cp:coreProperties>
</file>